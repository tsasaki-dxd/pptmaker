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62" r:id="rId5"/>
    <p:sldId id="263" r:id="rId6"/>
    <p:sldId id="264" r:id="rId7"/>
    <p:sldId id="265" r:id="rId8"/>
    <p:sldId id="266" r:id="rId9"/>
    <p:sldId id="267" r:id="rId10"/>
    <p:sldId id="268" r:id="rId11"/>
    <p:sldId id="269" r:id="rId12"/>
    <p:sldId id="270" r:id="rId13"/>
    <p:sldId id="271" r:id="rId14"/>
    <p:sldId id="272" r:id="rId15"/>
    <p:sldId id="273" r:id="rId16"/>
    <p:sldId id="259" r:id="rId17"/>
    <p:sldId id="260" r:id="rId18"/>
    <p:sldId id="261"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77311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marL="0" indent="0">
              <a:buNone/>
            </a:pPr>
            <a:r>
              <a:rPr lang="en-US" sz="800" kern="0" spc="200" dirty="0">
                <a:solidFill>
                  <a:srgbClr val="9B98A6"/>
                </a:solidFill>
                <a:latin typeface="Consolas" pitchFamily="34" charset="0"/>
                <a:ea typeface="Consolas" pitchFamily="34" charset="-122"/>
                <a:cs typeface="Consolas" pitchFamily="34" charset="-120"/>
              </a:rPr>
              <a:t>DX-DESIGN-SYSTEM / DECK / v1</a:t>
            </a:r>
            <a:endParaRPr lang="en-US" sz="800" dirty="0"/>
          </a:p>
        </p:txBody>
      </p:sp>
      <p:sp>
        <p:nvSpPr>
          <p:cNvPr id="3" name="Shape 1"/>
          <p:cNvSpPr/>
          <p:nvPr/>
        </p:nvSpPr>
        <p:spPr>
          <a:xfrm>
            <a:off x="228600" y="320040"/>
            <a:ext cx="64008" cy="64008"/>
          </a:xfrm>
          <a:prstGeom prst="ellipse">
            <a:avLst/>
          </a:prstGeom>
          <a:solidFill>
            <a:srgbClr val="8B7AB8"/>
          </a:solidFill>
          <a:ln/>
        </p:spPr>
        <p:txBody>
          <a:bodyPr/>
          <a:lstStyle/>
          <a:p>
            <a:endParaRPr lang="ja-JP" altLang="en-US"/>
          </a:p>
        </p:txBody>
      </p:sp>
      <p:pic>
        <p:nvPicPr>
          <p:cNvPr id="4" name="Image 0" descr="logo-horizontal.png"/>
          <p:cNvPicPr>
            <a:picLocks noChangeAspect="1"/>
          </p:cNvPicPr>
          <p:nvPr/>
        </p:nvPicPr>
        <p:blipFill>
          <a:blip r:embed="rId3"/>
          <a:stretch>
            <a:fillRect/>
          </a:stretch>
        </p:blipFill>
        <p:spPr>
          <a:xfrm>
            <a:off x="6492240" y="274320"/>
            <a:ext cx="2286000" cy="603504"/>
          </a:xfrm>
          <a:prstGeom prst="rect">
            <a:avLst/>
          </a:prstGeom>
        </p:spPr>
      </p:pic>
      <p:sp>
        <p:nvSpPr>
          <p:cNvPr id="5" name="Text 2"/>
          <p:cNvSpPr/>
          <p:nvPr/>
        </p:nvSpPr>
        <p:spPr>
          <a:xfrm>
            <a:off x="6492240" y="914400"/>
            <a:ext cx="2286000" cy="182880"/>
          </a:xfrm>
          <a:prstGeom prst="rect">
            <a:avLst/>
          </a:prstGeom>
          <a:noFill/>
          <a:ln/>
        </p:spPr>
        <p:txBody>
          <a:bodyPr wrap="square" lIns="0" tIns="0" rIns="0" bIns="0" rtlCol="0" anchor="ctr"/>
          <a:lstStyle/>
          <a:p>
            <a:pPr marL="0" indent="0" algn="r">
              <a:buNone/>
            </a:pPr>
            <a:r>
              <a:rPr lang="en-US" sz="900" dirty="0">
                <a:solidFill>
                  <a:srgbClr val="9B98A6"/>
                </a:solidFill>
                <a:latin typeface="Consolas" pitchFamily="34" charset="0"/>
                <a:ea typeface="Consolas" pitchFamily="34" charset="-122"/>
                <a:cs typeface="Consolas" pitchFamily="34" charset="-120"/>
              </a:rPr>
              <a:t>2026.04.16</a:t>
            </a:r>
            <a:endParaRPr lang="en-US" sz="900" dirty="0"/>
          </a:p>
        </p:txBody>
      </p:sp>
      <p:sp>
        <p:nvSpPr>
          <p:cNvPr id="6" name="Text 3"/>
          <p:cNvSpPr/>
          <p:nvPr/>
        </p:nvSpPr>
        <p:spPr>
          <a:xfrm>
            <a:off x="365760" y="1828800"/>
            <a:ext cx="5486400" cy="228600"/>
          </a:xfrm>
          <a:prstGeom prst="rect">
            <a:avLst/>
          </a:prstGeom>
          <a:noFill/>
          <a:ln/>
        </p:spPr>
        <p:txBody>
          <a:bodyPr wrap="square" lIns="0" tIns="0" rIns="0" bIns="0" rtlCol="0" anchor="ctr"/>
          <a:lstStyle/>
          <a:p>
            <a:pPr marL="0" indent="0">
              <a:buNone/>
            </a:pPr>
            <a:r>
              <a:rPr lang="en-US" sz="900" kern="0" spc="300" dirty="0">
                <a:solidFill>
                  <a:srgbClr val="8B7AB8"/>
                </a:solidFill>
                <a:latin typeface="Consolas" pitchFamily="34" charset="0"/>
                <a:ea typeface="Consolas" pitchFamily="34" charset="-122"/>
                <a:cs typeface="Consolas" pitchFamily="34" charset="-120"/>
              </a:rPr>
              <a:t>PROPOSAL ／ DX &amp; AI SUPPORT</a:t>
            </a:r>
            <a:endParaRPr lang="en-US" sz="900" dirty="0"/>
          </a:p>
        </p:txBody>
      </p:sp>
      <p:sp>
        <p:nvSpPr>
          <p:cNvPr id="7" name="Text 4"/>
          <p:cNvSpPr/>
          <p:nvPr/>
        </p:nvSpPr>
        <p:spPr>
          <a:xfrm>
            <a:off x="320040" y="2103120"/>
            <a:ext cx="8503920" cy="2194560"/>
          </a:xfrm>
          <a:prstGeom prst="rect">
            <a:avLst/>
          </a:prstGeom>
          <a:noFill/>
          <a:ln/>
        </p:spPr>
        <p:txBody>
          <a:bodyPr wrap="square" lIns="0" tIns="0" rIns="0" bIns="0" rtlCol="0" anchor="ctr"/>
          <a:lstStyle/>
          <a:p>
            <a:pPr marL="0" indent="0">
              <a:buNone/>
            </a:pPr>
            <a:r>
              <a:rPr lang="en-US" sz="6200" b="1" dirty="0">
                <a:solidFill>
                  <a:srgbClr val="3A3A42"/>
                </a:solidFill>
                <a:latin typeface="Noto Sans JP" pitchFamily="34" charset="0"/>
                <a:ea typeface="Noto Sans JP" pitchFamily="34" charset="-122"/>
                <a:cs typeface="Noto Sans JP" pitchFamily="34" charset="-120"/>
              </a:rPr>
              <a:t>DX推進・AI活用</a:t>
            </a:r>
            <a:endParaRPr lang="en-US" sz="6200" dirty="0"/>
          </a:p>
          <a:p>
            <a:pPr marL="0" indent="0">
              <a:buNone/>
            </a:pPr>
            <a:r>
              <a:rPr lang="en-US" sz="6200" b="1" dirty="0">
                <a:solidFill>
                  <a:srgbClr val="3A3A42"/>
                </a:solidFill>
                <a:latin typeface="Noto Sans JP" pitchFamily="34" charset="0"/>
                <a:ea typeface="Noto Sans JP" pitchFamily="34" charset="-122"/>
                <a:cs typeface="Noto Sans JP" pitchFamily="34" charset="-120"/>
              </a:rPr>
              <a:t>ご提案書</a:t>
            </a:r>
            <a:endParaRPr lang="en-US" sz="6200" dirty="0"/>
          </a:p>
        </p:txBody>
      </p:sp>
      <p:sp>
        <p:nvSpPr>
          <p:cNvPr id="8" name="Text 5"/>
          <p:cNvSpPr/>
          <p:nvPr/>
        </p:nvSpPr>
        <p:spPr>
          <a:xfrm>
            <a:off x="4114800" y="4434840"/>
            <a:ext cx="4709160" cy="274320"/>
          </a:xfrm>
          <a:prstGeom prst="rect">
            <a:avLst/>
          </a:prstGeom>
          <a:noFill/>
          <a:ln/>
        </p:spPr>
        <p:txBody>
          <a:bodyPr wrap="square" lIns="0" tIns="0" rIns="0" bIns="0" rtlCol="0" anchor="ctr"/>
          <a:lstStyle/>
          <a:p>
            <a:pPr marL="0" indent="0" algn="r">
              <a:buNone/>
            </a:pPr>
            <a:r>
              <a:rPr lang="en-US" sz="1100" dirty="0">
                <a:solidFill>
                  <a:srgbClr val="5E5C6A"/>
                </a:solidFill>
                <a:latin typeface="Noto Sans JP" pitchFamily="34" charset="0"/>
                <a:ea typeface="Noto Sans JP" pitchFamily="34" charset="-122"/>
                <a:cs typeface="Noto Sans JP" pitchFamily="34" charset="-120"/>
              </a:rPr>
              <a:t>発注者側に立った中立的な伴走支援  ／  </a:t>
            </a:r>
            <a:r>
              <a:rPr lang="en-US" altLang="ja-JP" sz="1100" dirty="0">
                <a:solidFill>
                  <a:srgbClr val="5E5C6A"/>
                </a:solidFill>
                <a:latin typeface="Noto Sans JP" pitchFamily="34" charset="0"/>
                <a:ea typeface="Noto Sans JP" pitchFamily="34" charset="-122"/>
                <a:cs typeface="Noto Sans JP" pitchFamily="34" charset="-120"/>
              </a:rPr>
              <a:t>XX</a:t>
            </a:r>
            <a:r>
              <a:rPr lang="en-US" sz="1100" dirty="0">
                <a:solidFill>
                  <a:srgbClr val="5E5C6A"/>
                </a:solidFill>
                <a:latin typeface="Noto Sans JP" pitchFamily="34" charset="0"/>
                <a:ea typeface="Noto Sans JP" pitchFamily="34" charset="-122"/>
                <a:cs typeface="Noto Sans JP" pitchFamily="34" charset="-120"/>
              </a:rPr>
              <a:t> 御中</a:t>
            </a:r>
            <a:endParaRPr lang="en-US" sz="1100" dirty="0"/>
          </a:p>
        </p:txBody>
      </p:sp>
      <p:sp>
        <p:nvSpPr>
          <p:cNvPr id="9" name="Text 6"/>
          <p:cNvSpPr/>
          <p:nvPr/>
        </p:nvSpPr>
        <p:spPr>
          <a:xfrm>
            <a:off x="365760" y="4846320"/>
            <a:ext cx="3657600" cy="182880"/>
          </a:xfrm>
          <a:prstGeom prst="rect">
            <a:avLst/>
          </a:prstGeom>
          <a:noFill/>
          <a:ln/>
        </p:spPr>
        <p:txBody>
          <a:bodyPr wrap="square" lIns="0" tIns="0" rIns="0" bIns="0" rtlCol="0" anchor="ctr"/>
          <a:lstStyle/>
          <a:p>
            <a:pPr marL="0" indent="0">
              <a:buNone/>
            </a:pPr>
            <a:r>
              <a:rPr lang="en-US" sz="800" kern="0" spc="200" dirty="0">
                <a:solidFill>
                  <a:srgbClr val="9B98A6"/>
                </a:solidFill>
                <a:latin typeface="Consolas" pitchFamily="34" charset="0"/>
                <a:ea typeface="Consolas" pitchFamily="34" charset="-122"/>
                <a:cs typeface="Consolas" pitchFamily="34" charset="-120"/>
              </a:rPr>
              <a:t>DXデザインシステム株式会社</a:t>
            </a:r>
            <a:endParaRPr lang="en-US" sz="800" dirty="0"/>
          </a:p>
        </p:txBody>
      </p:sp>
      <p:sp>
        <p:nvSpPr>
          <p:cNvPr id="10" name="Shape 7"/>
          <p:cNvSpPr/>
          <p:nvPr/>
        </p:nvSpPr>
        <p:spPr>
          <a:xfrm>
            <a:off x="228600" y="2148840"/>
            <a:ext cx="36576" cy="2103120"/>
          </a:xfrm>
          <a:prstGeom prst="rect">
            <a:avLst/>
          </a:prstGeom>
          <a:solidFill>
            <a:srgbClr val="8B7AB8"/>
          </a:solidFill>
          <a:ln/>
        </p:spPr>
        <p:txBody>
          <a:bodyPr/>
          <a:lstStyle/>
          <a:p>
            <a:endParaRPr lang="ja-JP"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marL="0" indent="0">
              <a:buNone/>
            </a:pPr>
            <a:r>
              <a:rPr lang="en-US" sz="800" kern="0" spc="200" dirty="0">
                <a:solidFill>
                  <a:srgbClr val="9B98A6"/>
                </a:solidFill>
                <a:latin typeface="Consolas" pitchFamily="34" charset="0"/>
                <a:ea typeface="Consolas" pitchFamily="34" charset="-122"/>
                <a:cs typeface="Consolas" pitchFamily="34" charset="-120"/>
              </a:rPr>
              <a:t>INDEX</a:t>
            </a:r>
            <a:endParaRPr lang="en-US" sz="800" dirty="0"/>
          </a:p>
        </p:txBody>
      </p:sp>
      <p:sp>
        <p:nvSpPr>
          <p:cNvPr id="3" name="Shape 1"/>
          <p:cNvSpPr/>
          <p:nvPr/>
        </p:nvSpPr>
        <p:spPr>
          <a:xfrm>
            <a:off x="228600" y="320040"/>
            <a:ext cx="64008" cy="64008"/>
          </a:xfrm>
          <a:prstGeom prst="ellipse">
            <a:avLst/>
          </a:prstGeom>
          <a:solidFill>
            <a:srgbClr val="8B7AB8"/>
          </a:solidFill>
          <a:ln/>
        </p:spPr>
        <p:txBody>
          <a:bodyPr/>
          <a:lstStyle/>
          <a:p>
            <a:endParaRPr lang="ja-JP" altLang="en-US"/>
          </a:p>
        </p:txBody>
      </p:sp>
      <p:pic>
        <p:nvPicPr>
          <p:cNvPr id="4" name="Image 0" descr="logo-horizontal.png"/>
          <p:cNvPicPr>
            <a:picLocks noChangeAspect="1"/>
          </p:cNvPicPr>
          <p:nvPr/>
        </p:nvPicPr>
        <p:blipFill>
          <a:blip r:embed="rId3"/>
          <a:stretch>
            <a:fillRect/>
          </a:stretch>
        </p:blipFill>
        <p:spPr>
          <a:xfrm>
            <a:off x="6492240" y="274320"/>
            <a:ext cx="2286000" cy="603504"/>
          </a:xfrm>
          <a:prstGeom prst="rect">
            <a:avLst/>
          </a:prstGeom>
        </p:spPr>
      </p:pic>
      <p:sp>
        <p:nvSpPr>
          <p:cNvPr id="5" name="Text 2"/>
          <p:cNvSpPr/>
          <p:nvPr/>
        </p:nvSpPr>
        <p:spPr>
          <a:xfrm>
            <a:off x="365760" y="1005840"/>
            <a:ext cx="2560320" cy="274320"/>
          </a:xfrm>
          <a:prstGeom prst="rect">
            <a:avLst/>
          </a:prstGeom>
          <a:noFill/>
          <a:ln/>
        </p:spPr>
        <p:txBody>
          <a:bodyPr wrap="square" lIns="0" tIns="0" rIns="0" bIns="0" rtlCol="0" anchor="ctr"/>
          <a:lstStyle/>
          <a:p>
            <a:pPr marL="0" indent="0">
              <a:buNone/>
            </a:pPr>
            <a:r>
              <a:rPr lang="en-US" sz="900" kern="0" spc="400" dirty="0">
                <a:solidFill>
                  <a:srgbClr val="8B7AB8"/>
                </a:solidFill>
                <a:latin typeface="Consolas" pitchFamily="34" charset="0"/>
                <a:ea typeface="Consolas" pitchFamily="34" charset="-122"/>
                <a:cs typeface="Consolas" pitchFamily="34" charset="-120"/>
              </a:rPr>
              <a:t>C O N T E N T S</a:t>
            </a:r>
            <a:endParaRPr lang="en-US" sz="900" dirty="0"/>
          </a:p>
        </p:txBody>
      </p:sp>
      <p:sp>
        <p:nvSpPr>
          <p:cNvPr id="6" name="Text 3"/>
          <p:cNvSpPr/>
          <p:nvPr/>
        </p:nvSpPr>
        <p:spPr>
          <a:xfrm>
            <a:off x="365760" y="1234440"/>
            <a:ext cx="2743200" cy="914400"/>
          </a:xfrm>
          <a:prstGeom prst="rect">
            <a:avLst/>
          </a:prstGeom>
          <a:noFill/>
          <a:ln/>
        </p:spPr>
        <p:txBody>
          <a:bodyPr wrap="square" lIns="0" tIns="0" rIns="0" bIns="0" rtlCol="0" anchor="ctr"/>
          <a:lstStyle/>
          <a:p>
            <a:pPr marL="0" indent="0">
              <a:buNone/>
            </a:pPr>
            <a:r>
              <a:rPr lang="en-US" sz="5600" b="1" dirty="0">
                <a:solidFill>
                  <a:srgbClr val="3A3A42"/>
                </a:solidFill>
                <a:latin typeface="Noto Sans JP" pitchFamily="34" charset="0"/>
                <a:ea typeface="Noto Sans JP" pitchFamily="34" charset="-122"/>
                <a:cs typeface="Noto Sans JP" pitchFamily="34" charset="-120"/>
              </a:rPr>
              <a:t>目次</a:t>
            </a:r>
            <a:endParaRPr lang="en-US" sz="5600" dirty="0"/>
          </a:p>
        </p:txBody>
      </p:sp>
      <p:sp>
        <p:nvSpPr>
          <p:cNvPr id="7" name="Text 4"/>
          <p:cNvSpPr/>
          <p:nvPr/>
        </p:nvSpPr>
        <p:spPr>
          <a:xfrm>
            <a:off x="365760" y="2651760"/>
            <a:ext cx="2743200" cy="457200"/>
          </a:xfrm>
          <a:prstGeom prst="rect">
            <a:avLst/>
          </a:prstGeom>
          <a:noFill/>
          <a:ln/>
        </p:spPr>
        <p:txBody>
          <a:bodyPr wrap="square" lIns="0" tIns="0" rIns="0" bIns="0" rtlCol="0" anchor="ctr"/>
          <a:lstStyle/>
          <a:p>
            <a:pPr marL="0" indent="0">
              <a:buNone/>
            </a:pPr>
            <a:r>
              <a:rPr lang="en-US" sz="1000" dirty="0">
                <a:solidFill>
                  <a:srgbClr val="5E5C6A"/>
                </a:solidFill>
                <a:latin typeface="Noto Sans JP" pitchFamily="34" charset="0"/>
                <a:ea typeface="Noto Sans JP" pitchFamily="34" charset="-122"/>
                <a:cs typeface="Noto Sans JP" pitchFamily="34" charset="-120"/>
              </a:rPr>
              <a:t>本ご提案の構成を以下の順に沿ってご説明します。</a:t>
            </a:r>
            <a:endParaRPr lang="en-US" sz="1000" dirty="0"/>
          </a:p>
        </p:txBody>
      </p:sp>
      <p:sp>
        <p:nvSpPr>
          <p:cNvPr id="8" name="Shape 5"/>
          <p:cNvSpPr/>
          <p:nvPr/>
        </p:nvSpPr>
        <p:spPr>
          <a:xfrm>
            <a:off x="3474720" y="1005840"/>
            <a:ext cx="0" cy="3566160"/>
          </a:xfrm>
          <a:prstGeom prst="line">
            <a:avLst/>
          </a:prstGeom>
          <a:noFill/>
          <a:ln w="6350">
            <a:solidFill>
              <a:srgbClr val="E8E6EC"/>
            </a:solidFill>
            <a:prstDash val="solid"/>
          </a:ln>
        </p:spPr>
        <p:txBody>
          <a:bodyPr/>
          <a:lstStyle/>
          <a:p>
            <a:endParaRPr lang="ja-JP" altLang="en-US"/>
          </a:p>
        </p:txBody>
      </p:sp>
      <p:sp>
        <p:nvSpPr>
          <p:cNvPr id="9" name="Text 6"/>
          <p:cNvSpPr/>
          <p:nvPr/>
        </p:nvSpPr>
        <p:spPr>
          <a:xfrm>
            <a:off x="3703320" y="1143000"/>
            <a:ext cx="548640" cy="274320"/>
          </a:xfrm>
          <a:prstGeom prst="rect">
            <a:avLst/>
          </a:prstGeom>
          <a:noFill/>
          <a:ln/>
        </p:spPr>
        <p:txBody>
          <a:bodyPr wrap="square" lIns="0" tIns="0" rIns="0" bIns="0" rtlCol="0" anchor="ctr"/>
          <a:lstStyle/>
          <a:p>
            <a:pPr marL="0" indent="0">
              <a:buNone/>
            </a:pPr>
            <a:r>
              <a:rPr lang="en-US" sz="1000" dirty="0">
                <a:solidFill>
                  <a:srgbClr val="8B7AB8"/>
                </a:solidFill>
                <a:latin typeface="Consolas" pitchFamily="34" charset="0"/>
                <a:ea typeface="Consolas" pitchFamily="34" charset="-122"/>
                <a:cs typeface="Consolas" pitchFamily="34" charset="-120"/>
              </a:rPr>
              <a:t>01</a:t>
            </a:r>
            <a:endParaRPr lang="en-US" sz="1000" dirty="0"/>
          </a:p>
        </p:txBody>
      </p:sp>
      <p:sp>
        <p:nvSpPr>
          <p:cNvPr id="10" name="Text 7"/>
          <p:cNvSpPr/>
          <p:nvPr/>
        </p:nvSpPr>
        <p:spPr>
          <a:xfrm>
            <a:off x="3703320" y="1399032"/>
            <a:ext cx="1828800" cy="228600"/>
          </a:xfrm>
          <a:prstGeom prst="rect">
            <a:avLst/>
          </a:prstGeom>
          <a:noFill/>
          <a:ln/>
        </p:spPr>
        <p:txBody>
          <a:bodyPr wrap="square" lIns="0" tIns="0" rIns="0" bIns="0" rtlCol="0" anchor="ctr"/>
          <a:lstStyle/>
          <a:p>
            <a:pPr marL="0" indent="0">
              <a:buNone/>
            </a:pPr>
            <a:r>
              <a:rPr lang="en-US" sz="800" dirty="0">
                <a:solidFill>
                  <a:srgbClr val="9B98A6"/>
                </a:solidFill>
                <a:latin typeface="Consolas" pitchFamily="34" charset="0"/>
                <a:ea typeface="Consolas" pitchFamily="34" charset="-122"/>
                <a:cs typeface="Consolas" pitchFamily="34" charset="-120"/>
              </a:rPr>
              <a:t>Request &amp; Scope</a:t>
            </a:r>
            <a:endParaRPr lang="en-US" sz="800" dirty="0"/>
          </a:p>
        </p:txBody>
      </p:sp>
      <p:sp>
        <p:nvSpPr>
          <p:cNvPr id="11" name="Text 8"/>
          <p:cNvSpPr/>
          <p:nvPr/>
        </p:nvSpPr>
        <p:spPr>
          <a:xfrm>
            <a:off x="4846320" y="1124712"/>
            <a:ext cx="3931920" cy="548640"/>
          </a:xfrm>
          <a:prstGeom prst="rect">
            <a:avLst/>
          </a:prstGeom>
          <a:noFill/>
          <a:ln/>
        </p:spPr>
        <p:txBody>
          <a:bodyPr wrap="square" lIns="0" tIns="0" rIns="0" bIns="0" rtlCol="0" anchor="t"/>
          <a:lstStyle/>
          <a:p>
            <a:pPr marL="0" indent="0">
              <a:buNone/>
            </a:pPr>
            <a:r>
              <a:rPr lang="en-US" sz="2000" b="1" dirty="0">
                <a:solidFill>
                  <a:srgbClr val="3A3A42"/>
                </a:solidFill>
                <a:latin typeface="Noto Sans JP" pitchFamily="34" charset="0"/>
                <a:ea typeface="Noto Sans JP" pitchFamily="34" charset="-122"/>
                <a:cs typeface="Noto Sans JP" pitchFamily="34" charset="-120"/>
              </a:rPr>
              <a:t>ご依頼の整理と全体像</a:t>
            </a:r>
            <a:endParaRPr lang="en-US" sz="2000" dirty="0"/>
          </a:p>
        </p:txBody>
      </p:sp>
      <p:sp>
        <p:nvSpPr>
          <p:cNvPr id="12" name="Shape 9"/>
          <p:cNvSpPr/>
          <p:nvPr/>
        </p:nvSpPr>
        <p:spPr>
          <a:xfrm>
            <a:off x="3703320" y="1746504"/>
            <a:ext cx="5074920" cy="0"/>
          </a:xfrm>
          <a:prstGeom prst="line">
            <a:avLst/>
          </a:prstGeom>
          <a:noFill/>
          <a:ln w="6350">
            <a:solidFill>
              <a:srgbClr val="F2F0F5"/>
            </a:solidFill>
            <a:prstDash val="solid"/>
          </a:ln>
        </p:spPr>
        <p:txBody>
          <a:bodyPr/>
          <a:lstStyle/>
          <a:p>
            <a:endParaRPr lang="ja-JP" altLang="en-US"/>
          </a:p>
        </p:txBody>
      </p:sp>
      <p:sp>
        <p:nvSpPr>
          <p:cNvPr id="13" name="Text 10"/>
          <p:cNvSpPr/>
          <p:nvPr/>
        </p:nvSpPr>
        <p:spPr>
          <a:xfrm>
            <a:off x="3703320" y="1856232"/>
            <a:ext cx="548640" cy="274320"/>
          </a:xfrm>
          <a:prstGeom prst="rect">
            <a:avLst/>
          </a:prstGeom>
          <a:noFill/>
          <a:ln/>
        </p:spPr>
        <p:txBody>
          <a:bodyPr wrap="square" lIns="0" tIns="0" rIns="0" bIns="0" rtlCol="0" anchor="ctr"/>
          <a:lstStyle/>
          <a:p>
            <a:pPr marL="0" indent="0">
              <a:buNone/>
            </a:pPr>
            <a:r>
              <a:rPr lang="en-US" sz="1000" dirty="0">
                <a:solidFill>
                  <a:srgbClr val="8B7AB8"/>
                </a:solidFill>
                <a:latin typeface="Consolas" pitchFamily="34" charset="0"/>
                <a:ea typeface="Consolas" pitchFamily="34" charset="-122"/>
                <a:cs typeface="Consolas" pitchFamily="34" charset="-120"/>
              </a:rPr>
              <a:t>02</a:t>
            </a:r>
            <a:endParaRPr lang="en-US" sz="1000" dirty="0"/>
          </a:p>
        </p:txBody>
      </p:sp>
      <p:sp>
        <p:nvSpPr>
          <p:cNvPr id="14" name="Text 11"/>
          <p:cNvSpPr/>
          <p:nvPr/>
        </p:nvSpPr>
        <p:spPr>
          <a:xfrm>
            <a:off x="3703320" y="2112264"/>
            <a:ext cx="1828800" cy="228600"/>
          </a:xfrm>
          <a:prstGeom prst="rect">
            <a:avLst/>
          </a:prstGeom>
          <a:noFill/>
          <a:ln/>
        </p:spPr>
        <p:txBody>
          <a:bodyPr wrap="square" lIns="0" tIns="0" rIns="0" bIns="0" rtlCol="0" anchor="ctr"/>
          <a:lstStyle/>
          <a:p>
            <a:pPr marL="0" indent="0">
              <a:buNone/>
            </a:pPr>
            <a:r>
              <a:rPr lang="en-US" sz="800" dirty="0">
                <a:solidFill>
                  <a:srgbClr val="9B98A6"/>
                </a:solidFill>
                <a:latin typeface="Consolas" pitchFamily="34" charset="0"/>
                <a:ea typeface="Consolas" pitchFamily="34" charset="-122"/>
                <a:cs typeface="Consolas" pitchFamily="34" charset="-120"/>
              </a:rPr>
              <a:t>Process Improvement</a:t>
            </a:r>
            <a:endParaRPr lang="en-US" sz="800" dirty="0"/>
          </a:p>
        </p:txBody>
      </p:sp>
      <p:sp>
        <p:nvSpPr>
          <p:cNvPr id="15" name="Text 12"/>
          <p:cNvSpPr/>
          <p:nvPr/>
        </p:nvSpPr>
        <p:spPr>
          <a:xfrm>
            <a:off x="4846320" y="1837944"/>
            <a:ext cx="3931920" cy="548640"/>
          </a:xfrm>
          <a:prstGeom prst="rect">
            <a:avLst/>
          </a:prstGeom>
          <a:noFill/>
          <a:ln/>
        </p:spPr>
        <p:txBody>
          <a:bodyPr wrap="square" lIns="0" tIns="0" rIns="0" bIns="0" rtlCol="0" anchor="t"/>
          <a:lstStyle/>
          <a:p>
            <a:pPr marL="0" indent="0">
              <a:buNone/>
            </a:pPr>
            <a:r>
              <a:rPr lang="en-US" sz="2000" b="1" dirty="0">
                <a:solidFill>
                  <a:srgbClr val="3A3A42"/>
                </a:solidFill>
                <a:latin typeface="Noto Sans JP" pitchFamily="34" charset="0"/>
                <a:ea typeface="Noto Sans JP" pitchFamily="34" charset="-122"/>
                <a:cs typeface="Noto Sans JP" pitchFamily="34" charset="-120"/>
              </a:rPr>
              <a:t>業務プロセス改善支援</a:t>
            </a:r>
            <a:endParaRPr lang="en-US" sz="2000" dirty="0"/>
          </a:p>
        </p:txBody>
      </p:sp>
      <p:sp>
        <p:nvSpPr>
          <p:cNvPr id="16" name="Shape 13"/>
          <p:cNvSpPr/>
          <p:nvPr/>
        </p:nvSpPr>
        <p:spPr>
          <a:xfrm>
            <a:off x="3703320" y="2459736"/>
            <a:ext cx="5074920" cy="0"/>
          </a:xfrm>
          <a:prstGeom prst="line">
            <a:avLst/>
          </a:prstGeom>
          <a:noFill/>
          <a:ln w="6350">
            <a:solidFill>
              <a:srgbClr val="F2F0F5"/>
            </a:solidFill>
            <a:prstDash val="solid"/>
          </a:ln>
        </p:spPr>
        <p:txBody>
          <a:bodyPr/>
          <a:lstStyle/>
          <a:p>
            <a:endParaRPr lang="ja-JP" altLang="en-US"/>
          </a:p>
        </p:txBody>
      </p:sp>
      <p:sp>
        <p:nvSpPr>
          <p:cNvPr id="17" name="Text 14"/>
          <p:cNvSpPr/>
          <p:nvPr/>
        </p:nvSpPr>
        <p:spPr>
          <a:xfrm>
            <a:off x="3703320" y="2569464"/>
            <a:ext cx="548640" cy="274320"/>
          </a:xfrm>
          <a:prstGeom prst="rect">
            <a:avLst/>
          </a:prstGeom>
          <a:noFill/>
          <a:ln/>
        </p:spPr>
        <p:txBody>
          <a:bodyPr wrap="square" lIns="0" tIns="0" rIns="0" bIns="0" rtlCol="0" anchor="ctr"/>
          <a:lstStyle/>
          <a:p>
            <a:pPr marL="0" indent="0">
              <a:buNone/>
            </a:pPr>
            <a:r>
              <a:rPr lang="en-US" sz="1000" dirty="0">
                <a:solidFill>
                  <a:srgbClr val="8B7AB8"/>
                </a:solidFill>
                <a:latin typeface="Consolas" pitchFamily="34" charset="0"/>
                <a:ea typeface="Consolas" pitchFamily="34" charset="-122"/>
                <a:cs typeface="Consolas" pitchFamily="34" charset="-120"/>
              </a:rPr>
              <a:t>03</a:t>
            </a:r>
            <a:endParaRPr lang="en-US" sz="1000" dirty="0"/>
          </a:p>
        </p:txBody>
      </p:sp>
      <p:sp>
        <p:nvSpPr>
          <p:cNvPr id="18" name="Text 15"/>
          <p:cNvSpPr/>
          <p:nvPr/>
        </p:nvSpPr>
        <p:spPr>
          <a:xfrm>
            <a:off x="3703320" y="2825496"/>
            <a:ext cx="1828800" cy="228600"/>
          </a:xfrm>
          <a:prstGeom prst="rect">
            <a:avLst/>
          </a:prstGeom>
          <a:noFill/>
          <a:ln/>
        </p:spPr>
        <p:txBody>
          <a:bodyPr wrap="square" lIns="0" tIns="0" rIns="0" bIns="0" rtlCol="0" anchor="ctr"/>
          <a:lstStyle/>
          <a:p>
            <a:pPr marL="0" indent="0">
              <a:buNone/>
            </a:pPr>
            <a:r>
              <a:rPr lang="en-US" sz="800" dirty="0">
                <a:solidFill>
                  <a:srgbClr val="9B98A6"/>
                </a:solidFill>
                <a:latin typeface="Consolas" pitchFamily="34" charset="0"/>
                <a:ea typeface="Consolas" pitchFamily="34" charset="-122"/>
                <a:cs typeface="Consolas" pitchFamily="34" charset="-120"/>
              </a:rPr>
              <a:t>Data &amp; Master Design</a:t>
            </a:r>
            <a:endParaRPr lang="en-US" sz="800" dirty="0"/>
          </a:p>
        </p:txBody>
      </p:sp>
      <p:sp>
        <p:nvSpPr>
          <p:cNvPr id="19" name="Text 16"/>
          <p:cNvSpPr/>
          <p:nvPr/>
        </p:nvSpPr>
        <p:spPr>
          <a:xfrm>
            <a:off x="4846320" y="2551176"/>
            <a:ext cx="3931920" cy="548640"/>
          </a:xfrm>
          <a:prstGeom prst="rect">
            <a:avLst/>
          </a:prstGeom>
          <a:noFill/>
          <a:ln/>
        </p:spPr>
        <p:txBody>
          <a:bodyPr wrap="square" lIns="0" tIns="0" rIns="0" bIns="0" rtlCol="0" anchor="t"/>
          <a:lstStyle/>
          <a:p>
            <a:pPr marL="0" indent="0">
              <a:buNone/>
            </a:pPr>
            <a:r>
              <a:rPr lang="en-US" sz="2000" b="1" dirty="0">
                <a:solidFill>
                  <a:srgbClr val="3A3A42"/>
                </a:solidFill>
                <a:latin typeface="Noto Sans JP" pitchFamily="34" charset="0"/>
                <a:ea typeface="Noto Sans JP" pitchFamily="34" charset="-122"/>
                <a:cs typeface="Noto Sans JP" pitchFamily="34" charset="-120"/>
              </a:rPr>
              <a:t>統合DB・共通マスタ設計</a:t>
            </a:r>
            <a:endParaRPr lang="en-US" sz="2000" dirty="0"/>
          </a:p>
        </p:txBody>
      </p:sp>
      <p:sp>
        <p:nvSpPr>
          <p:cNvPr id="20" name="Shape 17"/>
          <p:cNvSpPr/>
          <p:nvPr/>
        </p:nvSpPr>
        <p:spPr>
          <a:xfrm>
            <a:off x="3703320" y="3172968"/>
            <a:ext cx="5074920" cy="0"/>
          </a:xfrm>
          <a:prstGeom prst="line">
            <a:avLst/>
          </a:prstGeom>
          <a:noFill/>
          <a:ln w="6350">
            <a:solidFill>
              <a:srgbClr val="F2F0F5"/>
            </a:solidFill>
            <a:prstDash val="solid"/>
          </a:ln>
        </p:spPr>
        <p:txBody>
          <a:bodyPr/>
          <a:lstStyle/>
          <a:p>
            <a:endParaRPr lang="ja-JP" altLang="en-US"/>
          </a:p>
        </p:txBody>
      </p:sp>
      <p:sp>
        <p:nvSpPr>
          <p:cNvPr id="21" name="Text 18"/>
          <p:cNvSpPr/>
          <p:nvPr/>
        </p:nvSpPr>
        <p:spPr>
          <a:xfrm>
            <a:off x="3703320" y="3282696"/>
            <a:ext cx="548640" cy="274320"/>
          </a:xfrm>
          <a:prstGeom prst="rect">
            <a:avLst/>
          </a:prstGeom>
          <a:noFill/>
          <a:ln/>
        </p:spPr>
        <p:txBody>
          <a:bodyPr wrap="square" lIns="0" tIns="0" rIns="0" bIns="0" rtlCol="0" anchor="ctr"/>
          <a:lstStyle/>
          <a:p>
            <a:pPr marL="0" indent="0">
              <a:buNone/>
            </a:pPr>
            <a:r>
              <a:rPr lang="en-US" sz="1000" dirty="0">
                <a:solidFill>
                  <a:srgbClr val="8B7AB8"/>
                </a:solidFill>
                <a:latin typeface="Consolas" pitchFamily="34" charset="0"/>
                <a:ea typeface="Consolas" pitchFamily="34" charset="-122"/>
                <a:cs typeface="Consolas" pitchFamily="34" charset="-120"/>
              </a:rPr>
              <a:t>04</a:t>
            </a:r>
            <a:endParaRPr lang="en-US" sz="1000" dirty="0"/>
          </a:p>
        </p:txBody>
      </p:sp>
      <p:sp>
        <p:nvSpPr>
          <p:cNvPr id="22" name="Text 19"/>
          <p:cNvSpPr/>
          <p:nvPr/>
        </p:nvSpPr>
        <p:spPr>
          <a:xfrm>
            <a:off x="3703320" y="3538728"/>
            <a:ext cx="1828800" cy="228600"/>
          </a:xfrm>
          <a:prstGeom prst="rect">
            <a:avLst/>
          </a:prstGeom>
          <a:noFill/>
          <a:ln/>
        </p:spPr>
        <p:txBody>
          <a:bodyPr wrap="square" lIns="0" tIns="0" rIns="0" bIns="0" rtlCol="0" anchor="ctr"/>
          <a:lstStyle/>
          <a:p>
            <a:pPr marL="0" indent="0">
              <a:buNone/>
            </a:pPr>
            <a:r>
              <a:rPr lang="en-US" sz="800" dirty="0">
                <a:solidFill>
                  <a:srgbClr val="9B98A6"/>
                </a:solidFill>
                <a:latin typeface="Consolas" pitchFamily="34" charset="0"/>
                <a:ea typeface="Consolas" pitchFamily="34" charset="-122"/>
                <a:cs typeface="Consolas" pitchFamily="34" charset="-120"/>
              </a:rPr>
              <a:t>AI Governance</a:t>
            </a:r>
            <a:endParaRPr lang="en-US" sz="800" dirty="0"/>
          </a:p>
        </p:txBody>
      </p:sp>
      <p:sp>
        <p:nvSpPr>
          <p:cNvPr id="23" name="Text 20"/>
          <p:cNvSpPr/>
          <p:nvPr/>
        </p:nvSpPr>
        <p:spPr>
          <a:xfrm>
            <a:off x="4846320" y="3264408"/>
            <a:ext cx="3931920" cy="548640"/>
          </a:xfrm>
          <a:prstGeom prst="rect">
            <a:avLst/>
          </a:prstGeom>
          <a:noFill/>
          <a:ln/>
        </p:spPr>
        <p:txBody>
          <a:bodyPr wrap="square" lIns="0" tIns="0" rIns="0" bIns="0" rtlCol="0" anchor="t"/>
          <a:lstStyle/>
          <a:p>
            <a:pPr marL="0" indent="0">
              <a:buNone/>
            </a:pPr>
            <a:r>
              <a:rPr lang="en-US" sz="2000" b="1" dirty="0">
                <a:solidFill>
                  <a:srgbClr val="3A3A42"/>
                </a:solidFill>
                <a:latin typeface="Noto Sans JP" pitchFamily="34" charset="0"/>
                <a:ea typeface="Noto Sans JP" pitchFamily="34" charset="-122"/>
                <a:cs typeface="Noto Sans JP" pitchFamily="34" charset="-120"/>
              </a:rPr>
              <a:t>AIガバナンス・推進人材</a:t>
            </a:r>
            <a:endParaRPr lang="en-US" sz="2000" dirty="0"/>
          </a:p>
        </p:txBody>
      </p:sp>
      <p:sp>
        <p:nvSpPr>
          <p:cNvPr id="24" name="Shape 21"/>
          <p:cNvSpPr/>
          <p:nvPr/>
        </p:nvSpPr>
        <p:spPr>
          <a:xfrm>
            <a:off x="3703320" y="3886200"/>
            <a:ext cx="5074920" cy="0"/>
          </a:xfrm>
          <a:prstGeom prst="line">
            <a:avLst/>
          </a:prstGeom>
          <a:noFill/>
          <a:ln w="6350">
            <a:solidFill>
              <a:srgbClr val="F2F0F5"/>
            </a:solidFill>
            <a:prstDash val="solid"/>
          </a:ln>
        </p:spPr>
        <p:txBody>
          <a:bodyPr/>
          <a:lstStyle/>
          <a:p>
            <a:endParaRPr lang="ja-JP" altLang="en-US"/>
          </a:p>
        </p:txBody>
      </p:sp>
      <p:sp>
        <p:nvSpPr>
          <p:cNvPr id="25" name="Text 22"/>
          <p:cNvSpPr/>
          <p:nvPr/>
        </p:nvSpPr>
        <p:spPr>
          <a:xfrm>
            <a:off x="3703320" y="3995928"/>
            <a:ext cx="548640" cy="274320"/>
          </a:xfrm>
          <a:prstGeom prst="rect">
            <a:avLst/>
          </a:prstGeom>
          <a:noFill/>
          <a:ln/>
        </p:spPr>
        <p:txBody>
          <a:bodyPr wrap="square" lIns="0" tIns="0" rIns="0" bIns="0" rtlCol="0" anchor="ctr"/>
          <a:lstStyle/>
          <a:p>
            <a:pPr marL="0" indent="0">
              <a:buNone/>
            </a:pPr>
            <a:r>
              <a:rPr lang="en-US" sz="1000" dirty="0">
                <a:solidFill>
                  <a:srgbClr val="8B7AB8"/>
                </a:solidFill>
                <a:latin typeface="Consolas" pitchFamily="34" charset="0"/>
                <a:ea typeface="Consolas" pitchFamily="34" charset="-122"/>
                <a:cs typeface="Consolas" pitchFamily="34" charset="-120"/>
              </a:rPr>
              <a:t>05</a:t>
            </a:r>
            <a:endParaRPr lang="en-US" sz="1000" dirty="0"/>
          </a:p>
        </p:txBody>
      </p:sp>
      <p:sp>
        <p:nvSpPr>
          <p:cNvPr id="26" name="Text 23"/>
          <p:cNvSpPr/>
          <p:nvPr/>
        </p:nvSpPr>
        <p:spPr>
          <a:xfrm>
            <a:off x="3703320" y="4251960"/>
            <a:ext cx="1828800" cy="228600"/>
          </a:xfrm>
          <a:prstGeom prst="rect">
            <a:avLst/>
          </a:prstGeom>
          <a:noFill/>
          <a:ln/>
        </p:spPr>
        <p:txBody>
          <a:bodyPr wrap="square" lIns="0" tIns="0" rIns="0" bIns="0" rtlCol="0" anchor="ctr"/>
          <a:lstStyle/>
          <a:p>
            <a:pPr marL="0" indent="0">
              <a:buNone/>
            </a:pPr>
            <a:r>
              <a:rPr lang="en-US" sz="800" dirty="0">
                <a:solidFill>
                  <a:srgbClr val="9B98A6"/>
                </a:solidFill>
                <a:latin typeface="Consolas" pitchFamily="34" charset="0"/>
                <a:ea typeface="Consolas" pitchFamily="34" charset="-122"/>
                <a:cs typeface="Consolas" pitchFamily="34" charset="-120"/>
              </a:rPr>
              <a:t>Cost &amp; Schedule</a:t>
            </a:r>
            <a:endParaRPr lang="en-US" sz="800" dirty="0"/>
          </a:p>
        </p:txBody>
      </p:sp>
      <p:sp>
        <p:nvSpPr>
          <p:cNvPr id="27" name="Text 24"/>
          <p:cNvSpPr/>
          <p:nvPr/>
        </p:nvSpPr>
        <p:spPr>
          <a:xfrm>
            <a:off x="4846320" y="3977640"/>
            <a:ext cx="3931920" cy="548640"/>
          </a:xfrm>
          <a:prstGeom prst="rect">
            <a:avLst/>
          </a:prstGeom>
          <a:noFill/>
          <a:ln/>
        </p:spPr>
        <p:txBody>
          <a:bodyPr wrap="square" lIns="0" tIns="0" rIns="0" bIns="0" rtlCol="0" anchor="t"/>
          <a:lstStyle/>
          <a:p>
            <a:pPr marL="0" indent="0">
              <a:buNone/>
            </a:pPr>
            <a:r>
              <a:rPr lang="en-US" sz="2000" b="1" dirty="0">
                <a:solidFill>
                  <a:srgbClr val="3A3A42"/>
                </a:solidFill>
                <a:latin typeface="Noto Sans JP" pitchFamily="34" charset="0"/>
                <a:ea typeface="Noto Sans JP" pitchFamily="34" charset="-122"/>
                <a:cs typeface="Noto Sans JP" pitchFamily="34" charset="-120"/>
              </a:rPr>
              <a:t>費用・スケジュール・体制</a:t>
            </a:r>
            <a:endParaRPr lang="en-US" sz="2000" dirty="0"/>
          </a:p>
        </p:txBody>
      </p:sp>
      <p:sp>
        <p:nvSpPr>
          <p:cNvPr id="28" name="Text 25"/>
          <p:cNvSpPr/>
          <p:nvPr/>
        </p:nvSpPr>
        <p:spPr>
          <a:xfrm>
            <a:off x="7955280" y="4846320"/>
            <a:ext cx="914400" cy="182880"/>
          </a:xfrm>
          <a:prstGeom prst="rect">
            <a:avLst/>
          </a:prstGeom>
          <a:noFill/>
          <a:ln/>
        </p:spPr>
        <p:txBody>
          <a:bodyPr wrap="square" lIns="0" tIns="0" rIns="0" bIns="0" rtlCol="0" anchor="ctr"/>
          <a:lstStyle/>
          <a:p>
            <a:pPr marL="0" indent="0" algn="r">
              <a:buNone/>
            </a:pPr>
            <a:r>
              <a:rPr lang="en-US" sz="800" dirty="0">
                <a:solidFill>
                  <a:srgbClr val="9B98A6"/>
                </a:solidFill>
                <a:latin typeface="Consolas" pitchFamily="34" charset="0"/>
                <a:ea typeface="Consolas" pitchFamily="34" charset="-122"/>
                <a:cs typeface="Consolas" pitchFamily="34" charset="-120"/>
              </a:rPr>
              <a:t>02 / 18</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marL="0" indent="0">
              <a:buNone/>
            </a:pPr>
            <a:r>
              <a:rPr lang="en-US" sz="800" kern="0" spc="200" dirty="0">
                <a:solidFill>
                  <a:srgbClr val="9B98A6"/>
                </a:solidFill>
                <a:latin typeface="Consolas" pitchFamily="34" charset="0"/>
                <a:ea typeface="Consolas" pitchFamily="34" charset="-122"/>
                <a:cs typeface="Consolas" pitchFamily="34" charset="-120"/>
              </a:rPr>
              <a:t>SECTION ／ CHAPTER</a:t>
            </a:r>
            <a:endParaRPr lang="en-US" sz="800" dirty="0"/>
          </a:p>
        </p:txBody>
      </p:sp>
      <p:sp>
        <p:nvSpPr>
          <p:cNvPr id="3" name="Shape 1"/>
          <p:cNvSpPr/>
          <p:nvPr/>
        </p:nvSpPr>
        <p:spPr>
          <a:xfrm>
            <a:off x="228600" y="320040"/>
            <a:ext cx="64008" cy="64008"/>
          </a:xfrm>
          <a:prstGeom prst="ellipse">
            <a:avLst/>
          </a:prstGeom>
          <a:solidFill>
            <a:srgbClr val="8B7AB8"/>
          </a:solidFill>
          <a:ln/>
        </p:spPr>
        <p:txBody>
          <a:bodyPr/>
          <a:lstStyle/>
          <a:p>
            <a:endParaRPr lang="ja-JP" altLang="en-US"/>
          </a:p>
        </p:txBody>
      </p:sp>
      <p:pic>
        <p:nvPicPr>
          <p:cNvPr id="4" name="Image 0" descr="logo-horizontal.png"/>
          <p:cNvPicPr>
            <a:picLocks noChangeAspect="1"/>
          </p:cNvPicPr>
          <p:nvPr/>
        </p:nvPicPr>
        <p:blipFill>
          <a:blip r:embed="rId3"/>
          <a:stretch>
            <a:fillRect/>
          </a:stretch>
        </p:blipFill>
        <p:spPr>
          <a:xfrm>
            <a:off x="6492240" y="274320"/>
            <a:ext cx="2286000" cy="603504"/>
          </a:xfrm>
          <a:prstGeom prst="rect">
            <a:avLst/>
          </a:prstGeom>
        </p:spPr>
      </p:pic>
      <p:pic>
        <p:nvPicPr>
          <p:cNvPr id="5" name="Image 1" descr="favicon-faded.png"/>
          <p:cNvPicPr>
            <a:picLocks noChangeAspect="1"/>
          </p:cNvPicPr>
          <p:nvPr/>
        </p:nvPicPr>
        <p:blipFill>
          <a:blip r:embed="rId4"/>
          <a:stretch>
            <a:fillRect/>
          </a:stretch>
        </p:blipFill>
        <p:spPr>
          <a:xfrm>
            <a:off x="822960" y="1005840"/>
            <a:ext cx="3474720" cy="3474720"/>
          </a:xfrm>
          <a:prstGeom prst="rect">
            <a:avLst/>
          </a:prstGeom>
        </p:spPr>
      </p:pic>
      <p:sp>
        <p:nvSpPr>
          <p:cNvPr id="6" name="Shape 2"/>
          <p:cNvSpPr/>
          <p:nvPr/>
        </p:nvSpPr>
        <p:spPr>
          <a:xfrm>
            <a:off x="4937760" y="1463040"/>
            <a:ext cx="27432" cy="2103120"/>
          </a:xfrm>
          <a:prstGeom prst="rect">
            <a:avLst/>
          </a:prstGeom>
          <a:solidFill>
            <a:srgbClr val="3A3A42"/>
          </a:solidFill>
          <a:ln/>
        </p:spPr>
        <p:txBody>
          <a:bodyPr/>
          <a:lstStyle/>
          <a:p>
            <a:endParaRPr lang="ja-JP" altLang="en-US"/>
          </a:p>
        </p:txBody>
      </p:sp>
      <p:sp>
        <p:nvSpPr>
          <p:cNvPr id="7" name="Text 3"/>
          <p:cNvSpPr/>
          <p:nvPr/>
        </p:nvSpPr>
        <p:spPr>
          <a:xfrm>
            <a:off x="5166360" y="1463040"/>
            <a:ext cx="3657600" cy="274320"/>
          </a:xfrm>
          <a:prstGeom prst="rect">
            <a:avLst/>
          </a:prstGeom>
          <a:noFill/>
          <a:ln/>
        </p:spPr>
        <p:txBody>
          <a:bodyPr wrap="square" lIns="0" tIns="0" rIns="0" bIns="0" rtlCol="0" anchor="ctr"/>
          <a:lstStyle/>
          <a:p>
            <a:pPr marL="0" indent="0">
              <a:buNone/>
            </a:pPr>
            <a:r>
              <a:rPr lang="en-US" sz="1000" kern="0" spc="400" dirty="0">
                <a:solidFill>
                  <a:srgbClr val="8B7AB8"/>
                </a:solidFill>
                <a:latin typeface="Consolas" pitchFamily="34" charset="0"/>
                <a:ea typeface="Consolas" pitchFamily="34" charset="-122"/>
                <a:cs typeface="Consolas" pitchFamily="34" charset="-120"/>
              </a:rPr>
              <a:t>SECTION  01</a:t>
            </a:r>
            <a:endParaRPr lang="en-US" sz="1000" dirty="0"/>
          </a:p>
        </p:txBody>
      </p:sp>
      <p:sp>
        <p:nvSpPr>
          <p:cNvPr id="8" name="Text 4"/>
          <p:cNvSpPr/>
          <p:nvPr/>
        </p:nvSpPr>
        <p:spPr>
          <a:xfrm>
            <a:off x="5166360" y="1783080"/>
            <a:ext cx="3931920" cy="868680"/>
          </a:xfrm>
          <a:prstGeom prst="rect">
            <a:avLst/>
          </a:prstGeom>
          <a:noFill/>
          <a:ln/>
        </p:spPr>
        <p:txBody>
          <a:bodyPr wrap="square" lIns="0" tIns="0" rIns="0" bIns="0" rtlCol="0" anchor="ctr"/>
          <a:lstStyle/>
          <a:p>
            <a:pPr marL="0" indent="0">
              <a:buNone/>
            </a:pPr>
            <a:r>
              <a:rPr lang="en-US" sz="3000" b="1" dirty="0">
                <a:solidFill>
                  <a:srgbClr val="3A3A42"/>
                </a:solidFill>
                <a:latin typeface="Noto Sans JP" pitchFamily="34" charset="0"/>
                <a:ea typeface="Noto Sans JP" pitchFamily="34" charset="-122"/>
                <a:cs typeface="Noto Sans JP" pitchFamily="34" charset="-120"/>
              </a:rPr>
              <a:t>業務プロセス改善支援</a:t>
            </a:r>
            <a:endParaRPr lang="en-US" sz="3000" dirty="0"/>
          </a:p>
        </p:txBody>
      </p:sp>
      <p:sp>
        <p:nvSpPr>
          <p:cNvPr id="9" name="Text 5"/>
          <p:cNvSpPr/>
          <p:nvPr/>
        </p:nvSpPr>
        <p:spPr>
          <a:xfrm>
            <a:off x="5166360" y="2743200"/>
            <a:ext cx="3657600" cy="731520"/>
          </a:xfrm>
          <a:prstGeom prst="rect">
            <a:avLst/>
          </a:prstGeom>
          <a:noFill/>
          <a:ln/>
        </p:spPr>
        <p:txBody>
          <a:bodyPr wrap="square" lIns="0" tIns="0" rIns="0" bIns="0" rtlCol="0" anchor="ctr"/>
          <a:lstStyle/>
          <a:p>
            <a:pPr marL="0" indent="0">
              <a:buNone/>
            </a:pPr>
            <a:r>
              <a:rPr lang="en-US" sz="1100" dirty="0">
                <a:solidFill>
                  <a:srgbClr val="5E5C6A"/>
                </a:solidFill>
                <a:latin typeface="Noto Sans JP" pitchFamily="34" charset="0"/>
                <a:ea typeface="Noto Sans JP" pitchFamily="34" charset="-122"/>
                <a:cs typeface="Noto Sans JP" pitchFamily="34" charset="-120"/>
              </a:rPr>
              <a:t>現場課題への即効策と、エデュース社要件定義の並走レビューにより、To-Be業務フロー／システム／データフローを最適化します。</a:t>
            </a:r>
            <a:endParaRPr lang="en-US" sz="1100" dirty="0"/>
          </a:p>
        </p:txBody>
      </p:sp>
      <p:sp>
        <p:nvSpPr>
          <p:cNvPr id="10" name="Text 6"/>
          <p:cNvSpPr/>
          <p:nvPr/>
        </p:nvSpPr>
        <p:spPr>
          <a:xfrm>
            <a:off x="5166360" y="4389120"/>
            <a:ext cx="3657600" cy="228600"/>
          </a:xfrm>
          <a:prstGeom prst="rect">
            <a:avLst/>
          </a:prstGeom>
          <a:noFill/>
          <a:ln/>
        </p:spPr>
        <p:txBody>
          <a:bodyPr wrap="square" lIns="0" tIns="0" rIns="0" bIns="0" rtlCol="0" anchor="ctr"/>
          <a:lstStyle/>
          <a:p>
            <a:pPr marL="0" indent="0">
              <a:buNone/>
            </a:pPr>
            <a:r>
              <a:rPr lang="en-US" sz="900" dirty="0">
                <a:solidFill>
                  <a:srgbClr val="9B98A6"/>
                </a:solidFill>
                <a:latin typeface="Consolas" pitchFamily="34" charset="0"/>
                <a:ea typeface="Consolas" pitchFamily="34" charset="-122"/>
                <a:cs typeface="Consolas" pitchFamily="34" charset="-120"/>
              </a:rPr>
              <a:t>— スコープ: ご依頼事項 #1〜#5</a:t>
            </a:r>
            <a:endParaRPr lang="en-US" sz="900" dirty="0"/>
          </a:p>
        </p:txBody>
      </p:sp>
      <p:sp>
        <p:nvSpPr>
          <p:cNvPr id="11" name="Text 7"/>
          <p:cNvSpPr/>
          <p:nvPr/>
        </p:nvSpPr>
        <p:spPr>
          <a:xfrm>
            <a:off x="7955280" y="4846320"/>
            <a:ext cx="914400" cy="182880"/>
          </a:xfrm>
          <a:prstGeom prst="rect">
            <a:avLst/>
          </a:prstGeom>
          <a:noFill/>
          <a:ln/>
        </p:spPr>
        <p:txBody>
          <a:bodyPr wrap="square" lIns="0" tIns="0" rIns="0" bIns="0" rtlCol="0" anchor="ctr"/>
          <a:lstStyle/>
          <a:p>
            <a:pPr marL="0" indent="0" algn="r">
              <a:buNone/>
            </a:pPr>
            <a:r>
              <a:rPr lang="en-US" sz="800" dirty="0">
                <a:solidFill>
                  <a:srgbClr val="9B98A6"/>
                </a:solidFill>
                <a:latin typeface="Consolas" pitchFamily="34" charset="0"/>
                <a:ea typeface="Consolas" pitchFamily="34" charset="-122"/>
                <a:cs typeface="Consolas" pitchFamily="34" charset="-120"/>
              </a:rPr>
              <a:t>03 / 18</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marL="0" indent="0">
              <a:buNone/>
            </a:pPr>
            <a:r>
              <a:rPr lang="en-US" sz="800" kern="0" spc="200" dirty="0">
                <a:solidFill>
                  <a:srgbClr val="9B98A6"/>
                </a:solidFill>
                <a:latin typeface="Consolas" pitchFamily="34" charset="0"/>
                <a:ea typeface="Consolas" pitchFamily="34" charset="-122"/>
                <a:cs typeface="Consolas" pitchFamily="34" charset="-120"/>
              </a:rPr>
              <a:t>CONTENT ／ 01</a:t>
            </a:r>
            <a:endParaRPr lang="en-US" sz="800" dirty="0"/>
          </a:p>
        </p:txBody>
      </p:sp>
      <p:sp>
        <p:nvSpPr>
          <p:cNvPr id="3" name="Shape 1"/>
          <p:cNvSpPr/>
          <p:nvPr/>
        </p:nvSpPr>
        <p:spPr>
          <a:xfrm>
            <a:off x="228600" y="320040"/>
            <a:ext cx="64008" cy="64008"/>
          </a:xfrm>
          <a:prstGeom prst="ellipse">
            <a:avLst/>
          </a:prstGeom>
          <a:solidFill>
            <a:srgbClr val="8B7AB8"/>
          </a:solidFill>
          <a:ln/>
        </p:spPr>
        <p:txBody>
          <a:bodyPr/>
          <a:lstStyle/>
          <a:p>
            <a:endParaRPr lang="ja-JP" altLang="en-US"/>
          </a:p>
        </p:txBody>
      </p:sp>
      <p:pic>
        <p:nvPicPr>
          <p:cNvPr id="4" name="Image 0" descr="logo-horizontal.png"/>
          <p:cNvPicPr>
            <a:picLocks noChangeAspect="1"/>
          </p:cNvPicPr>
          <p:nvPr/>
        </p:nvPicPr>
        <p:blipFill>
          <a:blip r:embed="rId2"/>
          <a:stretch>
            <a:fillRect/>
          </a:stretch>
        </p:blipFill>
        <p:spPr>
          <a:xfrm>
            <a:off x="6492240" y="274320"/>
            <a:ext cx="2286000" cy="603504"/>
          </a:xfrm>
          <a:prstGeom prst="rect">
            <a:avLst/>
          </a:prstGeom>
        </p:spPr>
      </p:pic>
      <p:sp>
        <p:nvSpPr>
          <p:cNvPr id="5" name="Text 2"/>
          <p:cNvSpPr/>
          <p:nvPr/>
        </p:nvSpPr>
        <p:spPr>
          <a:xfrm>
            <a:off x="365760" y="960120"/>
            <a:ext cx="1097280" cy="365760"/>
          </a:xfrm>
          <a:prstGeom prst="rect">
            <a:avLst/>
          </a:prstGeom>
          <a:noFill/>
          <a:ln/>
        </p:spPr>
        <p:txBody>
          <a:bodyPr wrap="square" lIns="0" tIns="0" rIns="0" bIns="0" rtlCol="0" anchor="ctr"/>
          <a:lstStyle/>
          <a:p>
            <a:pPr marL="0" indent="0">
              <a:buNone/>
            </a:pPr>
            <a:r>
              <a:rPr lang="en-US" sz="900" kern="0" spc="400" dirty="0">
                <a:solidFill>
                  <a:srgbClr val="8B7AB8"/>
                </a:solidFill>
                <a:latin typeface="Consolas" pitchFamily="34" charset="0"/>
                <a:ea typeface="Consolas" pitchFamily="34" charset="-122"/>
                <a:cs typeface="Consolas" pitchFamily="34" charset="-120"/>
              </a:rPr>
              <a:t>01 / MAP</a:t>
            </a:r>
            <a:endParaRPr lang="en-US" sz="900" dirty="0"/>
          </a:p>
        </p:txBody>
      </p:sp>
      <p:sp>
        <p:nvSpPr>
          <p:cNvPr id="6" name="Text 3"/>
          <p:cNvSpPr/>
          <p:nvPr/>
        </p:nvSpPr>
        <p:spPr>
          <a:xfrm>
            <a:off x="1463040" y="914400"/>
            <a:ext cx="7315200" cy="457200"/>
          </a:xfrm>
          <a:prstGeom prst="rect">
            <a:avLst/>
          </a:prstGeom>
          <a:noFill/>
          <a:ln/>
        </p:spPr>
        <p:txBody>
          <a:bodyPr wrap="square" lIns="0" tIns="0" rIns="0" bIns="0" rtlCol="0" anchor="ctr"/>
          <a:lstStyle/>
          <a:p>
            <a:pPr marL="0" indent="0">
              <a:buNone/>
            </a:pPr>
            <a:r>
              <a:rPr lang="en-US" sz="2200" b="1" dirty="0">
                <a:solidFill>
                  <a:srgbClr val="3A3A42"/>
                </a:solidFill>
                <a:latin typeface="Noto Sans JP" pitchFamily="34" charset="0"/>
                <a:ea typeface="Noto Sans JP" pitchFamily="34" charset="-122"/>
                <a:cs typeface="Noto Sans JP" pitchFamily="34" charset="-120"/>
              </a:rPr>
              <a:t>ご依頼事項と契約形態の対応</a:t>
            </a:r>
            <a:endParaRPr lang="en-US" sz="2200" dirty="0"/>
          </a:p>
        </p:txBody>
      </p:sp>
      <p:sp>
        <p:nvSpPr>
          <p:cNvPr id="7" name="Shape 4"/>
          <p:cNvSpPr/>
          <p:nvPr/>
        </p:nvSpPr>
        <p:spPr>
          <a:xfrm>
            <a:off x="365760" y="1417320"/>
            <a:ext cx="8412480" cy="0"/>
          </a:xfrm>
          <a:prstGeom prst="line">
            <a:avLst/>
          </a:prstGeom>
          <a:noFill/>
          <a:ln w="6350">
            <a:solidFill>
              <a:srgbClr val="E8E6EC"/>
            </a:solidFill>
            <a:prstDash val="solid"/>
          </a:ln>
        </p:spPr>
        <p:txBody>
          <a:bodyPr/>
          <a:lstStyle/>
          <a:p>
            <a:endParaRPr lang="ja-JP" altLang="en-US"/>
          </a:p>
        </p:txBody>
      </p:sp>
      <p:sp>
        <p:nvSpPr>
          <p:cNvPr id="10" name="Text 7"/>
          <p:cNvSpPr/>
          <p:nvPr/>
        </p:nvSpPr>
        <p:spPr>
          <a:xfrm>
            <a:off x="7955280" y="4846320"/>
            <a:ext cx="914400" cy="182880"/>
          </a:xfrm>
          <a:prstGeom prst="rect">
            <a:avLst/>
          </a:prstGeom>
          <a:noFill/>
          <a:ln/>
        </p:spPr>
        <p:txBody>
          <a:bodyPr wrap="square" lIns="0" tIns="0" rIns="0" bIns="0" rtlCol="0" anchor="ctr"/>
          <a:lstStyle/>
          <a:p>
            <a:pPr marL="0" indent="0" algn="r">
              <a:buNone/>
            </a:pPr>
            <a:r>
              <a:rPr lang="en-US" sz="800" dirty="0">
                <a:solidFill>
                  <a:srgbClr val="9B98A6"/>
                </a:solidFill>
                <a:latin typeface="Consolas" pitchFamily="34" charset="0"/>
                <a:ea typeface="Consolas" pitchFamily="34" charset="-122"/>
                <a:cs typeface="Consolas" pitchFamily="34" charset="-120"/>
              </a:rPr>
              <a:t>04 / 18</a:t>
            </a:r>
            <a:endParaRPr lang="en-US" sz="800" dirty="0"/>
          </a:p>
        </p:txBody>
      </p:sp>
      <p:sp>
        <p:nvSpPr>
          <p:cNvPr id="100" name="row_bg_0"/>
          <p:cNvSpPr/>
          <p:nvPr/>
        </p:nvSpPr>
        <p:spPr>
          <a:xfrm>
            <a:off x="365760" y="1600200"/>
            <a:ext cx="8412480" cy="329184"/>
          </a:xfrm>
          <a:prstGeom prst="rect">
            <a:avLst/>
          </a:prstGeom>
          <a:solidFill>
            <a:srgbClr val="8B7AB8"/>
          </a:solidFill>
          <a:ln/>
        </p:spPr>
        <p:txBody>
          <a:bodyPr/>
          <a:lstStyle/>
          <a:p>
            <a:endParaRPr lang="ja-JP" altLang="en-US"/>
          </a:p>
        </p:txBody>
      </p:sp>
      <p:sp>
        <p:nvSpPr>
          <p:cNvPr id="101" name="c1_0"/>
          <p:cNvSpPr/>
          <p:nvPr/>
        </p:nvSpPr>
        <p:spPr>
          <a:xfrm>
            <a:off x="457200" y="1600200"/>
            <a:ext cx="457200" cy="329184"/>
          </a:xfrm>
          <a:prstGeom prst="rect">
            <a:avLst/>
          </a:prstGeom>
          <a:noFill/>
          <a:ln/>
        </p:spPr>
        <p:txBody>
          <a:bodyPr wrap="square" lIns="0" tIns="0" rIns="0" bIns="0" rtlCol="0" anchor="ctr"/>
          <a:lstStyle/>
          <a:p>
            <a:pPr marL="0" indent="0" algn="ctr">
              <a:buNone/>
            </a:pPr>
            <a:r>
              <a:rPr lang="ja-JP" sz="1000" b="1" dirty="0">
                <a:solidFill>
                  <a:srgbClr val="FFFFFF"/>
                </a:solidFill>
                <a:latin typeface="Noto Sans JP"/>
                <a:ea typeface="Noto Sans JP"/>
                <a:cs typeface="Noto Sans JP"/>
              </a:rPr>
              <a:t>#</a:t>
            </a:r>
          </a:p>
        </p:txBody>
      </p:sp>
      <p:sp>
        <p:nvSpPr>
          <p:cNvPr id="102" name="c2_0"/>
          <p:cNvSpPr/>
          <p:nvPr/>
        </p:nvSpPr>
        <p:spPr>
          <a:xfrm>
            <a:off x="822960" y="1600200"/>
            <a:ext cx="5943600" cy="329184"/>
          </a:xfrm>
          <a:prstGeom prst="rect">
            <a:avLst/>
          </a:prstGeom>
          <a:noFill/>
          <a:ln/>
        </p:spPr>
        <p:txBody>
          <a:bodyPr wrap="square" lIns="0" tIns="0" rIns="0" bIns="0" rtlCol="0" anchor="ctr"/>
          <a:lstStyle/>
          <a:p>
            <a:pPr marL="0" indent="0">
              <a:buNone/>
            </a:pPr>
            <a:r>
              <a:rPr lang="ja-JP" sz="1000" b="1" dirty="0">
                <a:solidFill>
                  <a:srgbClr val="FFFFFF"/>
                </a:solidFill>
                <a:latin typeface="Noto Sans JP"/>
                <a:ea typeface="Noto Sans JP"/>
                <a:cs typeface="Noto Sans JP"/>
              </a:rPr>
              <a:t>依頼事項</a:t>
            </a:r>
          </a:p>
        </p:txBody>
      </p:sp>
      <p:sp>
        <p:nvSpPr>
          <p:cNvPr id="103" name="c3_0"/>
          <p:cNvSpPr/>
          <p:nvPr/>
        </p:nvSpPr>
        <p:spPr>
          <a:xfrm>
            <a:off x="6766560" y="1600200"/>
            <a:ext cx="2011680" cy="329184"/>
          </a:xfrm>
          <a:prstGeom prst="rect">
            <a:avLst/>
          </a:prstGeom>
          <a:noFill/>
          <a:ln/>
        </p:spPr>
        <p:txBody>
          <a:bodyPr wrap="square" lIns="0" tIns="0" rIns="0" bIns="0" rtlCol="0" anchor="ctr"/>
          <a:lstStyle/>
          <a:p>
            <a:pPr marL="0" indent="0" algn="ctr">
              <a:buNone/>
            </a:pPr>
            <a:r>
              <a:rPr lang="ja-JP" sz="1000" b="1" dirty="0">
                <a:solidFill>
                  <a:srgbClr val="FFFFFF"/>
                </a:solidFill>
                <a:latin typeface="Noto Sans JP"/>
                <a:ea typeface="Noto Sans JP"/>
                <a:cs typeface="Noto Sans JP"/>
              </a:rPr>
              <a:t>契約形態</a:t>
            </a:r>
          </a:p>
        </p:txBody>
      </p:sp>
      <p:sp>
        <p:nvSpPr>
          <p:cNvPr id="104" name="row_bg_1"/>
          <p:cNvSpPr/>
          <p:nvPr/>
        </p:nvSpPr>
        <p:spPr>
          <a:xfrm>
            <a:off x="365760" y="1929384"/>
            <a:ext cx="8412480" cy="329184"/>
          </a:xfrm>
          <a:prstGeom prst="rect">
            <a:avLst/>
          </a:prstGeom>
          <a:solidFill>
            <a:srgbClr val="FFFFFF"/>
          </a:solidFill>
          <a:ln/>
        </p:spPr>
        <p:txBody>
          <a:bodyPr/>
          <a:lstStyle/>
          <a:p>
            <a:endParaRPr lang="ja-JP" altLang="en-US"/>
          </a:p>
        </p:txBody>
      </p:sp>
      <p:sp>
        <p:nvSpPr>
          <p:cNvPr id="105" name="c1_1"/>
          <p:cNvSpPr/>
          <p:nvPr/>
        </p:nvSpPr>
        <p:spPr>
          <a:xfrm>
            <a:off x="457200" y="1929384"/>
            <a:ext cx="457200" cy="329184"/>
          </a:xfrm>
          <a:prstGeom prst="rect">
            <a:avLst/>
          </a:prstGeom>
          <a:noFill/>
          <a:ln/>
        </p:spPr>
        <p:txBody>
          <a:bodyPr wrap="square" lIns="0" tIns="0" rIns="0" bIns="0" rtlCol="0" anchor="ctr"/>
          <a:lstStyle/>
          <a:p>
            <a:pPr marL="0" indent="0" algn="ctr">
              <a:buNone/>
            </a:pPr>
            <a:r>
              <a:rPr lang="ja-JP" sz="1000" dirty="0">
                <a:solidFill>
                  <a:srgbClr val="3A3A42"/>
                </a:solidFill>
                <a:latin typeface="Consolas"/>
                <a:ea typeface="Consolas"/>
                <a:cs typeface="Consolas"/>
              </a:rPr>
              <a:t>1</a:t>
            </a:r>
          </a:p>
        </p:txBody>
      </p:sp>
      <p:sp>
        <p:nvSpPr>
          <p:cNvPr id="106" name="c2_1"/>
          <p:cNvSpPr/>
          <p:nvPr/>
        </p:nvSpPr>
        <p:spPr>
          <a:xfrm>
            <a:off x="822960" y="1929384"/>
            <a:ext cx="5943600" cy="329184"/>
          </a:xfrm>
          <a:prstGeom prst="rect">
            <a:avLst/>
          </a:prstGeom>
          <a:noFill/>
          <a:ln/>
        </p:spPr>
        <p:txBody>
          <a:bodyPr wrap="square" lIns="0" tIns="0" rIns="0" bIns="0" rtlCol="0" anchor="ctr"/>
          <a:lstStyle/>
          <a:p>
            <a:pPr marL="0" indent="0">
              <a:buNone/>
            </a:pPr>
            <a:r>
              <a:rPr lang="ja-JP" sz="1000" dirty="0">
                <a:solidFill>
                  <a:srgbClr val="3A3A42"/>
                </a:solidFill>
                <a:latin typeface="Noto Sans JP"/>
                <a:ea typeface="Noto Sans JP"/>
                <a:cs typeface="Noto Sans JP"/>
              </a:rPr>
              <a:t>To-Be業務フロー（業務一元化含む）のレビュー</a:t>
            </a:r>
          </a:p>
        </p:txBody>
      </p:sp>
      <p:sp>
        <p:nvSpPr>
          <p:cNvPr id="107" name="pill_1_bg"/>
          <p:cNvSpPr/>
          <p:nvPr/>
        </p:nvSpPr>
        <p:spPr>
          <a:xfrm>
            <a:off x="7040880" y="1984248"/>
            <a:ext cx="1463040" cy="219456"/>
          </a:xfrm>
          <a:prstGeom prst="rect">
            <a:avLst/>
          </a:prstGeom>
          <a:solidFill>
            <a:srgbClr val="5E9B7F"/>
          </a:solidFill>
          <a:ln/>
        </p:spPr>
        <p:txBody>
          <a:bodyPr/>
          <a:lstStyle/>
          <a:p>
            <a:endParaRPr lang="ja-JP" altLang="en-US"/>
          </a:p>
        </p:txBody>
      </p:sp>
      <p:sp>
        <p:nvSpPr>
          <p:cNvPr id="108" name="pill_1_tx"/>
          <p:cNvSpPr/>
          <p:nvPr/>
        </p:nvSpPr>
        <p:spPr>
          <a:xfrm>
            <a:off x="7040880" y="1984248"/>
            <a:ext cx="1463040" cy="219456"/>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Noto Sans JP"/>
                <a:ea typeface="Noto Sans JP"/>
                <a:cs typeface="Noto Sans JP"/>
              </a:rPr>
              <a:t>月額顧問</a:t>
            </a:r>
          </a:p>
        </p:txBody>
      </p:sp>
      <p:sp>
        <p:nvSpPr>
          <p:cNvPr id="109" name="row_bg_2"/>
          <p:cNvSpPr/>
          <p:nvPr/>
        </p:nvSpPr>
        <p:spPr>
          <a:xfrm>
            <a:off x="365760" y="2258568"/>
            <a:ext cx="8412480" cy="329184"/>
          </a:xfrm>
          <a:prstGeom prst="rect">
            <a:avLst/>
          </a:prstGeom>
          <a:solidFill>
            <a:srgbClr val="FAFAFB"/>
          </a:solidFill>
          <a:ln/>
        </p:spPr>
        <p:txBody>
          <a:bodyPr/>
          <a:lstStyle/>
          <a:p>
            <a:endParaRPr lang="ja-JP" altLang="en-US"/>
          </a:p>
        </p:txBody>
      </p:sp>
      <p:sp>
        <p:nvSpPr>
          <p:cNvPr id="110" name="c1_2"/>
          <p:cNvSpPr/>
          <p:nvPr/>
        </p:nvSpPr>
        <p:spPr>
          <a:xfrm>
            <a:off x="457200" y="2258568"/>
            <a:ext cx="457200" cy="329184"/>
          </a:xfrm>
          <a:prstGeom prst="rect">
            <a:avLst/>
          </a:prstGeom>
          <a:noFill/>
          <a:ln/>
        </p:spPr>
        <p:txBody>
          <a:bodyPr wrap="square" lIns="0" tIns="0" rIns="0" bIns="0" rtlCol="0" anchor="ctr"/>
          <a:lstStyle/>
          <a:p>
            <a:pPr marL="0" indent="0" algn="ctr">
              <a:buNone/>
            </a:pPr>
            <a:r>
              <a:rPr lang="ja-JP" sz="1000" dirty="0">
                <a:solidFill>
                  <a:srgbClr val="3A3A42"/>
                </a:solidFill>
                <a:latin typeface="Consolas"/>
                <a:ea typeface="Consolas"/>
                <a:cs typeface="Consolas"/>
              </a:rPr>
              <a:t>2</a:t>
            </a:r>
          </a:p>
        </p:txBody>
      </p:sp>
      <p:sp>
        <p:nvSpPr>
          <p:cNvPr id="111" name="c2_2"/>
          <p:cNvSpPr/>
          <p:nvPr/>
        </p:nvSpPr>
        <p:spPr>
          <a:xfrm>
            <a:off x="822960" y="2258568"/>
            <a:ext cx="5943600" cy="329184"/>
          </a:xfrm>
          <a:prstGeom prst="rect">
            <a:avLst/>
          </a:prstGeom>
          <a:noFill/>
          <a:ln/>
        </p:spPr>
        <p:txBody>
          <a:bodyPr wrap="square" lIns="0" tIns="0" rIns="0" bIns="0" rtlCol="0" anchor="ctr"/>
          <a:lstStyle/>
          <a:p>
            <a:pPr marL="0" indent="0">
              <a:buNone/>
            </a:pPr>
            <a:r>
              <a:rPr lang="ja-JP" sz="1000" dirty="0">
                <a:solidFill>
                  <a:srgbClr val="3A3A42"/>
                </a:solidFill>
                <a:latin typeface="Noto Sans JP"/>
                <a:ea typeface="Noto Sans JP"/>
                <a:cs typeface="Noto Sans JP"/>
              </a:rPr>
              <a:t>To-Be業務フローに合わせたシステム構成のレビュー</a:t>
            </a:r>
          </a:p>
        </p:txBody>
      </p:sp>
      <p:sp>
        <p:nvSpPr>
          <p:cNvPr id="112" name="pill_2_bg"/>
          <p:cNvSpPr/>
          <p:nvPr/>
        </p:nvSpPr>
        <p:spPr>
          <a:xfrm>
            <a:off x="7040880" y="2313432"/>
            <a:ext cx="1463040" cy="219456"/>
          </a:xfrm>
          <a:prstGeom prst="rect">
            <a:avLst/>
          </a:prstGeom>
          <a:solidFill>
            <a:srgbClr val="5E9B7F"/>
          </a:solidFill>
          <a:ln/>
        </p:spPr>
        <p:txBody>
          <a:bodyPr/>
          <a:lstStyle/>
          <a:p>
            <a:endParaRPr lang="ja-JP" altLang="en-US"/>
          </a:p>
        </p:txBody>
      </p:sp>
      <p:sp>
        <p:nvSpPr>
          <p:cNvPr id="113" name="pill_2_tx"/>
          <p:cNvSpPr/>
          <p:nvPr/>
        </p:nvSpPr>
        <p:spPr>
          <a:xfrm>
            <a:off x="7040880" y="2313432"/>
            <a:ext cx="1463040" cy="219456"/>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Noto Sans JP"/>
                <a:ea typeface="Noto Sans JP"/>
                <a:cs typeface="Noto Sans JP"/>
              </a:rPr>
              <a:t>月額顧問</a:t>
            </a:r>
          </a:p>
        </p:txBody>
      </p:sp>
      <p:sp>
        <p:nvSpPr>
          <p:cNvPr id="114" name="row_bg_3"/>
          <p:cNvSpPr/>
          <p:nvPr/>
        </p:nvSpPr>
        <p:spPr>
          <a:xfrm>
            <a:off x="365760" y="2587752"/>
            <a:ext cx="8412480" cy="329184"/>
          </a:xfrm>
          <a:prstGeom prst="rect">
            <a:avLst/>
          </a:prstGeom>
          <a:solidFill>
            <a:srgbClr val="FFFFFF"/>
          </a:solidFill>
          <a:ln/>
        </p:spPr>
        <p:txBody>
          <a:bodyPr/>
          <a:lstStyle/>
          <a:p>
            <a:endParaRPr lang="ja-JP" altLang="en-US"/>
          </a:p>
        </p:txBody>
      </p:sp>
      <p:sp>
        <p:nvSpPr>
          <p:cNvPr id="115" name="c1_3"/>
          <p:cNvSpPr/>
          <p:nvPr/>
        </p:nvSpPr>
        <p:spPr>
          <a:xfrm>
            <a:off x="457200" y="2587752"/>
            <a:ext cx="457200" cy="329184"/>
          </a:xfrm>
          <a:prstGeom prst="rect">
            <a:avLst/>
          </a:prstGeom>
          <a:noFill/>
          <a:ln/>
        </p:spPr>
        <p:txBody>
          <a:bodyPr wrap="square" lIns="0" tIns="0" rIns="0" bIns="0" rtlCol="0" anchor="ctr"/>
          <a:lstStyle/>
          <a:p>
            <a:pPr marL="0" indent="0" algn="ctr">
              <a:buNone/>
            </a:pPr>
            <a:r>
              <a:rPr lang="ja-JP" sz="1000" dirty="0">
                <a:solidFill>
                  <a:srgbClr val="3A3A42"/>
                </a:solidFill>
                <a:latin typeface="Consolas"/>
                <a:ea typeface="Consolas"/>
                <a:cs typeface="Consolas"/>
              </a:rPr>
              <a:t>3</a:t>
            </a:r>
          </a:p>
        </p:txBody>
      </p:sp>
      <p:sp>
        <p:nvSpPr>
          <p:cNvPr id="116" name="c2_3"/>
          <p:cNvSpPr/>
          <p:nvPr/>
        </p:nvSpPr>
        <p:spPr>
          <a:xfrm>
            <a:off x="822960" y="2587752"/>
            <a:ext cx="5943600" cy="329184"/>
          </a:xfrm>
          <a:prstGeom prst="rect">
            <a:avLst/>
          </a:prstGeom>
          <a:noFill/>
          <a:ln/>
        </p:spPr>
        <p:txBody>
          <a:bodyPr wrap="square" lIns="0" tIns="0" rIns="0" bIns="0" rtlCol="0" anchor="ctr"/>
          <a:lstStyle/>
          <a:p>
            <a:pPr marL="0" indent="0">
              <a:buNone/>
            </a:pPr>
            <a:r>
              <a:rPr lang="ja-JP" sz="1000" dirty="0">
                <a:solidFill>
                  <a:srgbClr val="3A3A42"/>
                </a:solidFill>
                <a:latin typeface="Noto Sans JP"/>
                <a:ea typeface="Noto Sans JP"/>
                <a:cs typeface="Noto Sans JP"/>
              </a:rPr>
              <a:t>To-Be業務フローに合わせたデータフローのレビュー</a:t>
            </a:r>
          </a:p>
        </p:txBody>
      </p:sp>
      <p:sp>
        <p:nvSpPr>
          <p:cNvPr id="117" name="pill_3_bg"/>
          <p:cNvSpPr/>
          <p:nvPr/>
        </p:nvSpPr>
        <p:spPr>
          <a:xfrm>
            <a:off x="7040880" y="2642616"/>
            <a:ext cx="1463040" cy="219456"/>
          </a:xfrm>
          <a:prstGeom prst="rect">
            <a:avLst/>
          </a:prstGeom>
          <a:solidFill>
            <a:srgbClr val="5E9B7F"/>
          </a:solidFill>
          <a:ln/>
        </p:spPr>
        <p:txBody>
          <a:bodyPr/>
          <a:lstStyle/>
          <a:p>
            <a:endParaRPr lang="ja-JP" altLang="en-US"/>
          </a:p>
        </p:txBody>
      </p:sp>
      <p:sp>
        <p:nvSpPr>
          <p:cNvPr id="118" name="pill_3_tx"/>
          <p:cNvSpPr/>
          <p:nvPr/>
        </p:nvSpPr>
        <p:spPr>
          <a:xfrm>
            <a:off x="7040880" y="2642616"/>
            <a:ext cx="1463040" cy="219456"/>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Noto Sans JP"/>
                <a:ea typeface="Noto Sans JP"/>
                <a:cs typeface="Noto Sans JP"/>
              </a:rPr>
              <a:t>月額顧問</a:t>
            </a:r>
          </a:p>
        </p:txBody>
      </p:sp>
      <p:sp>
        <p:nvSpPr>
          <p:cNvPr id="119" name="row_bg_4"/>
          <p:cNvSpPr/>
          <p:nvPr/>
        </p:nvSpPr>
        <p:spPr>
          <a:xfrm>
            <a:off x="365760" y="2916936"/>
            <a:ext cx="8412480" cy="329184"/>
          </a:xfrm>
          <a:prstGeom prst="rect">
            <a:avLst/>
          </a:prstGeom>
          <a:solidFill>
            <a:srgbClr val="FAFAFB"/>
          </a:solidFill>
          <a:ln/>
        </p:spPr>
        <p:txBody>
          <a:bodyPr/>
          <a:lstStyle/>
          <a:p>
            <a:endParaRPr lang="ja-JP" altLang="en-US"/>
          </a:p>
        </p:txBody>
      </p:sp>
      <p:sp>
        <p:nvSpPr>
          <p:cNvPr id="120" name="c1_4"/>
          <p:cNvSpPr/>
          <p:nvPr/>
        </p:nvSpPr>
        <p:spPr>
          <a:xfrm>
            <a:off x="457200" y="2916936"/>
            <a:ext cx="457200" cy="329184"/>
          </a:xfrm>
          <a:prstGeom prst="rect">
            <a:avLst/>
          </a:prstGeom>
          <a:noFill/>
          <a:ln/>
        </p:spPr>
        <p:txBody>
          <a:bodyPr wrap="square" lIns="0" tIns="0" rIns="0" bIns="0" rtlCol="0" anchor="ctr"/>
          <a:lstStyle/>
          <a:p>
            <a:pPr marL="0" indent="0" algn="ctr">
              <a:buNone/>
            </a:pPr>
            <a:r>
              <a:rPr lang="ja-JP" sz="1000" dirty="0">
                <a:solidFill>
                  <a:srgbClr val="3A3A42"/>
                </a:solidFill>
                <a:latin typeface="Consolas"/>
                <a:ea typeface="Consolas"/>
                <a:cs typeface="Consolas"/>
              </a:rPr>
              <a:t>4</a:t>
            </a:r>
          </a:p>
        </p:txBody>
      </p:sp>
      <p:sp>
        <p:nvSpPr>
          <p:cNvPr id="121" name="c2_4"/>
          <p:cNvSpPr/>
          <p:nvPr/>
        </p:nvSpPr>
        <p:spPr>
          <a:xfrm>
            <a:off x="822960" y="2916936"/>
            <a:ext cx="5943600" cy="329184"/>
          </a:xfrm>
          <a:prstGeom prst="rect">
            <a:avLst/>
          </a:prstGeom>
          <a:noFill/>
          <a:ln/>
        </p:spPr>
        <p:txBody>
          <a:bodyPr wrap="square" lIns="0" tIns="0" rIns="0" bIns="0" rtlCol="0" anchor="ctr"/>
          <a:lstStyle/>
          <a:p>
            <a:pPr marL="0" indent="0">
              <a:buNone/>
            </a:pPr>
            <a:r>
              <a:rPr lang="ja-JP" sz="1000" dirty="0">
                <a:solidFill>
                  <a:srgbClr val="3A3A42"/>
                </a:solidFill>
                <a:latin typeface="Noto Sans JP"/>
                <a:ea typeface="Noto Sans JP"/>
                <a:cs typeface="Noto Sans JP"/>
              </a:rPr>
              <a:t>AI活用を含む業務効率化システム・サービスの情報提供</a:t>
            </a:r>
          </a:p>
        </p:txBody>
      </p:sp>
      <p:sp>
        <p:nvSpPr>
          <p:cNvPr id="122" name="pill_4_bg"/>
          <p:cNvSpPr/>
          <p:nvPr/>
        </p:nvSpPr>
        <p:spPr>
          <a:xfrm>
            <a:off x="7040880" y="2971800"/>
            <a:ext cx="1463040" cy="219456"/>
          </a:xfrm>
          <a:prstGeom prst="rect">
            <a:avLst/>
          </a:prstGeom>
          <a:solidFill>
            <a:srgbClr val="5E9B7F"/>
          </a:solidFill>
          <a:ln/>
        </p:spPr>
        <p:txBody>
          <a:bodyPr/>
          <a:lstStyle/>
          <a:p>
            <a:endParaRPr lang="ja-JP" altLang="en-US"/>
          </a:p>
        </p:txBody>
      </p:sp>
      <p:sp>
        <p:nvSpPr>
          <p:cNvPr id="123" name="pill_4_tx"/>
          <p:cNvSpPr/>
          <p:nvPr/>
        </p:nvSpPr>
        <p:spPr>
          <a:xfrm>
            <a:off x="7040880" y="2971800"/>
            <a:ext cx="1463040" cy="219456"/>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Noto Sans JP"/>
                <a:ea typeface="Noto Sans JP"/>
                <a:cs typeface="Noto Sans JP"/>
              </a:rPr>
              <a:t>月額顧問</a:t>
            </a:r>
          </a:p>
        </p:txBody>
      </p:sp>
      <p:sp>
        <p:nvSpPr>
          <p:cNvPr id="124" name="row_bg_5"/>
          <p:cNvSpPr/>
          <p:nvPr/>
        </p:nvSpPr>
        <p:spPr>
          <a:xfrm>
            <a:off x="365760" y="3246120"/>
            <a:ext cx="8412480" cy="329184"/>
          </a:xfrm>
          <a:prstGeom prst="rect">
            <a:avLst/>
          </a:prstGeom>
          <a:solidFill>
            <a:srgbClr val="FFFFFF"/>
          </a:solidFill>
          <a:ln/>
        </p:spPr>
        <p:txBody>
          <a:bodyPr/>
          <a:lstStyle/>
          <a:p>
            <a:endParaRPr lang="ja-JP" altLang="en-US"/>
          </a:p>
        </p:txBody>
      </p:sp>
      <p:sp>
        <p:nvSpPr>
          <p:cNvPr id="125" name="c1_5"/>
          <p:cNvSpPr/>
          <p:nvPr/>
        </p:nvSpPr>
        <p:spPr>
          <a:xfrm>
            <a:off x="457200" y="3246120"/>
            <a:ext cx="457200" cy="329184"/>
          </a:xfrm>
          <a:prstGeom prst="rect">
            <a:avLst/>
          </a:prstGeom>
          <a:noFill/>
          <a:ln/>
        </p:spPr>
        <p:txBody>
          <a:bodyPr wrap="square" lIns="0" tIns="0" rIns="0" bIns="0" rtlCol="0" anchor="ctr"/>
          <a:lstStyle/>
          <a:p>
            <a:pPr marL="0" indent="0" algn="ctr">
              <a:buNone/>
            </a:pPr>
            <a:r>
              <a:rPr lang="ja-JP" sz="1000" dirty="0">
                <a:solidFill>
                  <a:srgbClr val="3A3A42"/>
                </a:solidFill>
                <a:latin typeface="Consolas"/>
                <a:ea typeface="Consolas"/>
                <a:cs typeface="Consolas"/>
              </a:rPr>
              <a:t>5</a:t>
            </a:r>
          </a:p>
        </p:txBody>
      </p:sp>
      <p:sp>
        <p:nvSpPr>
          <p:cNvPr id="126" name="c2_5"/>
          <p:cNvSpPr/>
          <p:nvPr/>
        </p:nvSpPr>
        <p:spPr>
          <a:xfrm>
            <a:off x="822960" y="3246120"/>
            <a:ext cx="5943600" cy="329184"/>
          </a:xfrm>
          <a:prstGeom prst="rect">
            <a:avLst/>
          </a:prstGeom>
          <a:noFill/>
          <a:ln/>
        </p:spPr>
        <p:txBody>
          <a:bodyPr wrap="square" lIns="0" tIns="0" rIns="0" bIns="0" rtlCol="0" anchor="ctr"/>
          <a:lstStyle/>
          <a:p>
            <a:pPr marL="0" indent="0">
              <a:buNone/>
            </a:pPr>
            <a:r>
              <a:rPr lang="ja-JP" sz="1000" dirty="0">
                <a:solidFill>
                  <a:srgbClr val="3A3A42"/>
                </a:solidFill>
                <a:latin typeface="Noto Sans JP"/>
                <a:ea typeface="Noto Sans JP"/>
                <a:cs typeface="Noto Sans JP"/>
              </a:rPr>
              <a:t>選定システムの要件定義とTo-Beフローとのギャップ解消</a:t>
            </a:r>
          </a:p>
        </p:txBody>
      </p:sp>
      <p:sp>
        <p:nvSpPr>
          <p:cNvPr id="127" name="pill_5_bg"/>
          <p:cNvSpPr/>
          <p:nvPr/>
        </p:nvSpPr>
        <p:spPr>
          <a:xfrm>
            <a:off x="7040880" y="3300984"/>
            <a:ext cx="1463040" cy="219456"/>
          </a:xfrm>
          <a:prstGeom prst="rect">
            <a:avLst/>
          </a:prstGeom>
          <a:solidFill>
            <a:srgbClr val="5E9B7F"/>
          </a:solidFill>
          <a:ln/>
        </p:spPr>
        <p:txBody>
          <a:bodyPr/>
          <a:lstStyle/>
          <a:p>
            <a:endParaRPr lang="ja-JP" altLang="en-US"/>
          </a:p>
        </p:txBody>
      </p:sp>
      <p:sp>
        <p:nvSpPr>
          <p:cNvPr id="128" name="pill_5_tx"/>
          <p:cNvSpPr/>
          <p:nvPr/>
        </p:nvSpPr>
        <p:spPr>
          <a:xfrm>
            <a:off x="7040880" y="3300984"/>
            <a:ext cx="1463040" cy="219456"/>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Noto Sans JP"/>
                <a:ea typeface="Noto Sans JP"/>
                <a:cs typeface="Noto Sans JP"/>
              </a:rPr>
              <a:t>月額顧問</a:t>
            </a:r>
          </a:p>
        </p:txBody>
      </p:sp>
      <p:sp>
        <p:nvSpPr>
          <p:cNvPr id="129" name="row_bg_6"/>
          <p:cNvSpPr/>
          <p:nvPr/>
        </p:nvSpPr>
        <p:spPr>
          <a:xfrm>
            <a:off x="365760" y="3575304"/>
            <a:ext cx="8412480" cy="329184"/>
          </a:xfrm>
          <a:prstGeom prst="rect">
            <a:avLst/>
          </a:prstGeom>
          <a:solidFill>
            <a:srgbClr val="FAFAFB"/>
          </a:solidFill>
          <a:ln/>
        </p:spPr>
        <p:txBody>
          <a:bodyPr/>
          <a:lstStyle/>
          <a:p>
            <a:endParaRPr lang="ja-JP" altLang="en-US"/>
          </a:p>
        </p:txBody>
      </p:sp>
      <p:sp>
        <p:nvSpPr>
          <p:cNvPr id="130" name="c1_6"/>
          <p:cNvSpPr/>
          <p:nvPr/>
        </p:nvSpPr>
        <p:spPr>
          <a:xfrm>
            <a:off x="457200" y="3575304"/>
            <a:ext cx="457200" cy="329184"/>
          </a:xfrm>
          <a:prstGeom prst="rect">
            <a:avLst/>
          </a:prstGeom>
          <a:noFill/>
          <a:ln/>
        </p:spPr>
        <p:txBody>
          <a:bodyPr wrap="square" lIns="0" tIns="0" rIns="0" bIns="0" rtlCol="0" anchor="ctr"/>
          <a:lstStyle/>
          <a:p>
            <a:pPr marL="0" indent="0" algn="ctr">
              <a:buNone/>
            </a:pPr>
            <a:r>
              <a:rPr lang="ja-JP" sz="1000" dirty="0">
                <a:solidFill>
                  <a:srgbClr val="3A3A42"/>
                </a:solidFill>
                <a:latin typeface="Consolas"/>
                <a:ea typeface="Consolas"/>
                <a:cs typeface="Consolas"/>
              </a:rPr>
              <a:t>6</a:t>
            </a:r>
          </a:p>
        </p:txBody>
      </p:sp>
      <p:sp>
        <p:nvSpPr>
          <p:cNvPr id="131" name="c2_6"/>
          <p:cNvSpPr/>
          <p:nvPr/>
        </p:nvSpPr>
        <p:spPr>
          <a:xfrm>
            <a:off x="822960" y="3575304"/>
            <a:ext cx="5943600" cy="329184"/>
          </a:xfrm>
          <a:prstGeom prst="rect">
            <a:avLst/>
          </a:prstGeom>
          <a:noFill/>
          <a:ln/>
        </p:spPr>
        <p:txBody>
          <a:bodyPr wrap="square" lIns="0" tIns="0" rIns="0" bIns="0" rtlCol="0" anchor="ctr"/>
          <a:lstStyle/>
          <a:p>
            <a:pPr marL="0" indent="0">
              <a:buNone/>
            </a:pPr>
            <a:r>
              <a:rPr lang="ja-JP" sz="1000" dirty="0">
                <a:solidFill>
                  <a:srgbClr val="3A3A42"/>
                </a:solidFill>
                <a:latin typeface="Noto Sans JP"/>
                <a:ea typeface="Noto Sans JP"/>
                <a:cs typeface="Noto Sans JP"/>
              </a:rPr>
              <a:t>統合DB（特に経理領域）の構造設計に関する提案</a:t>
            </a:r>
          </a:p>
        </p:txBody>
      </p:sp>
      <p:sp>
        <p:nvSpPr>
          <p:cNvPr id="132" name="pill_6_bg"/>
          <p:cNvSpPr/>
          <p:nvPr/>
        </p:nvSpPr>
        <p:spPr>
          <a:xfrm>
            <a:off x="7040880" y="3630168"/>
            <a:ext cx="1463040" cy="219456"/>
          </a:xfrm>
          <a:prstGeom prst="rect">
            <a:avLst/>
          </a:prstGeom>
          <a:solidFill>
            <a:srgbClr val="C4A05C"/>
          </a:solidFill>
          <a:ln/>
        </p:spPr>
        <p:txBody>
          <a:bodyPr/>
          <a:lstStyle/>
          <a:p>
            <a:endParaRPr lang="ja-JP" altLang="en-US"/>
          </a:p>
        </p:txBody>
      </p:sp>
      <p:sp>
        <p:nvSpPr>
          <p:cNvPr id="133" name="pill_6_tx"/>
          <p:cNvSpPr/>
          <p:nvPr/>
        </p:nvSpPr>
        <p:spPr>
          <a:xfrm>
            <a:off x="7040880" y="3630168"/>
            <a:ext cx="1463040" cy="219456"/>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Noto Sans JP"/>
                <a:ea typeface="Noto Sans JP"/>
                <a:cs typeface="Noto Sans JP"/>
              </a:rPr>
              <a:t>プロジェクト型</a:t>
            </a:r>
          </a:p>
        </p:txBody>
      </p:sp>
      <p:sp>
        <p:nvSpPr>
          <p:cNvPr id="134" name="row_bg_7"/>
          <p:cNvSpPr/>
          <p:nvPr/>
        </p:nvSpPr>
        <p:spPr>
          <a:xfrm>
            <a:off x="365760" y="3904488"/>
            <a:ext cx="8412480" cy="329184"/>
          </a:xfrm>
          <a:prstGeom prst="rect">
            <a:avLst/>
          </a:prstGeom>
          <a:solidFill>
            <a:srgbClr val="FFFFFF"/>
          </a:solidFill>
          <a:ln/>
        </p:spPr>
        <p:txBody>
          <a:bodyPr/>
          <a:lstStyle/>
          <a:p>
            <a:endParaRPr lang="ja-JP" altLang="en-US"/>
          </a:p>
        </p:txBody>
      </p:sp>
      <p:sp>
        <p:nvSpPr>
          <p:cNvPr id="135" name="c1_7"/>
          <p:cNvSpPr/>
          <p:nvPr/>
        </p:nvSpPr>
        <p:spPr>
          <a:xfrm>
            <a:off x="457200" y="3904488"/>
            <a:ext cx="457200" cy="329184"/>
          </a:xfrm>
          <a:prstGeom prst="rect">
            <a:avLst/>
          </a:prstGeom>
          <a:noFill/>
          <a:ln/>
        </p:spPr>
        <p:txBody>
          <a:bodyPr wrap="square" lIns="0" tIns="0" rIns="0" bIns="0" rtlCol="0" anchor="ctr"/>
          <a:lstStyle/>
          <a:p>
            <a:pPr marL="0" indent="0" algn="ctr">
              <a:buNone/>
            </a:pPr>
            <a:r>
              <a:rPr lang="ja-JP" sz="1000" dirty="0">
                <a:solidFill>
                  <a:srgbClr val="3A3A42"/>
                </a:solidFill>
                <a:latin typeface="Consolas"/>
                <a:ea typeface="Consolas"/>
                <a:cs typeface="Consolas"/>
              </a:rPr>
              <a:t>7</a:t>
            </a:r>
          </a:p>
        </p:txBody>
      </p:sp>
      <p:sp>
        <p:nvSpPr>
          <p:cNvPr id="136" name="c2_7"/>
          <p:cNvSpPr/>
          <p:nvPr/>
        </p:nvSpPr>
        <p:spPr>
          <a:xfrm>
            <a:off x="822960" y="3904488"/>
            <a:ext cx="5943600" cy="329184"/>
          </a:xfrm>
          <a:prstGeom prst="rect">
            <a:avLst/>
          </a:prstGeom>
          <a:noFill/>
          <a:ln/>
        </p:spPr>
        <p:txBody>
          <a:bodyPr wrap="square" lIns="0" tIns="0" rIns="0" bIns="0" rtlCol="0" anchor="ctr"/>
          <a:lstStyle/>
          <a:p>
            <a:pPr marL="0" indent="0">
              <a:buNone/>
            </a:pPr>
            <a:r>
              <a:rPr lang="ja-JP" sz="1000" dirty="0">
                <a:solidFill>
                  <a:srgbClr val="3A3A42"/>
                </a:solidFill>
                <a:latin typeface="Noto Sans JP"/>
                <a:ea typeface="Noto Sans JP"/>
                <a:cs typeface="Noto Sans JP"/>
              </a:rPr>
              <a:t>統合DB構築を見据えた学園共通コードのレビュー</a:t>
            </a:r>
          </a:p>
        </p:txBody>
      </p:sp>
      <p:sp>
        <p:nvSpPr>
          <p:cNvPr id="137" name="pill_7_bg"/>
          <p:cNvSpPr/>
          <p:nvPr/>
        </p:nvSpPr>
        <p:spPr>
          <a:xfrm>
            <a:off x="7040880" y="3959352"/>
            <a:ext cx="1463040" cy="219456"/>
          </a:xfrm>
          <a:prstGeom prst="rect">
            <a:avLst/>
          </a:prstGeom>
          <a:solidFill>
            <a:srgbClr val="C4A05C"/>
          </a:solidFill>
          <a:ln/>
        </p:spPr>
        <p:txBody>
          <a:bodyPr/>
          <a:lstStyle/>
          <a:p>
            <a:endParaRPr lang="ja-JP" altLang="en-US"/>
          </a:p>
        </p:txBody>
      </p:sp>
      <p:sp>
        <p:nvSpPr>
          <p:cNvPr id="138" name="pill_7_tx"/>
          <p:cNvSpPr/>
          <p:nvPr/>
        </p:nvSpPr>
        <p:spPr>
          <a:xfrm>
            <a:off x="7040880" y="3959352"/>
            <a:ext cx="1463040" cy="219456"/>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Noto Sans JP"/>
                <a:ea typeface="Noto Sans JP"/>
                <a:cs typeface="Noto Sans JP"/>
              </a:rPr>
              <a:t>プロジェクト型</a:t>
            </a:r>
          </a:p>
        </p:txBody>
      </p:sp>
      <p:sp>
        <p:nvSpPr>
          <p:cNvPr id="139" name="row_bg_8"/>
          <p:cNvSpPr/>
          <p:nvPr/>
        </p:nvSpPr>
        <p:spPr>
          <a:xfrm>
            <a:off x="365760" y="4233672"/>
            <a:ext cx="8412480" cy="329184"/>
          </a:xfrm>
          <a:prstGeom prst="rect">
            <a:avLst/>
          </a:prstGeom>
          <a:solidFill>
            <a:srgbClr val="FAFAFB"/>
          </a:solidFill>
          <a:ln/>
        </p:spPr>
        <p:txBody>
          <a:bodyPr/>
          <a:lstStyle/>
          <a:p>
            <a:endParaRPr lang="ja-JP" altLang="en-US"/>
          </a:p>
        </p:txBody>
      </p:sp>
      <p:sp>
        <p:nvSpPr>
          <p:cNvPr id="140" name="c1_8"/>
          <p:cNvSpPr/>
          <p:nvPr/>
        </p:nvSpPr>
        <p:spPr>
          <a:xfrm>
            <a:off x="457200" y="4233672"/>
            <a:ext cx="457200" cy="329184"/>
          </a:xfrm>
          <a:prstGeom prst="rect">
            <a:avLst/>
          </a:prstGeom>
          <a:noFill/>
          <a:ln/>
        </p:spPr>
        <p:txBody>
          <a:bodyPr wrap="square" lIns="0" tIns="0" rIns="0" bIns="0" rtlCol="0" anchor="ctr"/>
          <a:lstStyle/>
          <a:p>
            <a:pPr marL="0" indent="0" algn="ctr">
              <a:buNone/>
            </a:pPr>
            <a:r>
              <a:rPr lang="ja-JP" sz="1000" dirty="0">
                <a:solidFill>
                  <a:srgbClr val="3A3A42"/>
                </a:solidFill>
                <a:latin typeface="Consolas"/>
                <a:ea typeface="Consolas"/>
                <a:cs typeface="Consolas"/>
              </a:rPr>
              <a:t>8</a:t>
            </a:r>
          </a:p>
        </p:txBody>
      </p:sp>
      <p:sp>
        <p:nvSpPr>
          <p:cNvPr id="141" name="c2_8"/>
          <p:cNvSpPr/>
          <p:nvPr/>
        </p:nvSpPr>
        <p:spPr>
          <a:xfrm>
            <a:off x="822960" y="4233672"/>
            <a:ext cx="5943600" cy="329184"/>
          </a:xfrm>
          <a:prstGeom prst="rect">
            <a:avLst/>
          </a:prstGeom>
          <a:noFill/>
          <a:ln/>
        </p:spPr>
        <p:txBody>
          <a:bodyPr wrap="square" lIns="0" tIns="0" rIns="0" bIns="0" rtlCol="0" anchor="ctr"/>
          <a:lstStyle/>
          <a:p>
            <a:pPr marL="0" indent="0">
              <a:buNone/>
            </a:pPr>
            <a:r>
              <a:rPr lang="ja-JP" sz="1000" dirty="0">
                <a:solidFill>
                  <a:srgbClr val="3A3A42"/>
                </a:solidFill>
                <a:latin typeface="Noto Sans JP"/>
                <a:ea typeface="Noto Sans JP"/>
                <a:cs typeface="Noto Sans JP"/>
              </a:rPr>
              <a:t>生成AIの利用規程・ガイドライン等のルール策定支援</a:t>
            </a:r>
          </a:p>
        </p:txBody>
      </p:sp>
      <p:sp>
        <p:nvSpPr>
          <p:cNvPr id="142" name="pill_8_bg"/>
          <p:cNvSpPr/>
          <p:nvPr/>
        </p:nvSpPr>
        <p:spPr>
          <a:xfrm>
            <a:off x="7040880" y="4288536"/>
            <a:ext cx="1463040" cy="219456"/>
          </a:xfrm>
          <a:prstGeom prst="rect">
            <a:avLst/>
          </a:prstGeom>
          <a:solidFill>
            <a:srgbClr val="C4A05C"/>
          </a:solidFill>
          <a:ln/>
        </p:spPr>
        <p:txBody>
          <a:bodyPr/>
          <a:lstStyle/>
          <a:p>
            <a:endParaRPr lang="ja-JP" altLang="en-US"/>
          </a:p>
        </p:txBody>
      </p:sp>
      <p:sp>
        <p:nvSpPr>
          <p:cNvPr id="143" name="pill_8_tx"/>
          <p:cNvSpPr/>
          <p:nvPr/>
        </p:nvSpPr>
        <p:spPr>
          <a:xfrm>
            <a:off x="7040880" y="4288536"/>
            <a:ext cx="1463040" cy="219456"/>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Noto Sans JP"/>
                <a:ea typeface="Noto Sans JP"/>
                <a:cs typeface="Noto Sans JP"/>
              </a:rPr>
              <a:t>プロジェクト型</a:t>
            </a:r>
          </a:p>
        </p:txBody>
      </p:sp>
      <p:sp>
        <p:nvSpPr>
          <p:cNvPr id="144" name="legend_gr"/>
          <p:cNvSpPr/>
          <p:nvPr/>
        </p:nvSpPr>
        <p:spPr>
          <a:xfrm>
            <a:off x="365760" y="4745736"/>
            <a:ext cx="146304" cy="146304"/>
          </a:xfrm>
          <a:prstGeom prst="rect">
            <a:avLst/>
          </a:prstGeom>
          <a:solidFill>
            <a:srgbClr val="5E9B7F"/>
          </a:solidFill>
          <a:ln/>
        </p:spPr>
        <p:txBody>
          <a:bodyPr/>
          <a:lstStyle/>
          <a:p>
            <a:endParaRPr lang="ja-JP" altLang="en-US"/>
          </a:p>
        </p:txBody>
      </p:sp>
      <p:sp>
        <p:nvSpPr>
          <p:cNvPr id="145" name="legend_gr_tx"/>
          <p:cNvSpPr/>
          <p:nvPr/>
        </p:nvSpPr>
        <p:spPr>
          <a:xfrm>
            <a:off x="585216" y="4718304"/>
            <a:ext cx="4114800" cy="201168"/>
          </a:xfrm>
          <a:prstGeom prst="rect">
            <a:avLst/>
          </a:prstGeom>
          <a:noFill/>
          <a:ln/>
        </p:spPr>
        <p:txBody>
          <a:bodyPr wrap="square" lIns="0" tIns="0" rIns="0" bIns="0" rtlCol="0"/>
          <a:lstStyle/>
          <a:p>
            <a:pPr marL="0" indent="0">
              <a:buNone/>
            </a:pPr>
            <a:r>
              <a:rPr lang="ja-JP" sz="900" dirty="0">
                <a:solidFill>
                  <a:srgbClr val="5E5C6A"/>
                </a:solidFill>
                <a:latin typeface="Noto Sans JP"/>
                <a:ea typeface="Noto Sans JP"/>
                <a:cs typeface="Noto Sans JP"/>
              </a:rPr>
              <a:t>月額顧問 ＝ 継続伴走（レビュー・情報提供・調整）</a:t>
            </a:r>
          </a:p>
        </p:txBody>
      </p:sp>
      <p:sp>
        <p:nvSpPr>
          <p:cNvPr id="146" name="legend_am"/>
          <p:cNvSpPr/>
          <p:nvPr/>
        </p:nvSpPr>
        <p:spPr>
          <a:xfrm>
            <a:off x="4663440" y="4745736"/>
            <a:ext cx="146304" cy="146304"/>
          </a:xfrm>
          <a:prstGeom prst="rect">
            <a:avLst/>
          </a:prstGeom>
          <a:solidFill>
            <a:srgbClr val="C4A05C"/>
          </a:solidFill>
          <a:ln/>
        </p:spPr>
        <p:txBody>
          <a:bodyPr/>
          <a:lstStyle/>
          <a:p>
            <a:endParaRPr lang="ja-JP" altLang="en-US"/>
          </a:p>
        </p:txBody>
      </p:sp>
      <p:sp>
        <p:nvSpPr>
          <p:cNvPr id="147" name="legend_am_tx"/>
          <p:cNvSpPr/>
          <p:nvPr/>
        </p:nvSpPr>
        <p:spPr>
          <a:xfrm>
            <a:off x="4882896" y="4718304"/>
            <a:ext cx="4114800" cy="201168"/>
          </a:xfrm>
          <a:prstGeom prst="rect">
            <a:avLst/>
          </a:prstGeom>
          <a:noFill/>
          <a:ln/>
        </p:spPr>
        <p:txBody>
          <a:bodyPr wrap="square" lIns="0" tIns="0" rIns="0" bIns="0" rtlCol="0"/>
          <a:lstStyle/>
          <a:p>
            <a:pPr marL="0" indent="0">
              <a:buNone/>
            </a:pPr>
            <a:r>
              <a:rPr lang="ja-JP" sz="900" dirty="0">
                <a:solidFill>
                  <a:srgbClr val="5E5C6A"/>
                </a:solidFill>
                <a:latin typeface="Noto Sans JP"/>
                <a:ea typeface="Noto Sans JP"/>
                <a:cs typeface="Noto Sans JP"/>
              </a:rPr>
              <a:t>プロジェクト型 ＝ 単発・成果物型（設計書・規程など）</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marL="0" indent="0">
              <a:buNone/>
            </a:pPr>
            <a:r>
              <a:rPr lang="en-US" sz="800" kern="0" spc="200" dirty="0">
                <a:solidFill>
                  <a:srgbClr val="9B98A6"/>
                </a:solidFill>
                <a:latin typeface="Consolas" pitchFamily="34" charset="0"/>
                <a:ea typeface="Consolas" pitchFamily="34" charset="-122"/>
                <a:cs typeface="Consolas" pitchFamily="34" charset="-120"/>
              </a:rPr>
              <a:t>CONTENT ／ 02</a:t>
            </a:r>
            <a:endParaRPr lang="en-US" sz="800" dirty="0"/>
          </a:p>
        </p:txBody>
      </p:sp>
      <p:sp>
        <p:nvSpPr>
          <p:cNvPr id="3" name="Shape 1"/>
          <p:cNvSpPr/>
          <p:nvPr/>
        </p:nvSpPr>
        <p:spPr>
          <a:xfrm>
            <a:off x="228600" y="320040"/>
            <a:ext cx="64008" cy="64008"/>
          </a:xfrm>
          <a:prstGeom prst="ellipse">
            <a:avLst/>
          </a:prstGeom>
          <a:solidFill>
            <a:srgbClr val="8B7AB8"/>
          </a:solidFill>
          <a:ln/>
        </p:spPr>
        <p:txBody>
          <a:bodyPr/>
          <a:lstStyle/>
          <a:p>
            <a:endParaRPr lang="ja-JP" altLang="en-US"/>
          </a:p>
        </p:txBody>
      </p:sp>
      <p:pic>
        <p:nvPicPr>
          <p:cNvPr id="4" name="Image 0" descr="logo-horizontal.png"/>
          <p:cNvPicPr>
            <a:picLocks noChangeAspect="1"/>
          </p:cNvPicPr>
          <p:nvPr/>
        </p:nvPicPr>
        <p:blipFill>
          <a:blip r:embed="rId2"/>
          <a:stretch>
            <a:fillRect/>
          </a:stretch>
        </p:blipFill>
        <p:spPr>
          <a:xfrm>
            <a:off x="6492240" y="274320"/>
            <a:ext cx="2286000" cy="603504"/>
          </a:xfrm>
          <a:prstGeom prst="rect">
            <a:avLst/>
          </a:prstGeom>
        </p:spPr>
      </p:pic>
      <p:sp>
        <p:nvSpPr>
          <p:cNvPr id="5" name="Text 2"/>
          <p:cNvSpPr/>
          <p:nvPr/>
        </p:nvSpPr>
        <p:spPr>
          <a:xfrm>
            <a:off x="365760" y="960120"/>
            <a:ext cx="1097280" cy="365760"/>
          </a:xfrm>
          <a:prstGeom prst="rect">
            <a:avLst/>
          </a:prstGeom>
          <a:noFill/>
          <a:ln/>
        </p:spPr>
        <p:txBody>
          <a:bodyPr wrap="square" lIns="0" tIns="0" rIns="0" bIns="0" rtlCol="0" anchor="ctr"/>
          <a:lstStyle/>
          <a:p>
            <a:pPr marL="0" indent="0">
              <a:buNone/>
            </a:pPr>
            <a:r>
              <a:rPr lang="en-US" sz="900" kern="0" spc="400" dirty="0">
                <a:solidFill>
                  <a:srgbClr val="8B7AB8"/>
                </a:solidFill>
                <a:latin typeface="Consolas" pitchFamily="34" charset="0"/>
                <a:ea typeface="Consolas" pitchFamily="34" charset="-122"/>
                <a:cs typeface="Consolas" pitchFamily="34" charset="-120"/>
              </a:rPr>
              <a:t>02 / NOW</a:t>
            </a:r>
            <a:endParaRPr lang="en-US" sz="900" dirty="0"/>
          </a:p>
        </p:txBody>
      </p:sp>
      <p:sp>
        <p:nvSpPr>
          <p:cNvPr id="6" name="Text 3"/>
          <p:cNvSpPr/>
          <p:nvPr/>
        </p:nvSpPr>
        <p:spPr>
          <a:xfrm>
            <a:off x="1463040" y="914400"/>
            <a:ext cx="7315200" cy="457200"/>
          </a:xfrm>
          <a:prstGeom prst="rect">
            <a:avLst/>
          </a:prstGeom>
          <a:noFill/>
          <a:ln/>
        </p:spPr>
        <p:txBody>
          <a:bodyPr wrap="square" lIns="0" tIns="0" rIns="0" bIns="0" rtlCol="0" anchor="ctr"/>
          <a:lstStyle/>
          <a:p>
            <a:pPr marL="0" indent="0">
              <a:buNone/>
            </a:pPr>
            <a:r>
              <a:rPr lang="en-US" sz="2200" b="1" dirty="0">
                <a:solidFill>
                  <a:srgbClr val="3A3A42"/>
                </a:solidFill>
                <a:latin typeface="Noto Sans JP" pitchFamily="34" charset="0"/>
                <a:ea typeface="Noto Sans JP" pitchFamily="34" charset="-122"/>
                <a:cs typeface="Noto Sans JP" pitchFamily="34" charset="-120"/>
              </a:rPr>
              <a:t>貴学園の現状理解と主要論点（仮説）</a:t>
            </a:r>
            <a:endParaRPr lang="en-US" sz="2200" dirty="0"/>
          </a:p>
        </p:txBody>
      </p:sp>
      <p:sp>
        <p:nvSpPr>
          <p:cNvPr id="7" name="Shape 4"/>
          <p:cNvSpPr/>
          <p:nvPr/>
        </p:nvSpPr>
        <p:spPr>
          <a:xfrm>
            <a:off x="365760" y="1417320"/>
            <a:ext cx="8412480" cy="0"/>
          </a:xfrm>
          <a:prstGeom prst="line">
            <a:avLst/>
          </a:prstGeom>
          <a:noFill/>
          <a:ln w="6350">
            <a:solidFill>
              <a:srgbClr val="E8E6EC"/>
            </a:solidFill>
            <a:prstDash val="solid"/>
          </a:ln>
        </p:spPr>
        <p:txBody>
          <a:bodyPr/>
          <a:lstStyle/>
          <a:p>
            <a:endParaRPr lang="ja-JP" altLang="en-US"/>
          </a:p>
        </p:txBody>
      </p:sp>
      <p:sp>
        <p:nvSpPr>
          <p:cNvPr id="10" name="Text 7"/>
          <p:cNvSpPr/>
          <p:nvPr/>
        </p:nvSpPr>
        <p:spPr>
          <a:xfrm>
            <a:off x="7955280" y="4846320"/>
            <a:ext cx="914400" cy="182880"/>
          </a:xfrm>
          <a:prstGeom prst="rect">
            <a:avLst/>
          </a:prstGeom>
          <a:noFill/>
          <a:ln/>
        </p:spPr>
        <p:txBody>
          <a:bodyPr wrap="square" lIns="0" tIns="0" rIns="0" bIns="0" rtlCol="0" anchor="ctr"/>
          <a:lstStyle/>
          <a:p>
            <a:pPr marL="0" indent="0" algn="r">
              <a:buNone/>
            </a:pPr>
            <a:r>
              <a:rPr lang="en-US" sz="800" dirty="0">
                <a:solidFill>
                  <a:srgbClr val="9B98A6"/>
                </a:solidFill>
                <a:latin typeface="Consolas" pitchFamily="34" charset="0"/>
                <a:ea typeface="Consolas" pitchFamily="34" charset="-122"/>
                <a:cs typeface="Consolas" pitchFamily="34" charset="-120"/>
              </a:rPr>
              <a:t>05 / 18</a:t>
            </a:r>
            <a:endParaRPr lang="en-US" sz="800" dirty="0"/>
          </a:p>
        </p:txBody>
      </p:sp>
      <p:sp>
        <p:nvSpPr>
          <p:cNvPr id="100" name="card_0_bg"/>
          <p:cNvSpPr/>
          <p:nvPr/>
        </p:nvSpPr>
        <p:spPr>
          <a:xfrm>
            <a:off x="365760" y="1600200"/>
            <a:ext cx="2651760" cy="1371600"/>
          </a:xfrm>
          <a:prstGeom prst="rect">
            <a:avLst/>
          </a:prstGeom>
          <a:solidFill>
            <a:srgbClr val="FAFAFB"/>
          </a:solidFill>
          <a:ln/>
        </p:spPr>
        <p:txBody>
          <a:bodyPr/>
          <a:lstStyle/>
          <a:p>
            <a:endParaRPr lang="ja-JP" altLang="en-US"/>
          </a:p>
        </p:txBody>
      </p:sp>
      <p:sp>
        <p:nvSpPr>
          <p:cNvPr id="101" name="card_0_ln"/>
          <p:cNvSpPr/>
          <p:nvPr/>
        </p:nvSpPr>
        <p:spPr>
          <a:xfrm>
            <a:off x="365760" y="1600200"/>
            <a:ext cx="36576" cy="1371600"/>
          </a:xfrm>
          <a:prstGeom prst="rect">
            <a:avLst/>
          </a:prstGeom>
          <a:solidFill>
            <a:srgbClr val="8B7AB8"/>
          </a:solidFill>
          <a:ln/>
        </p:spPr>
        <p:txBody>
          <a:bodyPr/>
          <a:lstStyle/>
          <a:p>
            <a:endParaRPr lang="ja-JP" altLang="en-US"/>
          </a:p>
        </p:txBody>
      </p:sp>
      <p:sp>
        <p:nvSpPr>
          <p:cNvPr id="102" name="card_0_en"/>
          <p:cNvSpPr/>
          <p:nvPr/>
        </p:nvSpPr>
        <p:spPr>
          <a:xfrm>
            <a:off x="548640" y="1737360"/>
            <a:ext cx="2468880" cy="182880"/>
          </a:xfrm>
          <a:prstGeom prst="rect">
            <a:avLst/>
          </a:prstGeom>
          <a:noFill/>
          <a:ln/>
        </p:spPr>
        <p:txBody>
          <a:bodyPr wrap="square" lIns="0" tIns="0" rIns="0" bIns="0" rtlCol="0"/>
          <a:lstStyle/>
          <a:p>
            <a:pPr marL="0" indent="0">
              <a:buNone/>
            </a:pPr>
            <a:r>
              <a:rPr lang="ja-JP" sz="800" b="1" kern="0" spc="200" dirty="0">
                <a:solidFill>
                  <a:srgbClr val="8B7AB8"/>
                </a:solidFill>
                <a:latin typeface="Consolas"/>
                <a:ea typeface="Consolas"/>
                <a:cs typeface="Consolas"/>
              </a:rPr>
              <a:t>HR</a:t>
            </a:r>
          </a:p>
        </p:txBody>
      </p:sp>
      <p:sp>
        <p:nvSpPr>
          <p:cNvPr id="103" name="card_0_jp"/>
          <p:cNvSpPr/>
          <p:nvPr/>
        </p:nvSpPr>
        <p:spPr>
          <a:xfrm>
            <a:off x="548640" y="1947672"/>
            <a:ext cx="2468880" cy="320040"/>
          </a:xfrm>
          <a:prstGeom prst="rect">
            <a:avLst/>
          </a:prstGeom>
          <a:noFill/>
          <a:ln/>
        </p:spPr>
        <p:txBody>
          <a:bodyPr wrap="square" lIns="0" tIns="0" rIns="0" bIns="0" rtlCol="0"/>
          <a:lstStyle/>
          <a:p>
            <a:pPr marL="0" indent="0">
              <a:buNone/>
            </a:pPr>
            <a:r>
              <a:rPr lang="ja-JP" sz="1600" b="1" dirty="0">
                <a:solidFill>
                  <a:srgbClr val="3A3A42"/>
                </a:solidFill>
                <a:latin typeface="Noto Sans JP"/>
                <a:ea typeface="Noto Sans JP"/>
                <a:cs typeface="Noto Sans JP"/>
              </a:rPr>
              <a:t>人事領域</a:t>
            </a:r>
          </a:p>
        </p:txBody>
      </p:sp>
      <p:sp>
        <p:nvSpPr>
          <p:cNvPr id="104" name="card_0_pill_bg"/>
          <p:cNvSpPr/>
          <p:nvPr/>
        </p:nvSpPr>
        <p:spPr>
          <a:xfrm>
            <a:off x="548640" y="2331720"/>
            <a:ext cx="1828800" cy="228600"/>
          </a:xfrm>
          <a:prstGeom prst="rect">
            <a:avLst/>
          </a:prstGeom>
          <a:solidFill>
            <a:srgbClr val="8B7AB8"/>
          </a:solidFill>
          <a:ln/>
        </p:spPr>
        <p:txBody>
          <a:bodyPr/>
          <a:lstStyle/>
          <a:p>
            <a:endParaRPr lang="ja-JP" altLang="en-US"/>
          </a:p>
        </p:txBody>
      </p:sp>
      <p:sp>
        <p:nvSpPr>
          <p:cNvPr id="105" name="card_0_pill_tx"/>
          <p:cNvSpPr/>
          <p:nvPr/>
        </p:nvSpPr>
        <p:spPr>
          <a:xfrm>
            <a:off x="548640" y="2331720"/>
            <a:ext cx="1828800" cy="228600"/>
          </a:xfrm>
          <a:prstGeom prst="rect">
            <a:avLst/>
          </a:prstGeom>
          <a:noFill/>
          <a:ln/>
        </p:spPr>
        <p:txBody>
          <a:bodyPr wrap="square" lIns="0" tIns="0" rIns="0" bIns="0" rtlCol="0" anchor="ctr"/>
          <a:lstStyle/>
          <a:p>
            <a:pPr marL="0" indent="0" algn="ctr">
              <a:buNone/>
            </a:pPr>
            <a:r>
              <a:rPr lang="en-US" sz="900" b="1" kern="0" spc="50" dirty="0">
                <a:solidFill>
                  <a:srgbClr val="FFFFFF"/>
                </a:solidFill>
                <a:latin typeface="Noto Sans JP"/>
                <a:ea typeface="Noto Sans JP"/>
                <a:cs typeface="Noto Sans JP"/>
              </a:rPr>
              <a:t>統合DB PJ 進行中</a:t>
            </a:r>
          </a:p>
        </p:txBody>
      </p:sp>
      <p:sp>
        <p:nvSpPr>
          <p:cNvPr id="106" name="card_0_desc"/>
          <p:cNvSpPr/>
          <p:nvPr/>
        </p:nvSpPr>
        <p:spPr>
          <a:xfrm>
            <a:off x="548640" y="2606040"/>
            <a:ext cx="2286000" cy="365760"/>
          </a:xfrm>
          <a:prstGeom prst="rect">
            <a:avLst/>
          </a:prstGeom>
          <a:noFill/>
          <a:ln/>
        </p:spPr>
        <p:txBody>
          <a:bodyPr wrap="square" lIns="0" tIns="0" rIns="0" bIns="0" rtlCol="0"/>
          <a:lstStyle/>
          <a:p>
            <a:pPr marL="0" indent="0">
              <a:lnSpc>
                <a:spcPct val="120000"/>
              </a:lnSpc>
              <a:buNone/>
            </a:pPr>
            <a:r>
              <a:rPr lang="ja-JP" sz="850" dirty="0">
                <a:solidFill>
                  <a:srgbClr val="5E5C6A"/>
                </a:solidFill>
                <a:latin typeface="Noto Sans JP"/>
                <a:ea typeface="Noto Sans JP"/>
                <a:cs typeface="Noto Sans JP"/>
              </a:rPr>
              <a:t>パトスロゴス社</a:t>
            </a:r>
            <a:r>
              <a:rPr lang="ja-JP" altLang="en-US" sz="850" dirty="0">
                <a:solidFill>
                  <a:srgbClr val="5E5C6A"/>
                </a:solidFill>
                <a:latin typeface="Noto Sans JP"/>
                <a:ea typeface="Noto Sans JP"/>
                <a:cs typeface="Noto Sans JP"/>
              </a:rPr>
              <a:t>によるコンサルティングを開始。</a:t>
            </a:r>
            <a:r>
              <a:rPr lang="ja-JP" sz="850" dirty="0">
                <a:solidFill>
                  <a:srgbClr val="5E5C6A"/>
                </a:solidFill>
                <a:latin typeface="Noto Sans JP"/>
                <a:ea typeface="Noto Sans JP"/>
                <a:cs typeface="Noto Sans JP"/>
              </a:rPr>
              <a:t>実装フェーズへ。</a:t>
            </a:r>
          </a:p>
        </p:txBody>
      </p:sp>
      <p:sp>
        <p:nvSpPr>
          <p:cNvPr id="107" name="card_1_bg"/>
          <p:cNvSpPr/>
          <p:nvPr/>
        </p:nvSpPr>
        <p:spPr>
          <a:xfrm>
            <a:off x="3154680" y="1600200"/>
            <a:ext cx="2651760" cy="1371600"/>
          </a:xfrm>
          <a:prstGeom prst="rect">
            <a:avLst/>
          </a:prstGeom>
          <a:solidFill>
            <a:srgbClr val="FAFAFB"/>
          </a:solidFill>
          <a:ln/>
        </p:spPr>
        <p:txBody>
          <a:bodyPr/>
          <a:lstStyle/>
          <a:p>
            <a:endParaRPr lang="ja-JP" altLang="en-US"/>
          </a:p>
        </p:txBody>
      </p:sp>
      <p:sp>
        <p:nvSpPr>
          <p:cNvPr id="108" name="card_1_ln"/>
          <p:cNvSpPr/>
          <p:nvPr/>
        </p:nvSpPr>
        <p:spPr>
          <a:xfrm>
            <a:off x="3154680" y="1600200"/>
            <a:ext cx="36576" cy="1371600"/>
          </a:xfrm>
          <a:prstGeom prst="rect">
            <a:avLst/>
          </a:prstGeom>
          <a:solidFill>
            <a:srgbClr val="8B7AB8"/>
          </a:solidFill>
          <a:ln/>
        </p:spPr>
        <p:txBody>
          <a:bodyPr/>
          <a:lstStyle/>
          <a:p>
            <a:endParaRPr lang="ja-JP" altLang="en-US"/>
          </a:p>
        </p:txBody>
      </p:sp>
      <p:sp>
        <p:nvSpPr>
          <p:cNvPr id="109" name="card_1_en"/>
          <p:cNvSpPr/>
          <p:nvPr/>
        </p:nvSpPr>
        <p:spPr>
          <a:xfrm>
            <a:off x="3337560" y="1737360"/>
            <a:ext cx="2468880" cy="182880"/>
          </a:xfrm>
          <a:prstGeom prst="rect">
            <a:avLst/>
          </a:prstGeom>
          <a:noFill/>
          <a:ln/>
        </p:spPr>
        <p:txBody>
          <a:bodyPr wrap="square" lIns="0" tIns="0" rIns="0" bIns="0" rtlCol="0"/>
          <a:lstStyle/>
          <a:p>
            <a:pPr marL="0" indent="0">
              <a:buNone/>
            </a:pPr>
            <a:r>
              <a:rPr lang="ja-JP" sz="800" b="1" kern="0" spc="200" dirty="0">
                <a:solidFill>
                  <a:srgbClr val="8B7AB8"/>
                </a:solidFill>
                <a:latin typeface="Consolas"/>
                <a:ea typeface="Consolas"/>
                <a:cs typeface="Consolas"/>
              </a:rPr>
              <a:t>FINANCE</a:t>
            </a:r>
          </a:p>
        </p:txBody>
      </p:sp>
      <p:sp>
        <p:nvSpPr>
          <p:cNvPr id="110" name="card_1_jp"/>
          <p:cNvSpPr/>
          <p:nvPr/>
        </p:nvSpPr>
        <p:spPr>
          <a:xfrm>
            <a:off x="3337560" y="1947672"/>
            <a:ext cx="2468880" cy="320040"/>
          </a:xfrm>
          <a:prstGeom prst="rect">
            <a:avLst/>
          </a:prstGeom>
          <a:noFill/>
          <a:ln/>
        </p:spPr>
        <p:txBody>
          <a:bodyPr wrap="square" lIns="0" tIns="0" rIns="0" bIns="0" rtlCol="0"/>
          <a:lstStyle/>
          <a:p>
            <a:pPr marL="0" indent="0">
              <a:buNone/>
            </a:pPr>
            <a:r>
              <a:rPr lang="ja-JP" sz="1600" b="1" dirty="0">
                <a:solidFill>
                  <a:srgbClr val="3A3A42"/>
                </a:solidFill>
                <a:latin typeface="Noto Sans JP"/>
                <a:ea typeface="Noto Sans JP"/>
                <a:cs typeface="Noto Sans JP"/>
              </a:rPr>
              <a:t>経理領域</a:t>
            </a:r>
          </a:p>
        </p:txBody>
      </p:sp>
      <p:sp>
        <p:nvSpPr>
          <p:cNvPr id="111" name="card_1_pill_bg"/>
          <p:cNvSpPr/>
          <p:nvPr/>
        </p:nvSpPr>
        <p:spPr>
          <a:xfrm>
            <a:off x="3337560" y="2331720"/>
            <a:ext cx="1828800" cy="228600"/>
          </a:xfrm>
          <a:prstGeom prst="rect">
            <a:avLst/>
          </a:prstGeom>
          <a:solidFill>
            <a:srgbClr val="8B7AB8"/>
          </a:solidFill>
          <a:ln/>
        </p:spPr>
        <p:txBody>
          <a:bodyPr/>
          <a:lstStyle/>
          <a:p>
            <a:endParaRPr lang="ja-JP" altLang="en-US"/>
          </a:p>
        </p:txBody>
      </p:sp>
      <p:sp>
        <p:nvSpPr>
          <p:cNvPr id="112" name="card_1_pill_tx"/>
          <p:cNvSpPr/>
          <p:nvPr/>
        </p:nvSpPr>
        <p:spPr>
          <a:xfrm>
            <a:off x="3337560" y="2331720"/>
            <a:ext cx="1828800" cy="228600"/>
          </a:xfrm>
          <a:prstGeom prst="rect">
            <a:avLst/>
          </a:prstGeom>
          <a:noFill/>
          <a:ln/>
        </p:spPr>
        <p:txBody>
          <a:bodyPr wrap="square" lIns="0" tIns="0" rIns="0" bIns="0" rtlCol="0" anchor="ctr"/>
          <a:lstStyle/>
          <a:p>
            <a:pPr marL="0" indent="0" algn="ctr">
              <a:buNone/>
            </a:pPr>
            <a:r>
              <a:rPr lang="en-US" sz="900" b="1" kern="0" spc="50" dirty="0">
                <a:solidFill>
                  <a:srgbClr val="FFFFFF"/>
                </a:solidFill>
                <a:latin typeface="Noto Sans JP"/>
                <a:ea typeface="Noto Sans JP"/>
                <a:cs typeface="Noto Sans JP"/>
              </a:rPr>
              <a:t>要件定義これから</a:t>
            </a:r>
          </a:p>
        </p:txBody>
      </p:sp>
      <p:sp>
        <p:nvSpPr>
          <p:cNvPr id="113" name="card_1_desc"/>
          <p:cNvSpPr/>
          <p:nvPr/>
        </p:nvSpPr>
        <p:spPr>
          <a:xfrm>
            <a:off x="3337560" y="2606040"/>
            <a:ext cx="2286000" cy="365760"/>
          </a:xfrm>
          <a:prstGeom prst="rect">
            <a:avLst/>
          </a:prstGeom>
          <a:noFill/>
          <a:ln/>
        </p:spPr>
        <p:txBody>
          <a:bodyPr wrap="square" lIns="0" tIns="0" rIns="0" bIns="0" rtlCol="0"/>
          <a:lstStyle/>
          <a:p>
            <a:pPr marL="0" indent="0">
              <a:lnSpc>
                <a:spcPct val="120000"/>
              </a:lnSpc>
              <a:buNone/>
            </a:pPr>
            <a:r>
              <a:rPr lang="ja-JP" sz="850" dirty="0">
                <a:solidFill>
                  <a:srgbClr val="5E5C6A"/>
                </a:solidFill>
                <a:latin typeface="Noto Sans JP"/>
                <a:ea typeface="Noto Sans JP"/>
                <a:cs typeface="Noto Sans JP"/>
              </a:rPr>
              <a:t>エデュース社による業務要件定義を開始。</a:t>
            </a:r>
          </a:p>
          <a:p>
            <a:pPr marL="0" indent="0">
              <a:lnSpc>
                <a:spcPct val="120000"/>
              </a:lnSpc>
              <a:buNone/>
            </a:pPr>
            <a:r>
              <a:rPr lang="ja-JP" sz="850" dirty="0">
                <a:solidFill>
                  <a:srgbClr val="5E5C6A"/>
                </a:solidFill>
                <a:latin typeface="Noto Sans JP"/>
                <a:ea typeface="Noto Sans JP"/>
                <a:cs typeface="Noto Sans JP"/>
              </a:rPr>
              <a:t>DB構築方針は未確定。</a:t>
            </a:r>
          </a:p>
        </p:txBody>
      </p:sp>
      <p:sp>
        <p:nvSpPr>
          <p:cNvPr id="114" name="card_2_bg"/>
          <p:cNvSpPr/>
          <p:nvPr/>
        </p:nvSpPr>
        <p:spPr>
          <a:xfrm>
            <a:off x="5943600" y="1600200"/>
            <a:ext cx="2651760" cy="1371600"/>
          </a:xfrm>
          <a:prstGeom prst="rect">
            <a:avLst/>
          </a:prstGeom>
          <a:solidFill>
            <a:srgbClr val="FAFAFB"/>
          </a:solidFill>
          <a:ln/>
        </p:spPr>
        <p:txBody>
          <a:bodyPr/>
          <a:lstStyle/>
          <a:p>
            <a:endParaRPr lang="ja-JP" altLang="en-US"/>
          </a:p>
        </p:txBody>
      </p:sp>
      <p:sp>
        <p:nvSpPr>
          <p:cNvPr id="115" name="card_2_ln"/>
          <p:cNvSpPr/>
          <p:nvPr/>
        </p:nvSpPr>
        <p:spPr>
          <a:xfrm>
            <a:off x="5943600" y="1600200"/>
            <a:ext cx="36576" cy="1371600"/>
          </a:xfrm>
          <a:prstGeom prst="rect">
            <a:avLst/>
          </a:prstGeom>
          <a:solidFill>
            <a:srgbClr val="8B7AB8"/>
          </a:solidFill>
          <a:ln/>
        </p:spPr>
        <p:txBody>
          <a:bodyPr/>
          <a:lstStyle/>
          <a:p>
            <a:endParaRPr lang="ja-JP" altLang="en-US"/>
          </a:p>
        </p:txBody>
      </p:sp>
      <p:sp>
        <p:nvSpPr>
          <p:cNvPr id="116" name="card_2_en"/>
          <p:cNvSpPr/>
          <p:nvPr/>
        </p:nvSpPr>
        <p:spPr>
          <a:xfrm>
            <a:off x="6126480" y="1737360"/>
            <a:ext cx="2468880" cy="182880"/>
          </a:xfrm>
          <a:prstGeom prst="rect">
            <a:avLst/>
          </a:prstGeom>
          <a:noFill/>
          <a:ln/>
        </p:spPr>
        <p:txBody>
          <a:bodyPr wrap="square" lIns="0" tIns="0" rIns="0" bIns="0" rtlCol="0"/>
          <a:lstStyle/>
          <a:p>
            <a:pPr marL="0" indent="0">
              <a:buNone/>
            </a:pPr>
            <a:r>
              <a:rPr lang="ja-JP" sz="800" b="1" kern="0" spc="200" dirty="0">
                <a:solidFill>
                  <a:srgbClr val="8B7AB8"/>
                </a:solidFill>
                <a:latin typeface="Consolas"/>
                <a:ea typeface="Consolas"/>
                <a:cs typeface="Consolas"/>
              </a:rPr>
              <a:t>COMMON</a:t>
            </a:r>
          </a:p>
        </p:txBody>
      </p:sp>
      <p:sp>
        <p:nvSpPr>
          <p:cNvPr id="117" name="card_2_jp"/>
          <p:cNvSpPr/>
          <p:nvPr/>
        </p:nvSpPr>
        <p:spPr>
          <a:xfrm>
            <a:off x="6126480" y="1947672"/>
            <a:ext cx="2468880" cy="320040"/>
          </a:xfrm>
          <a:prstGeom prst="rect">
            <a:avLst/>
          </a:prstGeom>
          <a:noFill/>
          <a:ln/>
        </p:spPr>
        <p:txBody>
          <a:bodyPr wrap="square" lIns="0" tIns="0" rIns="0" bIns="0" rtlCol="0"/>
          <a:lstStyle/>
          <a:p>
            <a:pPr marL="0" indent="0">
              <a:buNone/>
            </a:pPr>
            <a:r>
              <a:rPr lang="ja-JP" sz="1600" b="1" dirty="0">
                <a:solidFill>
                  <a:srgbClr val="3A3A42"/>
                </a:solidFill>
                <a:latin typeface="Noto Sans JP"/>
                <a:ea typeface="Noto Sans JP"/>
                <a:cs typeface="Noto Sans JP"/>
              </a:rPr>
              <a:t>共通</a:t>
            </a:r>
          </a:p>
        </p:txBody>
      </p:sp>
      <p:sp>
        <p:nvSpPr>
          <p:cNvPr id="118" name="card_2_pill_bg"/>
          <p:cNvSpPr/>
          <p:nvPr/>
        </p:nvSpPr>
        <p:spPr>
          <a:xfrm>
            <a:off x="6126480" y="2331720"/>
            <a:ext cx="1828800" cy="228600"/>
          </a:xfrm>
          <a:prstGeom prst="rect">
            <a:avLst/>
          </a:prstGeom>
          <a:solidFill>
            <a:srgbClr val="8B7AB8"/>
          </a:solidFill>
          <a:ln/>
        </p:spPr>
        <p:txBody>
          <a:bodyPr/>
          <a:lstStyle/>
          <a:p>
            <a:endParaRPr lang="ja-JP" altLang="en-US"/>
          </a:p>
        </p:txBody>
      </p:sp>
      <p:sp>
        <p:nvSpPr>
          <p:cNvPr id="119" name="card_2_pill_tx"/>
          <p:cNvSpPr/>
          <p:nvPr/>
        </p:nvSpPr>
        <p:spPr>
          <a:xfrm>
            <a:off x="6126480" y="2331720"/>
            <a:ext cx="1828800" cy="228600"/>
          </a:xfrm>
          <a:prstGeom prst="rect">
            <a:avLst/>
          </a:prstGeom>
          <a:noFill/>
          <a:ln/>
        </p:spPr>
        <p:txBody>
          <a:bodyPr wrap="square" lIns="0" tIns="0" rIns="0" bIns="0" rtlCol="0" anchor="ctr"/>
          <a:lstStyle/>
          <a:p>
            <a:pPr marL="0" indent="0" algn="ctr">
              <a:buNone/>
            </a:pPr>
            <a:r>
              <a:rPr lang="en-US" sz="900" b="1" kern="0" spc="50" dirty="0">
                <a:solidFill>
                  <a:srgbClr val="FFFFFF"/>
                </a:solidFill>
                <a:latin typeface="Noto Sans JP"/>
                <a:ea typeface="Noto Sans JP"/>
                <a:cs typeface="Noto Sans JP"/>
              </a:rPr>
              <a:t>業務一元化を志向</a:t>
            </a:r>
          </a:p>
        </p:txBody>
      </p:sp>
      <p:sp>
        <p:nvSpPr>
          <p:cNvPr id="120" name="card_2_desc"/>
          <p:cNvSpPr/>
          <p:nvPr/>
        </p:nvSpPr>
        <p:spPr>
          <a:xfrm>
            <a:off x="6126480" y="2606040"/>
            <a:ext cx="2286000" cy="365760"/>
          </a:xfrm>
          <a:prstGeom prst="rect">
            <a:avLst/>
          </a:prstGeom>
          <a:noFill/>
          <a:ln/>
        </p:spPr>
        <p:txBody>
          <a:bodyPr wrap="square" lIns="0" tIns="0" rIns="0" bIns="0" rtlCol="0"/>
          <a:lstStyle/>
          <a:p>
            <a:pPr marL="0" indent="0">
              <a:lnSpc>
                <a:spcPct val="120000"/>
              </a:lnSpc>
              <a:buNone/>
            </a:pPr>
            <a:r>
              <a:rPr lang="ja-JP" sz="850" dirty="0">
                <a:solidFill>
                  <a:srgbClr val="5E5C6A"/>
                </a:solidFill>
                <a:latin typeface="Noto Sans JP"/>
                <a:ea typeface="Noto Sans JP"/>
                <a:cs typeface="Noto Sans JP"/>
              </a:rPr>
              <a:t>To-Be業務フローが一部定義された段階。一元化の方向性。</a:t>
            </a:r>
          </a:p>
        </p:txBody>
      </p:sp>
      <p:sp>
        <p:nvSpPr>
          <p:cNvPr id="121" name="issues_title"/>
          <p:cNvSpPr/>
          <p:nvPr/>
        </p:nvSpPr>
        <p:spPr>
          <a:xfrm>
            <a:off x="365760" y="3154680"/>
            <a:ext cx="8412480" cy="274320"/>
          </a:xfrm>
          <a:prstGeom prst="rect">
            <a:avLst/>
          </a:prstGeom>
          <a:noFill/>
          <a:ln/>
        </p:spPr>
        <p:txBody>
          <a:bodyPr wrap="square" lIns="0" tIns="0" rIns="0" bIns="0" rtlCol="0"/>
          <a:lstStyle/>
          <a:p>
            <a:pPr marL="0" indent="0">
              <a:buNone/>
            </a:pPr>
            <a:r>
              <a:rPr lang="ja-JP" sz="1100" b="1" dirty="0">
                <a:solidFill>
                  <a:srgbClr val="3A3A42"/>
                </a:solidFill>
                <a:latin typeface="Noto Sans JP"/>
                <a:ea typeface="Noto Sans JP"/>
                <a:cs typeface="Noto Sans JP"/>
              </a:rPr>
              <a:t>当社が捉える主要論点</a:t>
            </a:r>
          </a:p>
        </p:txBody>
      </p:sp>
      <p:sp>
        <p:nvSpPr>
          <p:cNvPr id="122" name="issues_line"/>
          <p:cNvSpPr/>
          <p:nvPr/>
        </p:nvSpPr>
        <p:spPr>
          <a:xfrm>
            <a:off x="365760" y="3474720"/>
            <a:ext cx="8412480" cy="0"/>
          </a:xfrm>
          <a:prstGeom prst="line">
            <a:avLst/>
          </a:prstGeom>
          <a:noFill/>
          <a:ln w="19050">
            <a:solidFill>
              <a:srgbClr val="8B7AB8"/>
            </a:solidFill>
            <a:prstDash val="solid"/>
          </a:ln>
        </p:spPr>
        <p:txBody>
          <a:bodyPr/>
          <a:lstStyle/>
          <a:p>
            <a:endParaRPr lang="ja-JP" altLang="en-US"/>
          </a:p>
        </p:txBody>
      </p:sp>
      <p:sp>
        <p:nvSpPr>
          <p:cNvPr id="123" name="iss_tag_0"/>
          <p:cNvSpPr/>
          <p:nvPr/>
        </p:nvSpPr>
        <p:spPr>
          <a:xfrm>
            <a:off x="365760" y="3675888"/>
            <a:ext cx="256032" cy="256032"/>
          </a:xfrm>
          <a:prstGeom prst="rect">
            <a:avLst/>
          </a:prstGeom>
          <a:solidFill>
            <a:srgbClr val="8B7AB8"/>
          </a:solidFill>
          <a:ln/>
        </p:spPr>
        <p:txBody>
          <a:bodyPr/>
          <a:lstStyle/>
          <a:p>
            <a:endParaRPr lang="ja-JP" altLang="en-US"/>
          </a:p>
        </p:txBody>
      </p:sp>
      <p:sp>
        <p:nvSpPr>
          <p:cNvPr id="124" name="iss_tag_tx_0"/>
          <p:cNvSpPr/>
          <p:nvPr/>
        </p:nvSpPr>
        <p:spPr>
          <a:xfrm>
            <a:off x="365760" y="3675888"/>
            <a:ext cx="256032" cy="256032"/>
          </a:xfrm>
          <a:prstGeom prst="rect">
            <a:avLst/>
          </a:prstGeom>
          <a:noFill/>
          <a:ln/>
        </p:spPr>
        <p:txBody>
          <a:bodyPr wrap="square" lIns="0" tIns="0" rIns="0" bIns="0" rtlCol="0" anchor="ctr"/>
          <a:lstStyle/>
          <a:p>
            <a:pPr marL="0" indent="0" algn="ctr">
              <a:buNone/>
            </a:pPr>
            <a:r>
              <a:rPr lang="ja-JP" sz="900" b="1" dirty="0">
                <a:solidFill>
                  <a:srgbClr val="FFFFFF"/>
                </a:solidFill>
                <a:latin typeface="Noto Sans JP"/>
                <a:ea typeface="Noto Sans JP"/>
                <a:cs typeface="Noto Sans JP"/>
              </a:rPr>
              <a:t>A</a:t>
            </a:r>
          </a:p>
        </p:txBody>
      </p:sp>
      <p:sp>
        <p:nvSpPr>
          <p:cNvPr id="125" name="iss_tx_0"/>
          <p:cNvSpPr/>
          <p:nvPr/>
        </p:nvSpPr>
        <p:spPr>
          <a:xfrm>
            <a:off x="731520" y="3657600"/>
            <a:ext cx="3840480" cy="292608"/>
          </a:xfrm>
          <a:prstGeom prst="rect">
            <a:avLst/>
          </a:prstGeom>
          <a:noFill/>
          <a:ln/>
        </p:spPr>
        <p:txBody>
          <a:bodyPr wrap="square" lIns="0" tIns="0" rIns="0" bIns="0" rtlCol="0" anchor="ctr"/>
          <a:lstStyle/>
          <a:p>
            <a:pPr marL="0" indent="0">
              <a:buNone/>
            </a:pPr>
            <a:r>
              <a:rPr lang="ja-JP" sz="950" dirty="0">
                <a:solidFill>
                  <a:srgbClr val="3A3A42"/>
                </a:solidFill>
                <a:latin typeface="Noto Sans JP"/>
                <a:ea typeface="Noto Sans JP"/>
                <a:cs typeface="Noto Sans JP"/>
              </a:rPr>
              <a:t>「今すぐの打ち手」と「将来の統合DB・AI活用」の整合性確保</a:t>
            </a:r>
          </a:p>
        </p:txBody>
      </p:sp>
      <p:sp>
        <p:nvSpPr>
          <p:cNvPr id="126" name="iss_tag_1"/>
          <p:cNvSpPr/>
          <p:nvPr/>
        </p:nvSpPr>
        <p:spPr>
          <a:xfrm>
            <a:off x="4572000" y="3675888"/>
            <a:ext cx="256032" cy="256032"/>
          </a:xfrm>
          <a:prstGeom prst="rect">
            <a:avLst/>
          </a:prstGeom>
          <a:solidFill>
            <a:srgbClr val="8B7AB8"/>
          </a:solidFill>
          <a:ln/>
        </p:spPr>
        <p:txBody>
          <a:bodyPr/>
          <a:lstStyle/>
          <a:p>
            <a:endParaRPr lang="ja-JP" altLang="en-US"/>
          </a:p>
        </p:txBody>
      </p:sp>
      <p:sp>
        <p:nvSpPr>
          <p:cNvPr id="127" name="iss_tag_tx_1"/>
          <p:cNvSpPr/>
          <p:nvPr/>
        </p:nvSpPr>
        <p:spPr>
          <a:xfrm>
            <a:off x="4572000" y="3675888"/>
            <a:ext cx="256032" cy="256032"/>
          </a:xfrm>
          <a:prstGeom prst="rect">
            <a:avLst/>
          </a:prstGeom>
          <a:noFill/>
          <a:ln/>
        </p:spPr>
        <p:txBody>
          <a:bodyPr wrap="square" lIns="0" tIns="0" rIns="0" bIns="0" rtlCol="0" anchor="ctr"/>
          <a:lstStyle/>
          <a:p>
            <a:pPr marL="0" indent="0" algn="ctr">
              <a:buNone/>
            </a:pPr>
            <a:r>
              <a:rPr lang="ja-JP" sz="900" b="1" dirty="0">
                <a:solidFill>
                  <a:srgbClr val="FFFFFF"/>
                </a:solidFill>
                <a:latin typeface="Noto Sans JP"/>
                <a:ea typeface="Noto Sans JP"/>
                <a:cs typeface="Noto Sans JP"/>
              </a:rPr>
              <a:t>B</a:t>
            </a:r>
          </a:p>
        </p:txBody>
      </p:sp>
      <p:sp>
        <p:nvSpPr>
          <p:cNvPr id="128" name="iss_tx_1"/>
          <p:cNvSpPr/>
          <p:nvPr/>
        </p:nvSpPr>
        <p:spPr>
          <a:xfrm>
            <a:off x="4937760" y="3657600"/>
            <a:ext cx="3840480" cy="292608"/>
          </a:xfrm>
          <a:prstGeom prst="rect">
            <a:avLst/>
          </a:prstGeom>
          <a:noFill/>
          <a:ln/>
        </p:spPr>
        <p:txBody>
          <a:bodyPr wrap="square" lIns="0" tIns="0" rIns="0" bIns="0" rtlCol="0" anchor="ctr"/>
          <a:lstStyle/>
          <a:p>
            <a:pPr marL="0" indent="0">
              <a:buNone/>
            </a:pPr>
            <a:r>
              <a:rPr lang="ja-JP" sz="950" dirty="0">
                <a:solidFill>
                  <a:srgbClr val="3A3A42"/>
                </a:solidFill>
                <a:latin typeface="Noto Sans JP"/>
                <a:ea typeface="Noto Sans JP"/>
                <a:cs typeface="Noto Sans JP"/>
              </a:rPr>
              <a:t>経理DB方針の不透明さが後工程のコード・マスタ・BIに波及するリスク</a:t>
            </a:r>
          </a:p>
        </p:txBody>
      </p:sp>
      <p:sp>
        <p:nvSpPr>
          <p:cNvPr id="129" name="iss_tag_2"/>
          <p:cNvSpPr/>
          <p:nvPr/>
        </p:nvSpPr>
        <p:spPr>
          <a:xfrm>
            <a:off x="365760" y="3995928"/>
            <a:ext cx="256032" cy="256032"/>
          </a:xfrm>
          <a:prstGeom prst="rect">
            <a:avLst/>
          </a:prstGeom>
          <a:solidFill>
            <a:srgbClr val="8B7AB8"/>
          </a:solidFill>
          <a:ln/>
        </p:spPr>
        <p:txBody>
          <a:bodyPr/>
          <a:lstStyle/>
          <a:p>
            <a:endParaRPr lang="ja-JP" altLang="en-US"/>
          </a:p>
        </p:txBody>
      </p:sp>
      <p:sp>
        <p:nvSpPr>
          <p:cNvPr id="130" name="iss_tag_tx_2"/>
          <p:cNvSpPr/>
          <p:nvPr/>
        </p:nvSpPr>
        <p:spPr>
          <a:xfrm>
            <a:off x="365760" y="3995928"/>
            <a:ext cx="256032" cy="256032"/>
          </a:xfrm>
          <a:prstGeom prst="rect">
            <a:avLst/>
          </a:prstGeom>
          <a:noFill/>
          <a:ln/>
        </p:spPr>
        <p:txBody>
          <a:bodyPr wrap="square" lIns="0" tIns="0" rIns="0" bIns="0" rtlCol="0" anchor="ctr"/>
          <a:lstStyle/>
          <a:p>
            <a:pPr marL="0" indent="0" algn="ctr">
              <a:buNone/>
            </a:pPr>
            <a:r>
              <a:rPr lang="ja-JP" sz="900" b="1" dirty="0">
                <a:solidFill>
                  <a:srgbClr val="FFFFFF"/>
                </a:solidFill>
                <a:latin typeface="Noto Sans JP"/>
                <a:ea typeface="Noto Sans JP"/>
                <a:cs typeface="Noto Sans JP"/>
              </a:rPr>
              <a:t>C</a:t>
            </a:r>
          </a:p>
        </p:txBody>
      </p:sp>
      <p:sp>
        <p:nvSpPr>
          <p:cNvPr id="131" name="iss_tx_2"/>
          <p:cNvSpPr/>
          <p:nvPr/>
        </p:nvSpPr>
        <p:spPr>
          <a:xfrm>
            <a:off x="731520" y="3977640"/>
            <a:ext cx="3840480" cy="292608"/>
          </a:xfrm>
          <a:prstGeom prst="rect">
            <a:avLst/>
          </a:prstGeom>
          <a:noFill/>
          <a:ln/>
        </p:spPr>
        <p:txBody>
          <a:bodyPr wrap="square" lIns="0" tIns="0" rIns="0" bIns="0" rtlCol="0" anchor="ctr"/>
          <a:lstStyle/>
          <a:p>
            <a:pPr marL="0" indent="0">
              <a:buNone/>
            </a:pPr>
            <a:r>
              <a:rPr lang="ja-JP" sz="950" dirty="0">
                <a:solidFill>
                  <a:srgbClr val="3A3A42"/>
                </a:solidFill>
                <a:latin typeface="Noto Sans JP"/>
                <a:ea typeface="Noto Sans JP"/>
                <a:cs typeface="Noto Sans JP"/>
              </a:rPr>
              <a:t>人事（パトスロゴス）× 経理（エデュース）のマスタ整合性</a:t>
            </a:r>
          </a:p>
        </p:txBody>
      </p:sp>
      <p:sp>
        <p:nvSpPr>
          <p:cNvPr id="132" name="iss_tag_3"/>
          <p:cNvSpPr/>
          <p:nvPr/>
        </p:nvSpPr>
        <p:spPr>
          <a:xfrm>
            <a:off x="4572000" y="3995928"/>
            <a:ext cx="256032" cy="256032"/>
          </a:xfrm>
          <a:prstGeom prst="rect">
            <a:avLst/>
          </a:prstGeom>
          <a:solidFill>
            <a:srgbClr val="8B7AB8"/>
          </a:solidFill>
          <a:ln/>
        </p:spPr>
        <p:txBody>
          <a:bodyPr/>
          <a:lstStyle/>
          <a:p>
            <a:endParaRPr lang="ja-JP" altLang="en-US"/>
          </a:p>
        </p:txBody>
      </p:sp>
      <p:sp>
        <p:nvSpPr>
          <p:cNvPr id="133" name="iss_tag_tx_3"/>
          <p:cNvSpPr/>
          <p:nvPr/>
        </p:nvSpPr>
        <p:spPr>
          <a:xfrm>
            <a:off x="4572000" y="3995928"/>
            <a:ext cx="256032" cy="256032"/>
          </a:xfrm>
          <a:prstGeom prst="rect">
            <a:avLst/>
          </a:prstGeom>
          <a:noFill/>
          <a:ln/>
        </p:spPr>
        <p:txBody>
          <a:bodyPr wrap="square" lIns="0" tIns="0" rIns="0" bIns="0" rtlCol="0" anchor="ctr"/>
          <a:lstStyle/>
          <a:p>
            <a:pPr marL="0" indent="0" algn="ctr">
              <a:buNone/>
            </a:pPr>
            <a:r>
              <a:rPr lang="ja-JP" sz="900" b="1" dirty="0">
                <a:solidFill>
                  <a:srgbClr val="FFFFFF"/>
                </a:solidFill>
                <a:latin typeface="Noto Sans JP"/>
                <a:ea typeface="Noto Sans JP"/>
                <a:cs typeface="Noto Sans JP"/>
              </a:rPr>
              <a:t>D</a:t>
            </a:r>
          </a:p>
        </p:txBody>
      </p:sp>
      <p:sp>
        <p:nvSpPr>
          <p:cNvPr id="134" name="iss_tx_3"/>
          <p:cNvSpPr/>
          <p:nvPr/>
        </p:nvSpPr>
        <p:spPr>
          <a:xfrm>
            <a:off x="4937760" y="3977640"/>
            <a:ext cx="3840480" cy="292608"/>
          </a:xfrm>
          <a:prstGeom prst="rect">
            <a:avLst/>
          </a:prstGeom>
          <a:noFill/>
          <a:ln/>
        </p:spPr>
        <p:txBody>
          <a:bodyPr wrap="square" lIns="0" tIns="0" rIns="0" bIns="0" rtlCol="0" anchor="ctr"/>
          <a:lstStyle/>
          <a:p>
            <a:pPr marL="0" indent="0">
              <a:buNone/>
            </a:pPr>
            <a:r>
              <a:rPr lang="ja-JP" sz="950" dirty="0">
                <a:solidFill>
                  <a:srgbClr val="3A3A42"/>
                </a:solidFill>
                <a:latin typeface="Noto Sans JP"/>
                <a:ea typeface="Noto Sans JP"/>
                <a:cs typeface="Noto Sans JP"/>
              </a:rPr>
              <a:t>生成AI利用に関する学園統一ルールの未整備</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marL="0" indent="0">
              <a:buNone/>
            </a:pPr>
            <a:r>
              <a:rPr lang="en-US" sz="800" kern="0" spc="200" dirty="0">
                <a:solidFill>
                  <a:srgbClr val="9B98A6"/>
                </a:solidFill>
                <a:latin typeface="Consolas" pitchFamily="34" charset="0"/>
                <a:ea typeface="Consolas" pitchFamily="34" charset="-122"/>
                <a:cs typeface="Consolas" pitchFamily="34" charset="-120"/>
              </a:rPr>
              <a:t>SECTION ／ CHAPTER</a:t>
            </a:r>
            <a:endParaRPr lang="en-US" sz="800" dirty="0"/>
          </a:p>
        </p:txBody>
      </p:sp>
      <p:sp>
        <p:nvSpPr>
          <p:cNvPr id="3" name="Shape 1"/>
          <p:cNvSpPr/>
          <p:nvPr/>
        </p:nvSpPr>
        <p:spPr>
          <a:xfrm>
            <a:off x="228600" y="320040"/>
            <a:ext cx="64008" cy="64008"/>
          </a:xfrm>
          <a:prstGeom prst="ellipse">
            <a:avLst/>
          </a:prstGeom>
          <a:solidFill>
            <a:srgbClr val="8B7AB8"/>
          </a:solidFill>
          <a:ln/>
        </p:spPr>
        <p:txBody>
          <a:bodyPr/>
          <a:lstStyle/>
          <a:p>
            <a:endParaRPr lang="ja-JP" altLang="en-US"/>
          </a:p>
        </p:txBody>
      </p:sp>
      <p:pic>
        <p:nvPicPr>
          <p:cNvPr id="4" name="Image 0" descr="logo-horizontal.png"/>
          <p:cNvPicPr>
            <a:picLocks noChangeAspect="1"/>
          </p:cNvPicPr>
          <p:nvPr/>
        </p:nvPicPr>
        <p:blipFill>
          <a:blip r:embed="rId2"/>
          <a:stretch>
            <a:fillRect/>
          </a:stretch>
        </p:blipFill>
        <p:spPr>
          <a:xfrm>
            <a:off x="6492240" y="274320"/>
            <a:ext cx="2286000" cy="603504"/>
          </a:xfrm>
          <a:prstGeom prst="rect">
            <a:avLst/>
          </a:prstGeom>
        </p:spPr>
      </p:pic>
      <p:pic>
        <p:nvPicPr>
          <p:cNvPr id="5" name="Image 1" descr="favicon-faded.png"/>
          <p:cNvPicPr>
            <a:picLocks noChangeAspect="1"/>
          </p:cNvPicPr>
          <p:nvPr/>
        </p:nvPicPr>
        <p:blipFill>
          <a:blip r:embed="rId3"/>
          <a:stretch>
            <a:fillRect/>
          </a:stretch>
        </p:blipFill>
        <p:spPr>
          <a:xfrm>
            <a:off x="822960" y="1005840"/>
            <a:ext cx="3474720" cy="3474720"/>
          </a:xfrm>
          <a:prstGeom prst="rect">
            <a:avLst/>
          </a:prstGeom>
        </p:spPr>
      </p:pic>
      <p:sp>
        <p:nvSpPr>
          <p:cNvPr id="6" name="Shape 2"/>
          <p:cNvSpPr/>
          <p:nvPr/>
        </p:nvSpPr>
        <p:spPr>
          <a:xfrm>
            <a:off x="4937760" y="1463040"/>
            <a:ext cx="27432" cy="2103120"/>
          </a:xfrm>
          <a:prstGeom prst="rect">
            <a:avLst/>
          </a:prstGeom>
          <a:solidFill>
            <a:srgbClr val="3A3A42"/>
          </a:solidFill>
          <a:ln/>
        </p:spPr>
        <p:txBody>
          <a:bodyPr/>
          <a:lstStyle/>
          <a:p>
            <a:endParaRPr lang="ja-JP" altLang="en-US"/>
          </a:p>
        </p:txBody>
      </p:sp>
      <p:sp>
        <p:nvSpPr>
          <p:cNvPr id="7" name="Text 3"/>
          <p:cNvSpPr/>
          <p:nvPr/>
        </p:nvSpPr>
        <p:spPr>
          <a:xfrm>
            <a:off x="5166360" y="1463040"/>
            <a:ext cx="3657600" cy="274320"/>
          </a:xfrm>
          <a:prstGeom prst="rect">
            <a:avLst/>
          </a:prstGeom>
          <a:noFill/>
          <a:ln/>
        </p:spPr>
        <p:txBody>
          <a:bodyPr wrap="square" lIns="0" tIns="0" rIns="0" bIns="0" rtlCol="0" anchor="ctr"/>
          <a:lstStyle/>
          <a:p>
            <a:pPr marL="0" indent="0">
              <a:buNone/>
            </a:pPr>
            <a:r>
              <a:rPr lang="en-US" sz="1000" kern="0" spc="400" dirty="0">
                <a:solidFill>
                  <a:srgbClr val="8B7AB8"/>
                </a:solidFill>
                <a:latin typeface="Consolas" pitchFamily="34" charset="0"/>
                <a:ea typeface="Consolas" pitchFamily="34" charset="-122"/>
                <a:cs typeface="Consolas" pitchFamily="34" charset="-120"/>
              </a:rPr>
              <a:t>SECTION  02</a:t>
            </a:r>
            <a:endParaRPr lang="en-US" sz="1000" dirty="0"/>
          </a:p>
        </p:txBody>
      </p:sp>
      <p:sp>
        <p:nvSpPr>
          <p:cNvPr id="8" name="Text 4"/>
          <p:cNvSpPr/>
          <p:nvPr/>
        </p:nvSpPr>
        <p:spPr>
          <a:xfrm>
            <a:off x="5166360" y="1783080"/>
            <a:ext cx="3931920" cy="868680"/>
          </a:xfrm>
          <a:prstGeom prst="rect">
            <a:avLst/>
          </a:prstGeom>
          <a:noFill/>
          <a:ln/>
        </p:spPr>
        <p:txBody>
          <a:bodyPr wrap="square" lIns="0" tIns="0" rIns="0" bIns="0" rtlCol="0" anchor="ctr"/>
          <a:lstStyle/>
          <a:p>
            <a:pPr marL="0" indent="0">
              <a:buNone/>
            </a:pPr>
            <a:r>
              <a:rPr lang="en-US" sz="3000" b="1" dirty="0">
                <a:solidFill>
                  <a:srgbClr val="3A3A42"/>
                </a:solidFill>
                <a:latin typeface="Noto Sans JP" pitchFamily="34" charset="0"/>
                <a:ea typeface="Noto Sans JP" pitchFamily="34" charset="-122"/>
                <a:cs typeface="Noto Sans JP" pitchFamily="34" charset="-120"/>
              </a:rPr>
              <a:t>統合DB・共通マスタ設計</a:t>
            </a:r>
            <a:endParaRPr lang="en-US" sz="3000" dirty="0"/>
          </a:p>
        </p:txBody>
      </p:sp>
      <p:sp>
        <p:nvSpPr>
          <p:cNvPr id="9" name="Text 5"/>
          <p:cNvSpPr/>
          <p:nvPr/>
        </p:nvSpPr>
        <p:spPr>
          <a:xfrm>
            <a:off x="5166360" y="2743200"/>
            <a:ext cx="3657600" cy="731520"/>
          </a:xfrm>
          <a:prstGeom prst="rect">
            <a:avLst/>
          </a:prstGeom>
          <a:noFill/>
          <a:ln/>
        </p:spPr>
        <p:txBody>
          <a:bodyPr wrap="square" lIns="0" tIns="0" rIns="0" bIns="0" rtlCol="0" anchor="ctr"/>
          <a:lstStyle/>
          <a:p>
            <a:pPr marL="0" indent="0">
              <a:buNone/>
            </a:pPr>
            <a:r>
              <a:rPr lang="en-US" sz="1100" dirty="0">
                <a:solidFill>
                  <a:srgbClr val="5E5C6A"/>
                </a:solidFill>
                <a:latin typeface="Noto Sans JP" pitchFamily="34" charset="0"/>
                <a:ea typeface="Noto Sans JP" pitchFamily="34" charset="-122"/>
                <a:cs typeface="Noto Sans JP" pitchFamily="34" charset="-120"/>
              </a:rPr>
              <a:t>経理領域の統合DB構造設計と、人事（パトスロゴス）との整合を担保する学園共通マスタ整備を、発注者側PM視点でご支援します。</a:t>
            </a:r>
            <a:endParaRPr lang="en-US" sz="1100" dirty="0"/>
          </a:p>
        </p:txBody>
      </p:sp>
      <p:sp>
        <p:nvSpPr>
          <p:cNvPr id="10" name="Text 6"/>
          <p:cNvSpPr/>
          <p:nvPr/>
        </p:nvSpPr>
        <p:spPr>
          <a:xfrm>
            <a:off x="5166360" y="4389120"/>
            <a:ext cx="3657600" cy="228600"/>
          </a:xfrm>
          <a:prstGeom prst="rect">
            <a:avLst/>
          </a:prstGeom>
          <a:noFill/>
          <a:ln/>
        </p:spPr>
        <p:txBody>
          <a:bodyPr wrap="square" lIns="0" tIns="0" rIns="0" bIns="0" rtlCol="0" anchor="ctr"/>
          <a:lstStyle/>
          <a:p>
            <a:pPr marL="0" indent="0">
              <a:buNone/>
            </a:pPr>
            <a:r>
              <a:rPr lang="en-US" sz="900" dirty="0">
                <a:solidFill>
                  <a:srgbClr val="9B98A6"/>
                </a:solidFill>
                <a:latin typeface="Consolas" pitchFamily="34" charset="0"/>
                <a:ea typeface="Consolas" pitchFamily="34" charset="-122"/>
                <a:cs typeface="Consolas" pitchFamily="34" charset="-120"/>
              </a:rPr>
              <a:t>— スコープ: ご依頼事項 #6〜#7</a:t>
            </a:r>
            <a:endParaRPr lang="en-US" sz="900" dirty="0"/>
          </a:p>
        </p:txBody>
      </p:sp>
      <p:sp>
        <p:nvSpPr>
          <p:cNvPr id="11" name="Text 7"/>
          <p:cNvSpPr/>
          <p:nvPr/>
        </p:nvSpPr>
        <p:spPr>
          <a:xfrm>
            <a:off x="7955280" y="4846320"/>
            <a:ext cx="914400" cy="182880"/>
          </a:xfrm>
          <a:prstGeom prst="rect">
            <a:avLst/>
          </a:prstGeom>
          <a:noFill/>
          <a:ln/>
        </p:spPr>
        <p:txBody>
          <a:bodyPr wrap="square" lIns="0" tIns="0" rIns="0" bIns="0" rtlCol="0" anchor="ctr"/>
          <a:lstStyle/>
          <a:p>
            <a:pPr marL="0" indent="0" algn="r">
              <a:buNone/>
            </a:pPr>
            <a:r>
              <a:rPr lang="en-US" sz="800" dirty="0">
                <a:solidFill>
                  <a:srgbClr val="9B98A6"/>
                </a:solidFill>
                <a:latin typeface="Consolas" pitchFamily="34" charset="0"/>
                <a:ea typeface="Consolas" pitchFamily="34" charset="-122"/>
                <a:cs typeface="Consolas" pitchFamily="34" charset="-120"/>
              </a:rPr>
              <a:t>06 / 18</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marL="0" indent="0">
              <a:buNone/>
            </a:pPr>
            <a:r>
              <a:rPr lang="en-US" sz="800" kern="0" spc="200" dirty="0">
                <a:solidFill>
                  <a:srgbClr val="9B98A6"/>
                </a:solidFill>
                <a:latin typeface="Consolas" pitchFamily="34" charset="0"/>
                <a:ea typeface="Consolas" pitchFamily="34" charset="-122"/>
                <a:cs typeface="Consolas" pitchFamily="34" charset="-120"/>
              </a:rPr>
              <a:t>CONTENT ／ 03</a:t>
            </a:r>
            <a:endParaRPr lang="en-US" sz="800" dirty="0"/>
          </a:p>
        </p:txBody>
      </p:sp>
      <p:sp>
        <p:nvSpPr>
          <p:cNvPr id="3" name="Shape 1"/>
          <p:cNvSpPr/>
          <p:nvPr/>
        </p:nvSpPr>
        <p:spPr>
          <a:xfrm>
            <a:off x="228600" y="320040"/>
            <a:ext cx="64008" cy="64008"/>
          </a:xfrm>
          <a:prstGeom prst="ellipse">
            <a:avLst/>
          </a:prstGeom>
          <a:solidFill>
            <a:srgbClr val="8B7AB8"/>
          </a:solidFill>
          <a:ln/>
        </p:spPr>
        <p:txBody>
          <a:bodyPr/>
          <a:lstStyle/>
          <a:p>
            <a:endParaRPr lang="ja-JP" altLang="en-US"/>
          </a:p>
        </p:txBody>
      </p:sp>
      <p:pic>
        <p:nvPicPr>
          <p:cNvPr id="4" name="Image 0" descr="logo-horizontal.png"/>
          <p:cNvPicPr>
            <a:picLocks noChangeAspect="1"/>
          </p:cNvPicPr>
          <p:nvPr/>
        </p:nvPicPr>
        <p:blipFill>
          <a:blip r:embed="rId2"/>
          <a:stretch>
            <a:fillRect/>
          </a:stretch>
        </p:blipFill>
        <p:spPr>
          <a:xfrm>
            <a:off x="6492240" y="274320"/>
            <a:ext cx="2286000" cy="603504"/>
          </a:xfrm>
          <a:prstGeom prst="rect">
            <a:avLst/>
          </a:prstGeom>
        </p:spPr>
      </p:pic>
      <p:sp>
        <p:nvSpPr>
          <p:cNvPr id="5" name="Text 2"/>
          <p:cNvSpPr/>
          <p:nvPr/>
        </p:nvSpPr>
        <p:spPr>
          <a:xfrm>
            <a:off x="365760" y="960120"/>
            <a:ext cx="1097280" cy="365760"/>
          </a:xfrm>
          <a:prstGeom prst="rect">
            <a:avLst/>
          </a:prstGeom>
          <a:noFill/>
          <a:ln/>
        </p:spPr>
        <p:txBody>
          <a:bodyPr wrap="square" lIns="0" tIns="0" rIns="0" bIns="0" rtlCol="0" anchor="ctr"/>
          <a:lstStyle/>
          <a:p>
            <a:pPr marL="0" indent="0">
              <a:buNone/>
            </a:pPr>
            <a:r>
              <a:rPr lang="en-US" sz="900" kern="0" spc="400" dirty="0">
                <a:solidFill>
                  <a:srgbClr val="8B7AB8"/>
                </a:solidFill>
                <a:latin typeface="Consolas" pitchFamily="34" charset="0"/>
                <a:ea typeface="Consolas" pitchFamily="34" charset="-122"/>
                <a:cs typeface="Consolas" pitchFamily="34" charset="-120"/>
              </a:rPr>
              <a:t>03 / DB</a:t>
            </a:r>
            <a:endParaRPr lang="en-US" sz="900" dirty="0"/>
          </a:p>
        </p:txBody>
      </p:sp>
      <p:sp>
        <p:nvSpPr>
          <p:cNvPr id="6" name="Text 3"/>
          <p:cNvSpPr/>
          <p:nvPr/>
        </p:nvSpPr>
        <p:spPr>
          <a:xfrm>
            <a:off x="1463040" y="914400"/>
            <a:ext cx="7315200" cy="457200"/>
          </a:xfrm>
          <a:prstGeom prst="rect">
            <a:avLst/>
          </a:prstGeom>
          <a:noFill/>
          <a:ln/>
        </p:spPr>
        <p:txBody>
          <a:bodyPr wrap="square" lIns="0" tIns="0" rIns="0" bIns="0" rtlCol="0" anchor="ctr"/>
          <a:lstStyle/>
          <a:p>
            <a:pPr marL="0" indent="0">
              <a:buNone/>
            </a:pPr>
            <a:r>
              <a:rPr lang="en-US" sz="2200" b="1" dirty="0">
                <a:solidFill>
                  <a:srgbClr val="3A3A42"/>
                </a:solidFill>
                <a:latin typeface="Noto Sans JP" pitchFamily="34" charset="0"/>
                <a:ea typeface="Noto Sans JP" pitchFamily="34" charset="-122"/>
                <a:cs typeface="Noto Sans JP" pitchFamily="34" charset="-120"/>
              </a:rPr>
              <a:t>統合DB（経理領域）構造設計</a:t>
            </a:r>
            <a:endParaRPr lang="en-US" sz="2200" dirty="0"/>
          </a:p>
        </p:txBody>
      </p:sp>
      <p:sp>
        <p:nvSpPr>
          <p:cNvPr id="7" name="Shape 4"/>
          <p:cNvSpPr/>
          <p:nvPr/>
        </p:nvSpPr>
        <p:spPr>
          <a:xfrm>
            <a:off x="365760" y="1417320"/>
            <a:ext cx="8412480" cy="0"/>
          </a:xfrm>
          <a:prstGeom prst="line">
            <a:avLst/>
          </a:prstGeom>
          <a:noFill/>
          <a:ln w="6350">
            <a:solidFill>
              <a:srgbClr val="E8E6EC"/>
            </a:solidFill>
            <a:prstDash val="solid"/>
          </a:ln>
        </p:spPr>
        <p:txBody>
          <a:bodyPr/>
          <a:lstStyle/>
          <a:p>
            <a:endParaRPr lang="ja-JP" altLang="en-US"/>
          </a:p>
        </p:txBody>
      </p:sp>
      <p:sp>
        <p:nvSpPr>
          <p:cNvPr id="10" name="Text 7"/>
          <p:cNvSpPr/>
          <p:nvPr/>
        </p:nvSpPr>
        <p:spPr>
          <a:xfrm>
            <a:off x="7955280" y="4846320"/>
            <a:ext cx="914400" cy="182880"/>
          </a:xfrm>
          <a:prstGeom prst="rect">
            <a:avLst/>
          </a:prstGeom>
          <a:noFill/>
          <a:ln/>
        </p:spPr>
        <p:txBody>
          <a:bodyPr wrap="square" lIns="0" tIns="0" rIns="0" bIns="0" rtlCol="0" anchor="ctr"/>
          <a:lstStyle/>
          <a:p>
            <a:pPr marL="0" indent="0" algn="r">
              <a:buNone/>
            </a:pPr>
            <a:r>
              <a:rPr lang="en-US" sz="800" dirty="0">
                <a:solidFill>
                  <a:srgbClr val="9B98A6"/>
                </a:solidFill>
                <a:latin typeface="Consolas" pitchFamily="34" charset="0"/>
                <a:ea typeface="Consolas" pitchFamily="34" charset="-122"/>
                <a:cs typeface="Consolas" pitchFamily="34" charset="-120"/>
              </a:rPr>
              <a:t>07 / 18</a:t>
            </a:r>
            <a:endParaRPr lang="en-US" sz="800" dirty="0"/>
          </a:p>
        </p:txBody>
      </p:sp>
      <p:sp>
        <p:nvSpPr>
          <p:cNvPr id="100" name="l_title"/>
          <p:cNvSpPr/>
          <p:nvPr/>
        </p:nvSpPr>
        <p:spPr>
          <a:xfrm>
            <a:off x="365760" y="1600200"/>
            <a:ext cx="4114800" cy="274320"/>
          </a:xfrm>
          <a:prstGeom prst="rect">
            <a:avLst/>
          </a:prstGeom>
          <a:noFill/>
          <a:ln/>
        </p:spPr>
        <p:txBody>
          <a:bodyPr wrap="square" lIns="0" tIns="0" rIns="0" bIns="0" rtlCol="0"/>
          <a:lstStyle/>
          <a:p>
            <a:pPr marL="0" indent="0">
              <a:buNone/>
            </a:pPr>
            <a:r>
              <a:rPr lang="ja-JP" sz="1200" b="1" dirty="0">
                <a:solidFill>
                  <a:srgbClr val="3A3A42"/>
                </a:solidFill>
                <a:latin typeface="Noto Sans JP"/>
                <a:ea typeface="Noto Sans JP"/>
                <a:cs typeface="Noto Sans JP"/>
              </a:rPr>
              <a:t>本プロジェクトのねらい</a:t>
            </a:r>
          </a:p>
        </p:txBody>
      </p:sp>
      <p:sp>
        <p:nvSpPr>
          <p:cNvPr id="101" name="l_line"/>
          <p:cNvSpPr/>
          <p:nvPr/>
        </p:nvSpPr>
        <p:spPr>
          <a:xfrm>
            <a:off x="365760" y="1947672"/>
            <a:ext cx="4114800" cy="0"/>
          </a:xfrm>
          <a:prstGeom prst="line">
            <a:avLst/>
          </a:prstGeom>
          <a:noFill/>
          <a:ln w="19050">
            <a:solidFill>
              <a:srgbClr val="8B7AB8"/>
            </a:solidFill>
            <a:prstDash val="solid"/>
          </a:ln>
        </p:spPr>
        <p:txBody>
          <a:bodyPr/>
          <a:lstStyle/>
          <a:p>
            <a:endParaRPr lang="ja-JP" altLang="en-US"/>
          </a:p>
        </p:txBody>
      </p:sp>
      <p:sp>
        <p:nvSpPr>
          <p:cNvPr id="102" name="aim_n_0"/>
          <p:cNvSpPr/>
          <p:nvPr/>
        </p:nvSpPr>
        <p:spPr>
          <a:xfrm>
            <a:off x="365760" y="2148840"/>
            <a:ext cx="411480" cy="411480"/>
          </a:xfrm>
          <a:prstGeom prst="rect">
            <a:avLst/>
          </a:prstGeom>
          <a:solidFill>
            <a:srgbClr val="8B7AB8"/>
          </a:solidFill>
          <a:ln/>
        </p:spPr>
        <p:txBody>
          <a:bodyPr/>
          <a:lstStyle/>
          <a:p>
            <a:endParaRPr lang="ja-JP" altLang="en-US"/>
          </a:p>
        </p:txBody>
      </p:sp>
      <p:sp>
        <p:nvSpPr>
          <p:cNvPr id="103" name="aim_n_tx_0"/>
          <p:cNvSpPr/>
          <p:nvPr/>
        </p:nvSpPr>
        <p:spPr>
          <a:xfrm>
            <a:off x="365760" y="2148840"/>
            <a:ext cx="411480" cy="411480"/>
          </a:xfrm>
          <a:prstGeom prst="rect">
            <a:avLst/>
          </a:prstGeom>
          <a:noFill/>
          <a:ln/>
        </p:spPr>
        <p:txBody>
          <a:bodyPr wrap="square" lIns="0" tIns="0" rIns="0" bIns="0" rtlCol="0" anchor="ctr"/>
          <a:lstStyle/>
          <a:p>
            <a:pPr marL="0" indent="0" algn="ctr">
              <a:buNone/>
            </a:pPr>
            <a:r>
              <a:rPr lang="ja-JP" sz="1100" b="1" dirty="0">
                <a:solidFill>
                  <a:srgbClr val="FFFFFF"/>
                </a:solidFill>
                <a:latin typeface="Consolas"/>
                <a:ea typeface="Consolas"/>
                <a:cs typeface="Consolas"/>
              </a:rPr>
              <a:t>01</a:t>
            </a:r>
          </a:p>
        </p:txBody>
      </p:sp>
      <p:sp>
        <p:nvSpPr>
          <p:cNvPr id="104" name="aim_h_0"/>
          <p:cNvSpPr/>
          <p:nvPr/>
        </p:nvSpPr>
        <p:spPr>
          <a:xfrm>
            <a:off x="914400" y="2148840"/>
            <a:ext cx="3566160" cy="274320"/>
          </a:xfrm>
          <a:prstGeom prst="rect">
            <a:avLst/>
          </a:prstGeom>
          <a:noFill/>
          <a:ln/>
        </p:spPr>
        <p:txBody>
          <a:bodyPr wrap="square" lIns="0" tIns="0" rIns="0" bIns="0" rtlCol="0"/>
          <a:lstStyle/>
          <a:p>
            <a:pPr marL="0" indent="0">
              <a:buNone/>
            </a:pPr>
            <a:r>
              <a:rPr lang="ja-JP" sz="1100" b="1" dirty="0">
                <a:solidFill>
                  <a:srgbClr val="3A3A42"/>
                </a:solidFill>
                <a:latin typeface="Noto Sans JP"/>
                <a:ea typeface="Noto Sans JP"/>
                <a:cs typeface="Noto Sans JP"/>
              </a:rPr>
              <a:t>業務要件 → DB構造への翻訳</a:t>
            </a:r>
          </a:p>
        </p:txBody>
      </p:sp>
      <p:sp>
        <p:nvSpPr>
          <p:cNvPr id="105" name="aim_d_0"/>
          <p:cNvSpPr/>
          <p:nvPr/>
        </p:nvSpPr>
        <p:spPr>
          <a:xfrm>
            <a:off x="914400" y="2441448"/>
            <a:ext cx="3566160" cy="457200"/>
          </a:xfrm>
          <a:prstGeom prst="rect">
            <a:avLst/>
          </a:prstGeom>
          <a:noFill/>
          <a:ln/>
        </p:spPr>
        <p:txBody>
          <a:bodyPr wrap="square" lIns="0" tIns="0" rIns="0" bIns="0" rtlCol="0"/>
          <a:lstStyle/>
          <a:p>
            <a:pPr marL="0" indent="0">
              <a:lnSpc>
                <a:spcPct val="120000"/>
              </a:lnSpc>
              <a:buNone/>
            </a:pPr>
            <a:r>
              <a:rPr lang="ja-JP" sz="900" dirty="0">
                <a:solidFill>
                  <a:srgbClr val="5E5C6A"/>
                </a:solidFill>
                <a:latin typeface="Noto Sans JP"/>
                <a:ea typeface="Noto Sans JP"/>
                <a:cs typeface="Noto Sans JP"/>
              </a:rPr>
              <a:t>エデュース社の業務要件定義と並走し、発注者側でDB設計をコントロール</a:t>
            </a:r>
          </a:p>
        </p:txBody>
      </p:sp>
      <p:sp>
        <p:nvSpPr>
          <p:cNvPr id="106" name="aim_n_1"/>
          <p:cNvSpPr/>
          <p:nvPr/>
        </p:nvSpPr>
        <p:spPr>
          <a:xfrm>
            <a:off x="365760" y="2953512"/>
            <a:ext cx="411480" cy="411480"/>
          </a:xfrm>
          <a:prstGeom prst="rect">
            <a:avLst/>
          </a:prstGeom>
          <a:solidFill>
            <a:srgbClr val="8B7AB8"/>
          </a:solidFill>
          <a:ln/>
        </p:spPr>
        <p:txBody>
          <a:bodyPr/>
          <a:lstStyle/>
          <a:p>
            <a:endParaRPr lang="ja-JP" altLang="en-US"/>
          </a:p>
        </p:txBody>
      </p:sp>
      <p:sp>
        <p:nvSpPr>
          <p:cNvPr id="107" name="aim_n_tx_1"/>
          <p:cNvSpPr/>
          <p:nvPr/>
        </p:nvSpPr>
        <p:spPr>
          <a:xfrm>
            <a:off x="365760" y="2953512"/>
            <a:ext cx="411480" cy="411480"/>
          </a:xfrm>
          <a:prstGeom prst="rect">
            <a:avLst/>
          </a:prstGeom>
          <a:noFill/>
          <a:ln/>
        </p:spPr>
        <p:txBody>
          <a:bodyPr wrap="square" lIns="0" tIns="0" rIns="0" bIns="0" rtlCol="0" anchor="ctr"/>
          <a:lstStyle/>
          <a:p>
            <a:pPr marL="0" indent="0" algn="ctr">
              <a:buNone/>
            </a:pPr>
            <a:r>
              <a:rPr lang="ja-JP" sz="1100" b="1" dirty="0">
                <a:solidFill>
                  <a:srgbClr val="FFFFFF"/>
                </a:solidFill>
                <a:latin typeface="Consolas"/>
                <a:ea typeface="Consolas"/>
                <a:cs typeface="Consolas"/>
              </a:rPr>
              <a:t>02</a:t>
            </a:r>
          </a:p>
        </p:txBody>
      </p:sp>
      <p:sp>
        <p:nvSpPr>
          <p:cNvPr id="108" name="aim_h_1"/>
          <p:cNvSpPr/>
          <p:nvPr/>
        </p:nvSpPr>
        <p:spPr>
          <a:xfrm>
            <a:off x="914400" y="2953512"/>
            <a:ext cx="3566160" cy="274320"/>
          </a:xfrm>
          <a:prstGeom prst="rect">
            <a:avLst/>
          </a:prstGeom>
          <a:noFill/>
          <a:ln/>
        </p:spPr>
        <p:txBody>
          <a:bodyPr wrap="square" lIns="0" tIns="0" rIns="0" bIns="0" rtlCol="0"/>
          <a:lstStyle/>
          <a:p>
            <a:pPr marL="0" indent="0">
              <a:buNone/>
            </a:pPr>
            <a:r>
              <a:rPr lang="ja-JP" sz="1100" b="1" dirty="0">
                <a:solidFill>
                  <a:srgbClr val="3A3A42"/>
                </a:solidFill>
                <a:latin typeface="Noto Sans JP"/>
                <a:ea typeface="Noto Sans JP"/>
                <a:cs typeface="Noto Sans JP"/>
              </a:rPr>
              <a:t>学園全体で単一のコード体系</a:t>
            </a:r>
          </a:p>
        </p:txBody>
      </p:sp>
      <p:sp>
        <p:nvSpPr>
          <p:cNvPr id="109" name="aim_d_1"/>
          <p:cNvSpPr/>
          <p:nvPr/>
        </p:nvSpPr>
        <p:spPr>
          <a:xfrm>
            <a:off x="914400" y="3246120"/>
            <a:ext cx="3566160" cy="457200"/>
          </a:xfrm>
          <a:prstGeom prst="rect">
            <a:avLst/>
          </a:prstGeom>
          <a:noFill/>
          <a:ln/>
        </p:spPr>
        <p:txBody>
          <a:bodyPr wrap="square" lIns="0" tIns="0" rIns="0" bIns="0" rtlCol="0"/>
          <a:lstStyle/>
          <a:p>
            <a:pPr marL="0" indent="0">
              <a:lnSpc>
                <a:spcPct val="120000"/>
              </a:lnSpc>
              <a:buNone/>
            </a:pPr>
            <a:r>
              <a:rPr lang="ja-JP" sz="900" dirty="0">
                <a:solidFill>
                  <a:srgbClr val="5E5C6A"/>
                </a:solidFill>
                <a:latin typeface="Noto Sans JP"/>
                <a:ea typeface="Noto Sans JP"/>
                <a:cs typeface="Noto Sans JP"/>
              </a:rPr>
              <a:t>人事（パトスロゴス）とのマスタ整合性を確保し、横串の分析基盤を実現</a:t>
            </a:r>
          </a:p>
        </p:txBody>
      </p:sp>
      <p:sp>
        <p:nvSpPr>
          <p:cNvPr id="110" name="aim_n_2"/>
          <p:cNvSpPr/>
          <p:nvPr/>
        </p:nvSpPr>
        <p:spPr>
          <a:xfrm>
            <a:off x="365760" y="3758184"/>
            <a:ext cx="411480" cy="411480"/>
          </a:xfrm>
          <a:prstGeom prst="rect">
            <a:avLst/>
          </a:prstGeom>
          <a:solidFill>
            <a:srgbClr val="8B7AB8"/>
          </a:solidFill>
          <a:ln/>
        </p:spPr>
        <p:txBody>
          <a:bodyPr/>
          <a:lstStyle/>
          <a:p>
            <a:endParaRPr lang="ja-JP" altLang="en-US"/>
          </a:p>
        </p:txBody>
      </p:sp>
      <p:sp>
        <p:nvSpPr>
          <p:cNvPr id="111" name="aim_n_tx_2"/>
          <p:cNvSpPr/>
          <p:nvPr/>
        </p:nvSpPr>
        <p:spPr>
          <a:xfrm>
            <a:off x="365760" y="3758184"/>
            <a:ext cx="411480" cy="411480"/>
          </a:xfrm>
          <a:prstGeom prst="rect">
            <a:avLst/>
          </a:prstGeom>
          <a:noFill/>
          <a:ln/>
        </p:spPr>
        <p:txBody>
          <a:bodyPr wrap="square" lIns="0" tIns="0" rIns="0" bIns="0" rtlCol="0" anchor="ctr"/>
          <a:lstStyle/>
          <a:p>
            <a:pPr marL="0" indent="0" algn="ctr">
              <a:buNone/>
            </a:pPr>
            <a:r>
              <a:rPr lang="ja-JP" sz="1100" b="1" dirty="0">
                <a:solidFill>
                  <a:srgbClr val="FFFFFF"/>
                </a:solidFill>
                <a:latin typeface="Consolas"/>
                <a:ea typeface="Consolas"/>
                <a:cs typeface="Consolas"/>
              </a:rPr>
              <a:t>03</a:t>
            </a:r>
          </a:p>
        </p:txBody>
      </p:sp>
      <p:sp>
        <p:nvSpPr>
          <p:cNvPr id="112" name="aim_h_2"/>
          <p:cNvSpPr/>
          <p:nvPr/>
        </p:nvSpPr>
        <p:spPr>
          <a:xfrm>
            <a:off x="914400" y="3758184"/>
            <a:ext cx="3566160" cy="274320"/>
          </a:xfrm>
          <a:prstGeom prst="rect">
            <a:avLst/>
          </a:prstGeom>
          <a:noFill/>
          <a:ln/>
        </p:spPr>
        <p:txBody>
          <a:bodyPr wrap="square" lIns="0" tIns="0" rIns="0" bIns="0" rtlCol="0"/>
          <a:lstStyle/>
          <a:p>
            <a:pPr marL="0" indent="0">
              <a:buNone/>
            </a:pPr>
            <a:r>
              <a:rPr lang="ja-JP" sz="1100" b="1" dirty="0">
                <a:solidFill>
                  <a:srgbClr val="3A3A42"/>
                </a:solidFill>
                <a:latin typeface="Noto Sans JP"/>
                <a:ea typeface="Noto Sans JP"/>
                <a:cs typeface="Noto Sans JP"/>
              </a:rPr>
              <a:t>将来の分析・BI・AI活用を見据える</a:t>
            </a:r>
          </a:p>
        </p:txBody>
      </p:sp>
      <p:sp>
        <p:nvSpPr>
          <p:cNvPr id="113" name="aim_d_2"/>
          <p:cNvSpPr/>
          <p:nvPr/>
        </p:nvSpPr>
        <p:spPr>
          <a:xfrm>
            <a:off x="914400" y="4050792"/>
            <a:ext cx="3566160" cy="457200"/>
          </a:xfrm>
          <a:prstGeom prst="rect">
            <a:avLst/>
          </a:prstGeom>
          <a:noFill/>
          <a:ln/>
        </p:spPr>
        <p:txBody>
          <a:bodyPr wrap="square" lIns="0" tIns="0" rIns="0" bIns="0" rtlCol="0"/>
          <a:lstStyle/>
          <a:p>
            <a:pPr marL="0" indent="0">
              <a:lnSpc>
                <a:spcPct val="120000"/>
              </a:lnSpc>
              <a:buNone/>
            </a:pPr>
            <a:r>
              <a:rPr lang="ja-JP" sz="900" dirty="0">
                <a:solidFill>
                  <a:srgbClr val="5E5C6A"/>
                </a:solidFill>
                <a:latin typeface="Noto Sans JP"/>
                <a:ea typeface="Noto Sans JP"/>
                <a:cs typeface="Noto Sans JP"/>
              </a:rPr>
              <a:t>拡張性のあるDB設計で、5〜10年先まで活かせるデータ基盤を構築</a:t>
            </a:r>
          </a:p>
        </p:txBody>
      </p:sp>
      <p:sp>
        <p:nvSpPr>
          <p:cNvPr id="114" name="r_title"/>
          <p:cNvSpPr/>
          <p:nvPr/>
        </p:nvSpPr>
        <p:spPr>
          <a:xfrm>
            <a:off x="4663440" y="1600200"/>
            <a:ext cx="4114800" cy="274320"/>
          </a:xfrm>
          <a:prstGeom prst="rect">
            <a:avLst/>
          </a:prstGeom>
          <a:noFill/>
          <a:ln/>
        </p:spPr>
        <p:txBody>
          <a:bodyPr wrap="square" lIns="0" tIns="0" rIns="0" bIns="0" rtlCol="0"/>
          <a:lstStyle/>
          <a:p>
            <a:pPr marL="0" indent="0">
              <a:buNone/>
            </a:pPr>
            <a:r>
              <a:rPr lang="ja-JP" sz="1200" b="1" dirty="0">
                <a:solidFill>
                  <a:srgbClr val="3A3A42"/>
                </a:solidFill>
                <a:latin typeface="Noto Sans JP"/>
                <a:ea typeface="Noto Sans JP"/>
                <a:cs typeface="Noto Sans JP"/>
              </a:rPr>
              <a:t>主要成果物</a:t>
            </a:r>
          </a:p>
        </p:txBody>
      </p:sp>
      <p:sp>
        <p:nvSpPr>
          <p:cNvPr id="115" name="r_line"/>
          <p:cNvSpPr/>
          <p:nvPr/>
        </p:nvSpPr>
        <p:spPr>
          <a:xfrm>
            <a:off x="4663440" y="1947672"/>
            <a:ext cx="4114800" cy="0"/>
          </a:xfrm>
          <a:prstGeom prst="line">
            <a:avLst/>
          </a:prstGeom>
          <a:noFill/>
          <a:ln w="19050">
            <a:solidFill>
              <a:srgbClr val="8B7AB8"/>
            </a:solidFill>
            <a:prstDash val="solid"/>
          </a:ln>
        </p:spPr>
        <p:txBody>
          <a:bodyPr/>
          <a:lstStyle/>
          <a:p>
            <a:endParaRPr lang="ja-JP" altLang="en-US"/>
          </a:p>
        </p:txBody>
      </p:sp>
      <p:sp>
        <p:nvSpPr>
          <p:cNvPr id="116" name="del_b_0"/>
          <p:cNvSpPr/>
          <p:nvPr/>
        </p:nvSpPr>
        <p:spPr>
          <a:xfrm>
            <a:off x="4663440" y="2203704"/>
            <a:ext cx="164592" cy="164592"/>
          </a:xfrm>
          <a:prstGeom prst="rect">
            <a:avLst/>
          </a:prstGeom>
          <a:solidFill>
            <a:srgbClr val="8B7AB8"/>
          </a:solidFill>
          <a:ln/>
        </p:spPr>
        <p:txBody>
          <a:bodyPr/>
          <a:lstStyle/>
          <a:p>
            <a:endParaRPr lang="ja-JP" altLang="en-US"/>
          </a:p>
        </p:txBody>
      </p:sp>
      <p:sp>
        <p:nvSpPr>
          <p:cNvPr id="117" name="del_t_0"/>
          <p:cNvSpPr/>
          <p:nvPr/>
        </p:nvSpPr>
        <p:spPr>
          <a:xfrm>
            <a:off x="4937760" y="2148840"/>
            <a:ext cx="3840480" cy="274320"/>
          </a:xfrm>
          <a:prstGeom prst="rect">
            <a:avLst/>
          </a:prstGeom>
          <a:noFill/>
          <a:ln/>
        </p:spPr>
        <p:txBody>
          <a:bodyPr wrap="square" lIns="0" tIns="0" rIns="0" bIns="0" rtlCol="0" anchor="ctr"/>
          <a:lstStyle/>
          <a:p>
            <a:pPr marL="0" indent="0">
              <a:buNone/>
            </a:pPr>
            <a:r>
              <a:rPr lang="ja-JP" sz="950" dirty="0">
                <a:solidFill>
                  <a:srgbClr val="3A3A42"/>
                </a:solidFill>
                <a:latin typeface="Noto Sans JP"/>
                <a:ea typeface="Noto Sans JP"/>
                <a:cs typeface="Noto Sans JP"/>
              </a:rPr>
              <a:t>統合DB構造設計提案書（論理／物理モデル／ER図）</a:t>
            </a:r>
          </a:p>
        </p:txBody>
      </p:sp>
      <p:sp>
        <p:nvSpPr>
          <p:cNvPr id="118" name="del_b_1"/>
          <p:cNvSpPr/>
          <p:nvPr/>
        </p:nvSpPr>
        <p:spPr>
          <a:xfrm>
            <a:off x="4663440" y="2551176"/>
            <a:ext cx="164592" cy="164592"/>
          </a:xfrm>
          <a:prstGeom prst="rect">
            <a:avLst/>
          </a:prstGeom>
          <a:solidFill>
            <a:srgbClr val="8B7AB8"/>
          </a:solidFill>
          <a:ln/>
        </p:spPr>
        <p:txBody>
          <a:bodyPr/>
          <a:lstStyle/>
          <a:p>
            <a:endParaRPr lang="ja-JP" altLang="en-US"/>
          </a:p>
        </p:txBody>
      </p:sp>
      <p:sp>
        <p:nvSpPr>
          <p:cNvPr id="119" name="del_t_1"/>
          <p:cNvSpPr/>
          <p:nvPr/>
        </p:nvSpPr>
        <p:spPr>
          <a:xfrm>
            <a:off x="4937760" y="2496312"/>
            <a:ext cx="3840480" cy="274320"/>
          </a:xfrm>
          <a:prstGeom prst="rect">
            <a:avLst/>
          </a:prstGeom>
          <a:noFill/>
          <a:ln/>
        </p:spPr>
        <p:txBody>
          <a:bodyPr wrap="square" lIns="0" tIns="0" rIns="0" bIns="0" rtlCol="0" anchor="ctr"/>
          <a:lstStyle/>
          <a:p>
            <a:pPr marL="0" indent="0">
              <a:buNone/>
            </a:pPr>
            <a:r>
              <a:rPr lang="ja-JP" sz="950" dirty="0">
                <a:solidFill>
                  <a:srgbClr val="3A3A42"/>
                </a:solidFill>
                <a:latin typeface="Noto Sans JP"/>
                <a:ea typeface="Noto Sans JP"/>
                <a:cs typeface="Noto Sans JP"/>
              </a:rPr>
              <a:t>クラウド・アーキテクチャ提案書（AWS/GCP/Azure比較・コスト試算）</a:t>
            </a:r>
          </a:p>
        </p:txBody>
      </p:sp>
      <p:sp>
        <p:nvSpPr>
          <p:cNvPr id="120" name="del_b_2"/>
          <p:cNvSpPr/>
          <p:nvPr/>
        </p:nvSpPr>
        <p:spPr>
          <a:xfrm>
            <a:off x="4663440" y="2898648"/>
            <a:ext cx="164592" cy="164592"/>
          </a:xfrm>
          <a:prstGeom prst="rect">
            <a:avLst/>
          </a:prstGeom>
          <a:solidFill>
            <a:srgbClr val="8B7AB8"/>
          </a:solidFill>
          <a:ln/>
        </p:spPr>
        <p:txBody>
          <a:bodyPr/>
          <a:lstStyle/>
          <a:p>
            <a:endParaRPr lang="ja-JP" altLang="en-US"/>
          </a:p>
        </p:txBody>
      </p:sp>
      <p:sp>
        <p:nvSpPr>
          <p:cNvPr id="121" name="del_t_2"/>
          <p:cNvSpPr/>
          <p:nvPr/>
        </p:nvSpPr>
        <p:spPr>
          <a:xfrm>
            <a:off x="4937760" y="2843784"/>
            <a:ext cx="3840480" cy="274320"/>
          </a:xfrm>
          <a:prstGeom prst="rect">
            <a:avLst/>
          </a:prstGeom>
          <a:noFill/>
          <a:ln/>
        </p:spPr>
        <p:txBody>
          <a:bodyPr wrap="square" lIns="0" tIns="0" rIns="0" bIns="0" rtlCol="0" anchor="ctr"/>
          <a:lstStyle/>
          <a:p>
            <a:pPr marL="0" indent="0">
              <a:buNone/>
            </a:pPr>
            <a:r>
              <a:rPr lang="ja-JP" sz="950" dirty="0">
                <a:solidFill>
                  <a:srgbClr val="3A3A42"/>
                </a:solidFill>
                <a:latin typeface="Noto Sans JP"/>
                <a:ea typeface="Noto Sans JP"/>
                <a:cs typeface="Noto Sans JP"/>
              </a:rPr>
              <a:t>データガバナンス運用ルール案</a:t>
            </a:r>
          </a:p>
        </p:txBody>
      </p:sp>
      <p:sp>
        <p:nvSpPr>
          <p:cNvPr id="122" name="del_b_3"/>
          <p:cNvSpPr/>
          <p:nvPr/>
        </p:nvSpPr>
        <p:spPr>
          <a:xfrm>
            <a:off x="4663440" y="3246120"/>
            <a:ext cx="164592" cy="164592"/>
          </a:xfrm>
          <a:prstGeom prst="rect">
            <a:avLst/>
          </a:prstGeom>
          <a:solidFill>
            <a:srgbClr val="8B7AB8"/>
          </a:solidFill>
          <a:ln/>
        </p:spPr>
        <p:txBody>
          <a:bodyPr/>
          <a:lstStyle/>
          <a:p>
            <a:endParaRPr lang="ja-JP" altLang="en-US"/>
          </a:p>
        </p:txBody>
      </p:sp>
      <p:sp>
        <p:nvSpPr>
          <p:cNvPr id="123" name="del_t_3"/>
          <p:cNvSpPr/>
          <p:nvPr/>
        </p:nvSpPr>
        <p:spPr>
          <a:xfrm>
            <a:off x="4937760" y="3191256"/>
            <a:ext cx="3840480" cy="274320"/>
          </a:xfrm>
          <a:prstGeom prst="rect">
            <a:avLst/>
          </a:prstGeom>
          <a:noFill/>
          <a:ln/>
        </p:spPr>
        <p:txBody>
          <a:bodyPr wrap="square" lIns="0" tIns="0" rIns="0" bIns="0" rtlCol="0" anchor="ctr"/>
          <a:lstStyle/>
          <a:p>
            <a:pPr marL="0" indent="0">
              <a:buNone/>
            </a:pPr>
            <a:r>
              <a:rPr lang="ja-JP" sz="950" dirty="0">
                <a:solidFill>
                  <a:srgbClr val="3A3A42"/>
                </a:solidFill>
                <a:latin typeface="Noto Sans JP"/>
                <a:ea typeface="Noto Sans JP"/>
                <a:cs typeface="Noto Sans JP"/>
              </a:rPr>
              <a:t>マスタ連携方式設計（ETL / ELT）</a:t>
            </a:r>
          </a:p>
        </p:txBody>
      </p:sp>
      <p:sp>
        <p:nvSpPr>
          <p:cNvPr id="124" name="cost_bg"/>
          <p:cNvSpPr/>
          <p:nvPr/>
        </p:nvSpPr>
        <p:spPr>
          <a:xfrm>
            <a:off x="4663440" y="3657600"/>
            <a:ext cx="4114800" cy="822960"/>
          </a:xfrm>
          <a:prstGeom prst="rect">
            <a:avLst/>
          </a:prstGeom>
          <a:solidFill>
            <a:srgbClr val="8B7AB8"/>
          </a:solidFill>
          <a:ln/>
        </p:spPr>
        <p:txBody>
          <a:bodyPr/>
          <a:lstStyle/>
          <a:p>
            <a:endParaRPr lang="ja-JP" altLang="en-US"/>
          </a:p>
        </p:txBody>
      </p:sp>
      <p:sp>
        <p:nvSpPr>
          <p:cNvPr id="125" name="cost_l1"/>
          <p:cNvSpPr/>
          <p:nvPr/>
        </p:nvSpPr>
        <p:spPr>
          <a:xfrm>
            <a:off x="4892040" y="3767328"/>
            <a:ext cx="3657600" cy="201168"/>
          </a:xfrm>
          <a:prstGeom prst="rect">
            <a:avLst/>
          </a:prstGeom>
          <a:noFill/>
          <a:ln/>
        </p:spPr>
        <p:txBody>
          <a:bodyPr wrap="square" lIns="0" tIns="0" rIns="0" bIns="0" rtlCol="0"/>
          <a:lstStyle/>
          <a:p>
            <a:pPr marL="0" indent="0">
              <a:buNone/>
            </a:pPr>
            <a:r>
              <a:rPr lang="ja-JP" sz="800" b="1" kern="0" spc="100" dirty="0">
                <a:solidFill>
                  <a:srgbClr val="D9D1E8"/>
                </a:solidFill>
                <a:latin typeface="Consolas"/>
                <a:ea typeface="Consolas"/>
                <a:cs typeface="Consolas"/>
              </a:rPr>
              <a:t>想定期間 / 工数 / 費用（標準シナリオ）</a:t>
            </a:r>
          </a:p>
        </p:txBody>
      </p:sp>
      <p:sp>
        <p:nvSpPr>
          <p:cNvPr id="126" name="cost_l2"/>
          <p:cNvSpPr/>
          <p:nvPr/>
        </p:nvSpPr>
        <p:spPr>
          <a:xfrm>
            <a:off x="4892040" y="4023360"/>
            <a:ext cx="3657600" cy="411480"/>
          </a:xfrm>
          <a:prstGeom prst="rect">
            <a:avLst/>
          </a:prstGeom>
          <a:noFill/>
          <a:ln/>
        </p:spPr>
        <p:txBody>
          <a:bodyPr wrap="square" lIns="0" tIns="0" rIns="0" bIns="0" rtlCol="0"/>
          <a:lstStyle/>
          <a:p>
            <a:pPr marL="0" indent="0">
              <a:buNone/>
            </a:pPr>
            <a:r>
              <a:rPr lang="ja-JP" sz="1300" b="1" dirty="0">
                <a:solidFill>
                  <a:srgbClr val="FFFFFF"/>
                </a:solidFill>
                <a:latin typeface="Noto Sans JP"/>
                <a:ea typeface="Noto Sans JP"/>
                <a:cs typeface="Noto Sans JP"/>
              </a:rPr>
              <a:t>3〜4ヶ月  ／  244h  ／  ¥2,440,000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marL="0" indent="0">
              <a:buNone/>
            </a:pPr>
            <a:r>
              <a:rPr lang="en-US" sz="800" kern="0" spc="200" dirty="0">
                <a:solidFill>
                  <a:srgbClr val="9B98A6"/>
                </a:solidFill>
                <a:latin typeface="Consolas" pitchFamily="34" charset="0"/>
                <a:ea typeface="Consolas" pitchFamily="34" charset="-122"/>
                <a:cs typeface="Consolas" pitchFamily="34" charset="-120"/>
              </a:rPr>
              <a:t>CONTENT ／ 04</a:t>
            </a:r>
            <a:endParaRPr lang="en-US" sz="800" dirty="0"/>
          </a:p>
        </p:txBody>
      </p:sp>
      <p:sp>
        <p:nvSpPr>
          <p:cNvPr id="3" name="Shape 1"/>
          <p:cNvSpPr/>
          <p:nvPr/>
        </p:nvSpPr>
        <p:spPr>
          <a:xfrm>
            <a:off x="228600" y="320040"/>
            <a:ext cx="64008" cy="64008"/>
          </a:xfrm>
          <a:prstGeom prst="ellipse">
            <a:avLst/>
          </a:prstGeom>
          <a:solidFill>
            <a:srgbClr val="8B7AB8"/>
          </a:solidFill>
          <a:ln/>
        </p:spPr>
        <p:txBody>
          <a:bodyPr/>
          <a:lstStyle/>
          <a:p>
            <a:endParaRPr lang="ja-JP" altLang="en-US"/>
          </a:p>
        </p:txBody>
      </p:sp>
      <p:pic>
        <p:nvPicPr>
          <p:cNvPr id="4" name="Image 0" descr="logo-horizontal.png"/>
          <p:cNvPicPr>
            <a:picLocks noChangeAspect="1"/>
          </p:cNvPicPr>
          <p:nvPr/>
        </p:nvPicPr>
        <p:blipFill>
          <a:blip r:embed="rId2"/>
          <a:stretch>
            <a:fillRect/>
          </a:stretch>
        </p:blipFill>
        <p:spPr>
          <a:xfrm>
            <a:off x="6492240" y="274320"/>
            <a:ext cx="2286000" cy="603504"/>
          </a:xfrm>
          <a:prstGeom prst="rect">
            <a:avLst/>
          </a:prstGeom>
        </p:spPr>
      </p:pic>
      <p:sp>
        <p:nvSpPr>
          <p:cNvPr id="5" name="Text 2"/>
          <p:cNvSpPr/>
          <p:nvPr/>
        </p:nvSpPr>
        <p:spPr>
          <a:xfrm>
            <a:off x="365760" y="960120"/>
            <a:ext cx="1097280" cy="365760"/>
          </a:xfrm>
          <a:prstGeom prst="rect">
            <a:avLst/>
          </a:prstGeom>
          <a:noFill/>
          <a:ln/>
        </p:spPr>
        <p:txBody>
          <a:bodyPr wrap="square" lIns="0" tIns="0" rIns="0" bIns="0" rtlCol="0" anchor="ctr"/>
          <a:lstStyle/>
          <a:p>
            <a:pPr marL="0" indent="0">
              <a:buNone/>
            </a:pPr>
            <a:r>
              <a:rPr lang="en-US" sz="900" kern="0" spc="400" dirty="0">
                <a:solidFill>
                  <a:srgbClr val="8B7AB8"/>
                </a:solidFill>
                <a:latin typeface="Consolas" pitchFamily="34" charset="0"/>
                <a:ea typeface="Consolas" pitchFamily="34" charset="-122"/>
                <a:cs typeface="Consolas" pitchFamily="34" charset="-120"/>
              </a:rPr>
              <a:t>04 / DB</a:t>
            </a:r>
            <a:endParaRPr lang="en-US" sz="900" dirty="0"/>
          </a:p>
        </p:txBody>
      </p:sp>
      <p:sp>
        <p:nvSpPr>
          <p:cNvPr id="6" name="Text 3"/>
          <p:cNvSpPr/>
          <p:nvPr/>
        </p:nvSpPr>
        <p:spPr>
          <a:xfrm>
            <a:off x="1463040" y="914400"/>
            <a:ext cx="7315200" cy="457200"/>
          </a:xfrm>
          <a:prstGeom prst="rect">
            <a:avLst/>
          </a:prstGeom>
          <a:noFill/>
          <a:ln/>
        </p:spPr>
        <p:txBody>
          <a:bodyPr wrap="square" lIns="0" tIns="0" rIns="0" bIns="0" rtlCol="0" anchor="ctr"/>
          <a:lstStyle/>
          <a:p>
            <a:pPr marL="0" indent="0">
              <a:buNone/>
            </a:pPr>
            <a:r>
              <a:rPr lang="en-US" sz="2200" b="1" dirty="0">
                <a:solidFill>
                  <a:srgbClr val="3A3A42"/>
                </a:solidFill>
                <a:latin typeface="Noto Sans JP" pitchFamily="34" charset="0"/>
                <a:ea typeface="Noto Sans JP" pitchFamily="34" charset="-122"/>
                <a:cs typeface="Noto Sans JP" pitchFamily="34" charset="-120"/>
              </a:rPr>
              <a:t>学園共通コード（共通マスタ）レビュー</a:t>
            </a:r>
            <a:endParaRPr lang="en-US" sz="2200" dirty="0"/>
          </a:p>
        </p:txBody>
      </p:sp>
      <p:sp>
        <p:nvSpPr>
          <p:cNvPr id="7" name="Shape 4"/>
          <p:cNvSpPr/>
          <p:nvPr/>
        </p:nvSpPr>
        <p:spPr>
          <a:xfrm>
            <a:off x="365760" y="1417320"/>
            <a:ext cx="8412480" cy="0"/>
          </a:xfrm>
          <a:prstGeom prst="line">
            <a:avLst/>
          </a:prstGeom>
          <a:noFill/>
          <a:ln w="6350">
            <a:solidFill>
              <a:srgbClr val="E8E6EC"/>
            </a:solidFill>
            <a:prstDash val="solid"/>
          </a:ln>
        </p:spPr>
        <p:txBody>
          <a:bodyPr/>
          <a:lstStyle/>
          <a:p>
            <a:endParaRPr lang="ja-JP" altLang="en-US"/>
          </a:p>
        </p:txBody>
      </p:sp>
      <p:sp>
        <p:nvSpPr>
          <p:cNvPr id="10" name="Text 7"/>
          <p:cNvSpPr/>
          <p:nvPr/>
        </p:nvSpPr>
        <p:spPr>
          <a:xfrm>
            <a:off x="7955280" y="4846320"/>
            <a:ext cx="914400" cy="182880"/>
          </a:xfrm>
          <a:prstGeom prst="rect">
            <a:avLst/>
          </a:prstGeom>
          <a:noFill/>
          <a:ln/>
        </p:spPr>
        <p:txBody>
          <a:bodyPr wrap="square" lIns="0" tIns="0" rIns="0" bIns="0" rtlCol="0" anchor="ctr"/>
          <a:lstStyle/>
          <a:p>
            <a:pPr marL="0" indent="0" algn="r">
              <a:buNone/>
            </a:pPr>
            <a:r>
              <a:rPr lang="en-US" sz="800" dirty="0">
                <a:solidFill>
                  <a:srgbClr val="9B98A6"/>
                </a:solidFill>
                <a:latin typeface="Consolas" pitchFamily="34" charset="0"/>
                <a:ea typeface="Consolas" pitchFamily="34" charset="-122"/>
                <a:cs typeface="Consolas" pitchFamily="34" charset="-120"/>
              </a:rPr>
              <a:t>08 / 18</a:t>
            </a:r>
            <a:endParaRPr lang="en-US" sz="800" dirty="0"/>
          </a:p>
        </p:txBody>
      </p:sp>
      <p:sp>
        <p:nvSpPr>
          <p:cNvPr id="100" name="mas_title"/>
          <p:cNvSpPr/>
          <p:nvPr/>
        </p:nvSpPr>
        <p:spPr>
          <a:xfrm>
            <a:off x="365760" y="1600200"/>
            <a:ext cx="8412480" cy="274320"/>
          </a:xfrm>
          <a:prstGeom prst="rect">
            <a:avLst/>
          </a:prstGeom>
          <a:noFill/>
          <a:ln/>
        </p:spPr>
        <p:txBody>
          <a:bodyPr wrap="square" lIns="0" tIns="0" rIns="0" bIns="0" rtlCol="0"/>
          <a:lstStyle/>
          <a:p>
            <a:pPr marL="0" indent="0">
              <a:buNone/>
            </a:pPr>
            <a:r>
              <a:rPr lang="ja-JP" sz="1200" b="1" dirty="0">
                <a:solidFill>
                  <a:srgbClr val="3A3A42"/>
                </a:solidFill>
                <a:latin typeface="Noto Sans JP"/>
                <a:ea typeface="Noto Sans JP"/>
                <a:cs typeface="Noto Sans JP"/>
              </a:rPr>
              <a:t>レビュー対象の主要マスタ</a:t>
            </a:r>
          </a:p>
        </p:txBody>
      </p:sp>
      <p:sp>
        <p:nvSpPr>
          <p:cNvPr id="101" name="mas_line"/>
          <p:cNvSpPr/>
          <p:nvPr/>
        </p:nvSpPr>
        <p:spPr>
          <a:xfrm>
            <a:off x="365760" y="1947672"/>
            <a:ext cx="8412480" cy="0"/>
          </a:xfrm>
          <a:prstGeom prst="line">
            <a:avLst/>
          </a:prstGeom>
          <a:noFill/>
          <a:ln w="19050">
            <a:solidFill>
              <a:srgbClr val="8B7AB8"/>
            </a:solidFill>
            <a:prstDash val="solid"/>
          </a:ln>
        </p:spPr>
        <p:txBody>
          <a:bodyPr/>
          <a:lstStyle/>
          <a:p>
            <a:endParaRPr lang="ja-JP" altLang="en-US"/>
          </a:p>
        </p:txBody>
      </p:sp>
      <p:sp>
        <p:nvSpPr>
          <p:cNvPr id="102" name="m_bg_0"/>
          <p:cNvSpPr/>
          <p:nvPr/>
        </p:nvSpPr>
        <p:spPr>
          <a:xfrm>
            <a:off x="365760" y="2103120"/>
            <a:ext cx="4114800" cy="914400"/>
          </a:xfrm>
          <a:prstGeom prst="rect">
            <a:avLst/>
          </a:prstGeom>
          <a:solidFill>
            <a:srgbClr val="FAFAFB"/>
          </a:solidFill>
          <a:ln/>
        </p:spPr>
        <p:txBody>
          <a:bodyPr/>
          <a:lstStyle/>
          <a:p>
            <a:endParaRPr lang="ja-JP" altLang="en-US"/>
          </a:p>
        </p:txBody>
      </p:sp>
      <p:sp>
        <p:nvSpPr>
          <p:cNvPr id="103" name="m_ln_0"/>
          <p:cNvSpPr/>
          <p:nvPr/>
        </p:nvSpPr>
        <p:spPr>
          <a:xfrm>
            <a:off x="365760" y="2103120"/>
            <a:ext cx="45720" cy="914400"/>
          </a:xfrm>
          <a:prstGeom prst="rect">
            <a:avLst/>
          </a:prstGeom>
          <a:solidFill>
            <a:srgbClr val="8B7AB8"/>
          </a:solidFill>
          <a:ln/>
        </p:spPr>
        <p:txBody>
          <a:bodyPr/>
          <a:lstStyle/>
          <a:p>
            <a:endParaRPr lang="ja-JP" altLang="en-US"/>
          </a:p>
        </p:txBody>
      </p:sp>
      <p:sp>
        <p:nvSpPr>
          <p:cNvPr id="104" name="m_en_0"/>
          <p:cNvSpPr/>
          <p:nvPr/>
        </p:nvSpPr>
        <p:spPr>
          <a:xfrm>
            <a:off x="594360" y="2194560"/>
            <a:ext cx="3886200" cy="182880"/>
          </a:xfrm>
          <a:prstGeom prst="rect">
            <a:avLst/>
          </a:prstGeom>
          <a:noFill/>
          <a:ln/>
        </p:spPr>
        <p:txBody>
          <a:bodyPr wrap="square" lIns="0" tIns="0" rIns="0" bIns="0" rtlCol="0"/>
          <a:lstStyle/>
          <a:p>
            <a:pPr marL="0" indent="0">
              <a:buNone/>
            </a:pPr>
            <a:r>
              <a:rPr lang="ja-JP" sz="800" b="1" kern="0" spc="200" dirty="0">
                <a:solidFill>
                  <a:srgbClr val="8B7AB8"/>
                </a:solidFill>
                <a:latin typeface="Consolas"/>
                <a:ea typeface="Consolas"/>
                <a:cs typeface="Consolas"/>
              </a:rPr>
              <a:t>DEPARTMENT</a:t>
            </a:r>
          </a:p>
        </p:txBody>
      </p:sp>
      <p:sp>
        <p:nvSpPr>
          <p:cNvPr id="105" name="m_jp_0"/>
          <p:cNvSpPr/>
          <p:nvPr/>
        </p:nvSpPr>
        <p:spPr>
          <a:xfrm>
            <a:off x="594360" y="2395728"/>
            <a:ext cx="3840480" cy="310896"/>
          </a:xfrm>
          <a:prstGeom prst="rect">
            <a:avLst/>
          </a:prstGeom>
          <a:noFill/>
          <a:ln/>
        </p:spPr>
        <p:txBody>
          <a:bodyPr wrap="square" lIns="0" tIns="0" rIns="0" bIns="0" rtlCol="0"/>
          <a:lstStyle/>
          <a:p>
            <a:pPr marL="0" indent="0">
              <a:buNone/>
            </a:pPr>
            <a:r>
              <a:rPr lang="ja-JP" sz="1400" b="1" dirty="0">
                <a:solidFill>
                  <a:srgbClr val="3A3A42"/>
                </a:solidFill>
                <a:latin typeface="Noto Sans JP"/>
                <a:ea typeface="Noto Sans JP"/>
                <a:cs typeface="Noto Sans JP"/>
              </a:rPr>
              <a:t>部門コード</a:t>
            </a:r>
          </a:p>
        </p:txBody>
      </p:sp>
      <p:sp>
        <p:nvSpPr>
          <p:cNvPr id="106" name="m_d_0"/>
          <p:cNvSpPr/>
          <p:nvPr/>
        </p:nvSpPr>
        <p:spPr>
          <a:xfrm>
            <a:off x="594360" y="2743200"/>
            <a:ext cx="3840480" cy="228600"/>
          </a:xfrm>
          <a:prstGeom prst="rect">
            <a:avLst/>
          </a:prstGeom>
          <a:noFill/>
          <a:ln/>
        </p:spPr>
        <p:txBody>
          <a:bodyPr wrap="square" lIns="0" tIns="0" rIns="0" bIns="0" rtlCol="0"/>
          <a:lstStyle/>
          <a:p>
            <a:pPr marL="0" indent="0">
              <a:buNone/>
            </a:pPr>
            <a:r>
              <a:rPr lang="ja-JP" sz="850" dirty="0">
                <a:solidFill>
                  <a:srgbClr val="5E5C6A"/>
                </a:solidFill>
                <a:latin typeface="Noto Sans JP"/>
                <a:ea typeface="Noto Sans JP"/>
                <a:cs typeface="Noto Sans JP"/>
              </a:rPr>
              <a:t>人事 × 経理 × 学事で横串に連携</a:t>
            </a:r>
          </a:p>
        </p:txBody>
      </p:sp>
      <p:sp>
        <p:nvSpPr>
          <p:cNvPr id="107" name="m_bg_1"/>
          <p:cNvSpPr/>
          <p:nvPr/>
        </p:nvSpPr>
        <p:spPr>
          <a:xfrm>
            <a:off x="4663440" y="2103120"/>
            <a:ext cx="4114800" cy="914400"/>
          </a:xfrm>
          <a:prstGeom prst="rect">
            <a:avLst/>
          </a:prstGeom>
          <a:solidFill>
            <a:srgbClr val="FAFAFB"/>
          </a:solidFill>
          <a:ln/>
        </p:spPr>
        <p:txBody>
          <a:bodyPr/>
          <a:lstStyle/>
          <a:p>
            <a:endParaRPr lang="ja-JP" altLang="en-US"/>
          </a:p>
        </p:txBody>
      </p:sp>
      <p:sp>
        <p:nvSpPr>
          <p:cNvPr id="108" name="m_ln_1"/>
          <p:cNvSpPr/>
          <p:nvPr/>
        </p:nvSpPr>
        <p:spPr>
          <a:xfrm>
            <a:off x="4663440" y="2103120"/>
            <a:ext cx="45720" cy="914400"/>
          </a:xfrm>
          <a:prstGeom prst="rect">
            <a:avLst/>
          </a:prstGeom>
          <a:solidFill>
            <a:srgbClr val="8B7AB8"/>
          </a:solidFill>
          <a:ln/>
        </p:spPr>
        <p:txBody>
          <a:bodyPr/>
          <a:lstStyle/>
          <a:p>
            <a:endParaRPr lang="ja-JP" altLang="en-US"/>
          </a:p>
        </p:txBody>
      </p:sp>
      <p:sp>
        <p:nvSpPr>
          <p:cNvPr id="109" name="m_en_1"/>
          <p:cNvSpPr/>
          <p:nvPr/>
        </p:nvSpPr>
        <p:spPr>
          <a:xfrm>
            <a:off x="4892040" y="2194560"/>
            <a:ext cx="3886200" cy="182880"/>
          </a:xfrm>
          <a:prstGeom prst="rect">
            <a:avLst/>
          </a:prstGeom>
          <a:noFill/>
          <a:ln/>
        </p:spPr>
        <p:txBody>
          <a:bodyPr wrap="square" lIns="0" tIns="0" rIns="0" bIns="0" rtlCol="0"/>
          <a:lstStyle/>
          <a:p>
            <a:pPr marL="0" indent="0">
              <a:buNone/>
            </a:pPr>
            <a:r>
              <a:rPr lang="ja-JP" sz="800" b="1" kern="0" spc="200" dirty="0">
                <a:solidFill>
                  <a:srgbClr val="8B7AB8"/>
                </a:solidFill>
                <a:latin typeface="Consolas"/>
                <a:ea typeface="Consolas"/>
                <a:cs typeface="Consolas"/>
              </a:rPr>
              <a:t>FACULTY</a:t>
            </a:r>
          </a:p>
        </p:txBody>
      </p:sp>
      <p:sp>
        <p:nvSpPr>
          <p:cNvPr id="110" name="m_jp_1"/>
          <p:cNvSpPr/>
          <p:nvPr/>
        </p:nvSpPr>
        <p:spPr>
          <a:xfrm>
            <a:off x="4892040" y="2395728"/>
            <a:ext cx="3840480" cy="310896"/>
          </a:xfrm>
          <a:prstGeom prst="rect">
            <a:avLst/>
          </a:prstGeom>
          <a:noFill/>
          <a:ln/>
        </p:spPr>
        <p:txBody>
          <a:bodyPr wrap="square" lIns="0" tIns="0" rIns="0" bIns="0" rtlCol="0"/>
          <a:lstStyle/>
          <a:p>
            <a:pPr marL="0" indent="0">
              <a:buNone/>
            </a:pPr>
            <a:r>
              <a:rPr lang="ja-JP" sz="1400" b="1" dirty="0">
                <a:solidFill>
                  <a:srgbClr val="3A3A42"/>
                </a:solidFill>
                <a:latin typeface="Noto Sans JP"/>
                <a:ea typeface="Noto Sans JP"/>
                <a:cs typeface="Noto Sans JP"/>
              </a:rPr>
              <a:t>教職員コード</a:t>
            </a:r>
          </a:p>
        </p:txBody>
      </p:sp>
      <p:sp>
        <p:nvSpPr>
          <p:cNvPr id="111" name="m_d_1"/>
          <p:cNvSpPr/>
          <p:nvPr/>
        </p:nvSpPr>
        <p:spPr>
          <a:xfrm>
            <a:off x="4892040" y="2743200"/>
            <a:ext cx="3840480" cy="228600"/>
          </a:xfrm>
          <a:prstGeom prst="rect">
            <a:avLst/>
          </a:prstGeom>
          <a:noFill/>
          <a:ln/>
        </p:spPr>
        <p:txBody>
          <a:bodyPr wrap="square" lIns="0" tIns="0" rIns="0" bIns="0" rtlCol="0"/>
          <a:lstStyle/>
          <a:p>
            <a:pPr marL="0" indent="0">
              <a:buNone/>
            </a:pPr>
            <a:r>
              <a:rPr lang="ja-JP" sz="850" dirty="0">
                <a:solidFill>
                  <a:srgbClr val="5E5C6A"/>
                </a:solidFill>
                <a:latin typeface="Noto Sans JP"/>
                <a:ea typeface="Noto Sans JP"/>
                <a:cs typeface="Noto Sans JP"/>
              </a:rPr>
              <a:t>人事マスタを起点に全業務で一意化</a:t>
            </a:r>
          </a:p>
        </p:txBody>
      </p:sp>
      <p:sp>
        <p:nvSpPr>
          <p:cNvPr id="112" name="m_bg_2"/>
          <p:cNvSpPr/>
          <p:nvPr/>
        </p:nvSpPr>
        <p:spPr>
          <a:xfrm>
            <a:off x="365760" y="3127248"/>
            <a:ext cx="4114800" cy="914400"/>
          </a:xfrm>
          <a:prstGeom prst="rect">
            <a:avLst/>
          </a:prstGeom>
          <a:solidFill>
            <a:srgbClr val="FAFAFB"/>
          </a:solidFill>
          <a:ln/>
        </p:spPr>
        <p:txBody>
          <a:bodyPr/>
          <a:lstStyle/>
          <a:p>
            <a:endParaRPr lang="ja-JP" altLang="en-US"/>
          </a:p>
        </p:txBody>
      </p:sp>
      <p:sp>
        <p:nvSpPr>
          <p:cNvPr id="113" name="m_ln_2"/>
          <p:cNvSpPr/>
          <p:nvPr/>
        </p:nvSpPr>
        <p:spPr>
          <a:xfrm>
            <a:off x="365760" y="3127248"/>
            <a:ext cx="45720" cy="914400"/>
          </a:xfrm>
          <a:prstGeom prst="rect">
            <a:avLst/>
          </a:prstGeom>
          <a:solidFill>
            <a:srgbClr val="8B7AB8"/>
          </a:solidFill>
          <a:ln/>
        </p:spPr>
        <p:txBody>
          <a:bodyPr/>
          <a:lstStyle/>
          <a:p>
            <a:endParaRPr lang="ja-JP" altLang="en-US"/>
          </a:p>
        </p:txBody>
      </p:sp>
      <p:sp>
        <p:nvSpPr>
          <p:cNvPr id="114" name="m_en_2"/>
          <p:cNvSpPr/>
          <p:nvPr/>
        </p:nvSpPr>
        <p:spPr>
          <a:xfrm>
            <a:off x="594360" y="3218688"/>
            <a:ext cx="3886200" cy="182880"/>
          </a:xfrm>
          <a:prstGeom prst="rect">
            <a:avLst/>
          </a:prstGeom>
          <a:noFill/>
          <a:ln/>
        </p:spPr>
        <p:txBody>
          <a:bodyPr wrap="square" lIns="0" tIns="0" rIns="0" bIns="0" rtlCol="0"/>
          <a:lstStyle/>
          <a:p>
            <a:pPr marL="0" indent="0">
              <a:buNone/>
            </a:pPr>
            <a:r>
              <a:rPr lang="ja-JP" sz="800" b="1" kern="0" spc="200" dirty="0">
                <a:solidFill>
                  <a:srgbClr val="8B7AB8"/>
                </a:solidFill>
                <a:latin typeface="Consolas"/>
                <a:ea typeface="Consolas"/>
                <a:cs typeface="Consolas"/>
              </a:rPr>
              <a:t>ACCOUNT</a:t>
            </a:r>
          </a:p>
        </p:txBody>
      </p:sp>
      <p:sp>
        <p:nvSpPr>
          <p:cNvPr id="115" name="m_jp_2"/>
          <p:cNvSpPr/>
          <p:nvPr/>
        </p:nvSpPr>
        <p:spPr>
          <a:xfrm>
            <a:off x="594360" y="3419856"/>
            <a:ext cx="3840480" cy="310896"/>
          </a:xfrm>
          <a:prstGeom prst="rect">
            <a:avLst/>
          </a:prstGeom>
          <a:noFill/>
          <a:ln/>
        </p:spPr>
        <p:txBody>
          <a:bodyPr wrap="square" lIns="0" tIns="0" rIns="0" bIns="0" rtlCol="0"/>
          <a:lstStyle/>
          <a:p>
            <a:pPr marL="0" indent="0">
              <a:buNone/>
            </a:pPr>
            <a:r>
              <a:rPr lang="ja-JP" sz="1400" b="1" dirty="0">
                <a:solidFill>
                  <a:srgbClr val="3A3A42"/>
                </a:solidFill>
                <a:latin typeface="Noto Sans JP"/>
                <a:ea typeface="Noto Sans JP"/>
                <a:cs typeface="Noto Sans JP"/>
              </a:rPr>
              <a:t>勘定科目</a:t>
            </a:r>
          </a:p>
        </p:txBody>
      </p:sp>
      <p:sp>
        <p:nvSpPr>
          <p:cNvPr id="116" name="m_d_2"/>
          <p:cNvSpPr/>
          <p:nvPr/>
        </p:nvSpPr>
        <p:spPr>
          <a:xfrm>
            <a:off x="594360" y="3767328"/>
            <a:ext cx="3840480" cy="228600"/>
          </a:xfrm>
          <a:prstGeom prst="rect">
            <a:avLst/>
          </a:prstGeom>
          <a:noFill/>
          <a:ln/>
        </p:spPr>
        <p:txBody>
          <a:bodyPr wrap="square" lIns="0" tIns="0" rIns="0" bIns="0" rtlCol="0"/>
          <a:lstStyle/>
          <a:p>
            <a:pPr marL="0" indent="0">
              <a:buNone/>
            </a:pPr>
            <a:r>
              <a:rPr lang="ja-JP" sz="850" dirty="0">
                <a:solidFill>
                  <a:srgbClr val="5E5C6A"/>
                </a:solidFill>
                <a:latin typeface="Noto Sans JP"/>
                <a:ea typeface="Noto Sans JP"/>
                <a:cs typeface="Noto Sans JP"/>
              </a:rPr>
              <a:t>補助科目・セグメント設計と連動</a:t>
            </a:r>
          </a:p>
        </p:txBody>
      </p:sp>
      <p:sp>
        <p:nvSpPr>
          <p:cNvPr id="117" name="m_bg_3"/>
          <p:cNvSpPr/>
          <p:nvPr/>
        </p:nvSpPr>
        <p:spPr>
          <a:xfrm>
            <a:off x="4663440" y="3127248"/>
            <a:ext cx="4114800" cy="914400"/>
          </a:xfrm>
          <a:prstGeom prst="rect">
            <a:avLst/>
          </a:prstGeom>
          <a:solidFill>
            <a:srgbClr val="FAFAFB"/>
          </a:solidFill>
          <a:ln/>
        </p:spPr>
        <p:txBody>
          <a:bodyPr/>
          <a:lstStyle/>
          <a:p>
            <a:endParaRPr lang="ja-JP" altLang="en-US"/>
          </a:p>
        </p:txBody>
      </p:sp>
      <p:sp>
        <p:nvSpPr>
          <p:cNvPr id="118" name="m_ln_3"/>
          <p:cNvSpPr/>
          <p:nvPr/>
        </p:nvSpPr>
        <p:spPr>
          <a:xfrm>
            <a:off x="4663440" y="3127248"/>
            <a:ext cx="45720" cy="914400"/>
          </a:xfrm>
          <a:prstGeom prst="rect">
            <a:avLst/>
          </a:prstGeom>
          <a:solidFill>
            <a:srgbClr val="8B7AB8"/>
          </a:solidFill>
          <a:ln/>
        </p:spPr>
        <p:txBody>
          <a:bodyPr/>
          <a:lstStyle/>
          <a:p>
            <a:endParaRPr lang="ja-JP" altLang="en-US"/>
          </a:p>
        </p:txBody>
      </p:sp>
      <p:sp>
        <p:nvSpPr>
          <p:cNvPr id="119" name="m_en_3"/>
          <p:cNvSpPr/>
          <p:nvPr/>
        </p:nvSpPr>
        <p:spPr>
          <a:xfrm>
            <a:off x="4892040" y="3218688"/>
            <a:ext cx="3886200" cy="182880"/>
          </a:xfrm>
          <a:prstGeom prst="rect">
            <a:avLst/>
          </a:prstGeom>
          <a:noFill/>
          <a:ln/>
        </p:spPr>
        <p:txBody>
          <a:bodyPr wrap="square" lIns="0" tIns="0" rIns="0" bIns="0" rtlCol="0"/>
          <a:lstStyle/>
          <a:p>
            <a:pPr marL="0" indent="0">
              <a:buNone/>
            </a:pPr>
            <a:r>
              <a:rPr lang="ja-JP" sz="800" b="1" kern="0" spc="200" dirty="0">
                <a:solidFill>
                  <a:srgbClr val="8B7AB8"/>
                </a:solidFill>
                <a:latin typeface="Consolas"/>
                <a:ea typeface="Consolas"/>
                <a:cs typeface="Consolas"/>
              </a:rPr>
              <a:t>BUDGET / PARTNER</a:t>
            </a:r>
          </a:p>
        </p:txBody>
      </p:sp>
      <p:sp>
        <p:nvSpPr>
          <p:cNvPr id="120" name="m_jp_3"/>
          <p:cNvSpPr/>
          <p:nvPr/>
        </p:nvSpPr>
        <p:spPr>
          <a:xfrm>
            <a:off x="4892040" y="3419856"/>
            <a:ext cx="3840480" cy="310896"/>
          </a:xfrm>
          <a:prstGeom prst="rect">
            <a:avLst/>
          </a:prstGeom>
          <a:noFill/>
          <a:ln/>
        </p:spPr>
        <p:txBody>
          <a:bodyPr wrap="square" lIns="0" tIns="0" rIns="0" bIns="0" rtlCol="0"/>
          <a:lstStyle/>
          <a:p>
            <a:pPr marL="0" indent="0">
              <a:buNone/>
            </a:pPr>
            <a:r>
              <a:rPr lang="ja-JP" sz="1400" b="1" dirty="0">
                <a:solidFill>
                  <a:srgbClr val="3A3A42"/>
                </a:solidFill>
                <a:latin typeface="Noto Sans JP"/>
                <a:ea typeface="Noto Sans JP"/>
                <a:cs typeface="Noto Sans JP"/>
              </a:rPr>
              <a:t>予算・取引先コード</a:t>
            </a:r>
          </a:p>
        </p:txBody>
      </p:sp>
      <p:sp>
        <p:nvSpPr>
          <p:cNvPr id="121" name="m_d_3"/>
          <p:cNvSpPr/>
          <p:nvPr/>
        </p:nvSpPr>
        <p:spPr>
          <a:xfrm>
            <a:off x="4892040" y="3767328"/>
            <a:ext cx="3840480" cy="228600"/>
          </a:xfrm>
          <a:prstGeom prst="rect">
            <a:avLst/>
          </a:prstGeom>
          <a:noFill/>
          <a:ln/>
        </p:spPr>
        <p:txBody>
          <a:bodyPr wrap="square" lIns="0" tIns="0" rIns="0" bIns="0" rtlCol="0"/>
          <a:lstStyle/>
          <a:p>
            <a:pPr marL="0" indent="0">
              <a:buNone/>
            </a:pPr>
            <a:r>
              <a:rPr lang="ja-JP" sz="850" dirty="0">
                <a:solidFill>
                  <a:srgbClr val="5E5C6A"/>
                </a:solidFill>
                <a:latin typeface="Noto Sans JP"/>
                <a:ea typeface="Noto Sans JP"/>
                <a:cs typeface="Noto Sans JP"/>
              </a:rPr>
              <a:t>採番ルール・改廃ルールのガバナンス設計</a:t>
            </a:r>
          </a:p>
        </p:txBody>
      </p:sp>
      <p:sp>
        <p:nvSpPr>
          <p:cNvPr id="122" name="p_title"/>
          <p:cNvSpPr/>
          <p:nvPr/>
        </p:nvSpPr>
        <p:spPr>
          <a:xfrm>
            <a:off x="365760" y="4288536"/>
            <a:ext cx="8412480" cy="256032"/>
          </a:xfrm>
          <a:prstGeom prst="rect">
            <a:avLst/>
          </a:prstGeom>
          <a:noFill/>
          <a:ln/>
        </p:spPr>
        <p:txBody>
          <a:bodyPr wrap="square" lIns="0" tIns="0" rIns="0" bIns="0" rtlCol="0"/>
          <a:lstStyle/>
          <a:p>
            <a:pPr marL="0" indent="0">
              <a:buNone/>
            </a:pPr>
            <a:r>
              <a:rPr lang="ja-JP" sz="1200" b="1" dirty="0">
                <a:solidFill>
                  <a:srgbClr val="3A3A42"/>
                </a:solidFill>
                <a:latin typeface="Noto Sans JP"/>
                <a:ea typeface="Noto Sans JP"/>
                <a:cs typeface="Noto Sans JP"/>
              </a:rPr>
              <a:t>設計方針</a:t>
            </a:r>
          </a:p>
        </p:txBody>
      </p:sp>
      <p:sp>
        <p:nvSpPr>
          <p:cNvPr id="123" name="p_line"/>
          <p:cNvSpPr/>
          <p:nvPr/>
        </p:nvSpPr>
        <p:spPr>
          <a:xfrm>
            <a:off x="365760" y="4599432"/>
            <a:ext cx="8412480" cy="0"/>
          </a:xfrm>
          <a:prstGeom prst="line">
            <a:avLst/>
          </a:prstGeom>
          <a:noFill/>
          <a:ln w="19050">
            <a:solidFill>
              <a:srgbClr val="8B7AB8"/>
            </a:solidFill>
            <a:prstDash val="solid"/>
          </a:ln>
        </p:spPr>
        <p:txBody>
          <a:bodyPr/>
          <a:lstStyle/>
          <a:p>
            <a:endParaRPr lang="ja-JP" altLang="en-US"/>
          </a:p>
        </p:txBody>
      </p:sp>
      <p:sp>
        <p:nvSpPr>
          <p:cNvPr id="124" name="p_n_bg_0"/>
          <p:cNvSpPr/>
          <p:nvPr/>
        </p:nvSpPr>
        <p:spPr>
          <a:xfrm>
            <a:off x="365760" y="4745736"/>
            <a:ext cx="274320" cy="274320"/>
          </a:xfrm>
          <a:prstGeom prst="rect">
            <a:avLst/>
          </a:prstGeom>
          <a:solidFill>
            <a:srgbClr val="8B7AB8"/>
          </a:solidFill>
          <a:ln/>
        </p:spPr>
        <p:txBody>
          <a:bodyPr/>
          <a:lstStyle/>
          <a:p>
            <a:endParaRPr lang="ja-JP" altLang="en-US"/>
          </a:p>
        </p:txBody>
      </p:sp>
      <p:sp>
        <p:nvSpPr>
          <p:cNvPr id="125" name="p_n_0"/>
          <p:cNvSpPr/>
          <p:nvPr/>
        </p:nvSpPr>
        <p:spPr>
          <a:xfrm>
            <a:off x="365760" y="4745736"/>
            <a:ext cx="274320" cy="274320"/>
          </a:xfrm>
          <a:prstGeom prst="rect">
            <a:avLst/>
          </a:prstGeom>
          <a:noFill/>
          <a:ln/>
        </p:spPr>
        <p:txBody>
          <a:bodyPr wrap="square" lIns="0" tIns="0" rIns="0" bIns="0" rtlCol="0" anchor="ctr"/>
          <a:lstStyle/>
          <a:p>
            <a:pPr marL="0" indent="0" algn="ctr">
              <a:buNone/>
            </a:pPr>
            <a:r>
              <a:rPr lang="ja-JP" sz="850" b="1" dirty="0">
                <a:solidFill>
                  <a:srgbClr val="FFFFFF"/>
                </a:solidFill>
                <a:latin typeface="Consolas"/>
                <a:ea typeface="Consolas"/>
                <a:cs typeface="Consolas"/>
              </a:rPr>
              <a:t>01</a:t>
            </a:r>
          </a:p>
        </p:txBody>
      </p:sp>
      <p:sp>
        <p:nvSpPr>
          <p:cNvPr id="126" name="p_t_0"/>
          <p:cNvSpPr/>
          <p:nvPr/>
        </p:nvSpPr>
        <p:spPr>
          <a:xfrm>
            <a:off x="731520" y="4745736"/>
            <a:ext cx="2468880" cy="274320"/>
          </a:xfrm>
          <a:prstGeom prst="rect">
            <a:avLst/>
          </a:prstGeom>
          <a:noFill/>
          <a:ln/>
        </p:spPr>
        <p:txBody>
          <a:bodyPr wrap="square" lIns="0" tIns="0" rIns="0" bIns="0" rtlCol="0" anchor="ctr"/>
          <a:lstStyle/>
          <a:p>
            <a:pPr marL="0" indent="0">
              <a:buNone/>
            </a:pPr>
            <a:r>
              <a:rPr lang="ja-JP" sz="900" dirty="0">
                <a:solidFill>
                  <a:srgbClr val="3A3A42"/>
                </a:solidFill>
                <a:latin typeface="Noto Sans JP"/>
                <a:ea typeface="Noto Sans JP"/>
                <a:cs typeface="Noto Sans JP"/>
              </a:rPr>
              <a:t>採番ルール／改廃ルールのガバナンス設計</a:t>
            </a:r>
          </a:p>
        </p:txBody>
      </p:sp>
      <p:sp>
        <p:nvSpPr>
          <p:cNvPr id="127" name="p_n_bg_1"/>
          <p:cNvSpPr/>
          <p:nvPr/>
        </p:nvSpPr>
        <p:spPr>
          <a:xfrm>
            <a:off x="3200400" y="4745736"/>
            <a:ext cx="274320" cy="274320"/>
          </a:xfrm>
          <a:prstGeom prst="rect">
            <a:avLst/>
          </a:prstGeom>
          <a:solidFill>
            <a:srgbClr val="8B7AB8"/>
          </a:solidFill>
          <a:ln/>
        </p:spPr>
        <p:txBody>
          <a:bodyPr/>
          <a:lstStyle/>
          <a:p>
            <a:endParaRPr lang="ja-JP" altLang="en-US"/>
          </a:p>
        </p:txBody>
      </p:sp>
      <p:sp>
        <p:nvSpPr>
          <p:cNvPr id="128" name="p_n_1"/>
          <p:cNvSpPr/>
          <p:nvPr/>
        </p:nvSpPr>
        <p:spPr>
          <a:xfrm>
            <a:off x="3200400" y="4745736"/>
            <a:ext cx="274320" cy="274320"/>
          </a:xfrm>
          <a:prstGeom prst="rect">
            <a:avLst/>
          </a:prstGeom>
          <a:noFill/>
          <a:ln/>
        </p:spPr>
        <p:txBody>
          <a:bodyPr wrap="square" lIns="0" tIns="0" rIns="0" bIns="0" rtlCol="0" anchor="ctr"/>
          <a:lstStyle/>
          <a:p>
            <a:pPr marL="0" indent="0" algn="ctr">
              <a:buNone/>
            </a:pPr>
            <a:r>
              <a:rPr lang="ja-JP" sz="850" b="1" dirty="0">
                <a:solidFill>
                  <a:srgbClr val="FFFFFF"/>
                </a:solidFill>
                <a:latin typeface="Consolas"/>
                <a:ea typeface="Consolas"/>
                <a:cs typeface="Consolas"/>
              </a:rPr>
              <a:t>02</a:t>
            </a:r>
          </a:p>
        </p:txBody>
      </p:sp>
      <p:sp>
        <p:nvSpPr>
          <p:cNvPr id="129" name="p_t_1"/>
          <p:cNvSpPr/>
          <p:nvPr/>
        </p:nvSpPr>
        <p:spPr>
          <a:xfrm>
            <a:off x="3566160" y="4745736"/>
            <a:ext cx="2468880" cy="274320"/>
          </a:xfrm>
          <a:prstGeom prst="rect">
            <a:avLst/>
          </a:prstGeom>
          <a:noFill/>
          <a:ln/>
        </p:spPr>
        <p:txBody>
          <a:bodyPr wrap="square" lIns="0" tIns="0" rIns="0" bIns="0" rtlCol="0" anchor="ctr"/>
          <a:lstStyle/>
          <a:p>
            <a:pPr marL="0" indent="0">
              <a:buNone/>
            </a:pPr>
            <a:r>
              <a:rPr lang="ja-JP" sz="900" dirty="0">
                <a:solidFill>
                  <a:srgbClr val="3A3A42"/>
                </a:solidFill>
                <a:latin typeface="Noto Sans JP"/>
                <a:ea typeface="Noto Sans JP"/>
                <a:cs typeface="Noto Sans JP"/>
              </a:rPr>
              <a:t>パトスロゴス側成果物との整合レビュー</a:t>
            </a:r>
          </a:p>
        </p:txBody>
      </p:sp>
      <p:sp>
        <p:nvSpPr>
          <p:cNvPr id="130" name="p_n_bg_2"/>
          <p:cNvSpPr/>
          <p:nvPr/>
        </p:nvSpPr>
        <p:spPr>
          <a:xfrm>
            <a:off x="6035040" y="4745736"/>
            <a:ext cx="274320" cy="274320"/>
          </a:xfrm>
          <a:prstGeom prst="rect">
            <a:avLst/>
          </a:prstGeom>
          <a:solidFill>
            <a:srgbClr val="8B7AB8"/>
          </a:solidFill>
          <a:ln/>
        </p:spPr>
        <p:txBody>
          <a:bodyPr/>
          <a:lstStyle/>
          <a:p>
            <a:endParaRPr lang="ja-JP" altLang="en-US"/>
          </a:p>
        </p:txBody>
      </p:sp>
      <p:sp>
        <p:nvSpPr>
          <p:cNvPr id="131" name="p_n_2"/>
          <p:cNvSpPr/>
          <p:nvPr/>
        </p:nvSpPr>
        <p:spPr>
          <a:xfrm>
            <a:off x="6035040" y="4745736"/>
            <a:ext cx="274320" cy="274320"/>
          </a:xfrm>
          <a:prstGeom prst="rect">
            <a:avLst/>
          </a:prstGeom>
          <a:noFill/>
          <a:ln/>
        </p:spPr>
        <p:txBody>
          <a:bodyPr wrap="square" lIns="0" tIns="0" rIns="0" bIns="0" rtlCol="0" anchor="ctr"/>
          <a:lstStyle/>
          <a:p>
            <a:pPr marL="0" indent="0" algn="ctr">
              <a:buNone/>
            </a:pPr>
            <a:r>
              <a:rPr lang="ja-JP" sz="850" b="1" dirty="0">
                <a:solidFill>
                  <a:srgbClr val="FFFFFF"/>
                </a:solidFill>
                <a:latin typeface="Consolas"/>
                <a:ea typeface="Consolas"/>
                <a:cs typeface="Consolas"/>
              </a:rPr>
              <a:t>03</a:t>
            </a:r>
          </a:p>
        </p:txBody>
      </p:sp>
      <p:sp>
        <p:nvSpPr>
          <p:cNvPr id="132" name="p_t_2"/>
          <p:cNvSpPr/>
          <p:nvPr/>
        </p:nvSpPr>
        <p:spPr>
          <a:xfrm>
            <a:off x="6400800" y="4745736"/>
            <a:ext cx="2468880" cy="274320"/>
          </a:xfrm>
          <a:prstGeom prst="rect">
            <a:avLst/>
          </a:prstGeom>
          <a:noFill/>
          <a:ln/>
        </p:spPr>
        <p:txBody>
          <a:bodyPr wrap="square" lIns="0" tIns="0" rIns="0" bIns="0" rtlCol="0" anchor="ctr"/>
          <a:lstStyle/>
          <a:p>
            <a:pPr marL="0" indent="0">
              <a:buNone/>
            </a:pPr>
            <a:r>
              <a:rPr lang="ja-JP" sz="900" dirty="0">
                <a:solidFill>
                  <a:srgbClr val="3A3A42"/>
                </a:solidFill>
                <a:latin typeface="Noto Sans JP"/>
                <a:ea typeface="Noto Sans JP"/>
                <a:cs typeface="Noto Sans JP"/>
              </a:rPr>
              <a:t>DWH／データマート／BI配置方針</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marL="0" indent="0">
              <a:buNone/>
            </a:pPr>
            <a:r>
              <a:rPr lang="en-US" sz="800" kern="0" spc="200" dirty="0">
                <a:solidFill>
                  <a:srgbClr val="9B98A6"/>
                </a:solidFill>
                <a:latin typeface="Consolas" pitchFamily="34" charset="0"/>
                <a:ea typeface="Consolas" pitchFamily="34" charset="-122"/>
                <a:cs typeface="Consolas" pitchFamily="34" charset="-120"/>
              </a:rPr>
              <a:t>SECTION ／ CHAPTER</a:t>
            </a:r>
            <a:endParaRPr lang="en-US" sz="800" dirty="0"/>
          </a:p>
        </p:txBody>
      </p:sp>
      <p:sp>
        <p:nvSpPr>
          <p:cNvPr id="3" name="Shape 1"/>
          <p:cNvSpPr/>
          <p:nvPr/>
        </p:nvSpPr>
        <p:spPr>
          <a:xfrm>
            <a:off x="228600" y="320040"/>
            <a:ext cx="64008" cy="64008"/>
          </a:xfrm>
          <a:prstGeom prst="ellipse">
            <a:avLst/>
          </a:prstGeom>
          <a:solidFill>
            <a:srgbClr val="8B7AB8"/>
          </a:solidFill>
          <a:ln/>
        </p:spPr>
        <p:txBody>
          <a:bodyPr/>
          <a:lstStyle/>
          <a:p>
            <a:endParaRPr lang="ja-JP" altLang="en-US"/>
          </a:p>
        </p:txBody>
      </p:sp>
      <p:pic>
        <p:nvPicPr>
          <p:cNvPr id="4" name="Image 0" descr="logo-horizontal.png"/>
          <p:cNvPicPr>
            <a:picLocks noChangeAspect="1"/>
          </p:cNvPicPr>
          <p:nvPr/>
        </p:nvPicPr>
        <p:blipFill>
          <a:blip r:embed="rId2"/>
          <a:stretch>
            <a:fillRect/>
          </a:stretch>
        </p:blipFill>
        <p:spPr>
          <a:xfrm>
            <a:off x="6492240" y="274320"/>
            <a:ext cx="2286000" cy="603504"/>
          </a:xfrm>
          <a:prstGeom prst="rect">
            <a:avLst/>
          </a:prstGeom>
        </p:spPr>
      </p:pic>
      <p:pic>
        <p:nvPicPr>
          <p:cNvPr id="5" name="Image 1" descr="favicon-faded.png"/>
          <p:cNvPicPr>
            <a:picLocks noChangeAspect="1"/>
          </p:cNvPicPr>
          <p:nvPr/>
        </p:nvPicPr>
        <p:blipFill>
          <a:blip r:embed="rId3"/>
          <a:stretch>
            <a:fillRect/>
          </a:stretch>
        </p:blipFill>
        <p:spPr>
          <a:xfrm>
            <a:off x="822960" y="1005840"/>
            <a:ext cx="3474720" cy="3474720"/>
          </a:xfrm>
          <a:prstGeom prst="rect">
            <a:avLst/>
          </a:prstGeom>
        </p:spPr>
      </p:pic>
      <p:sp>
        <p:nvSpPr>
          <p:cNvPr id="6" name="Shape 2"/>
          <p:cNvSpPr/>
          <p:nvPr/>
        </p:nvSpPr>
        <p:spPr>
          <a:xfrm>
            <a:off x="4937760" y="1463040"/>
            <a:ext cx="27432" cy="2103120"/>
          </a:xfrm>
          <a:prstGeom prst="rect">
            <a:avLst/>
          </a:prstGeom>
          <a:solidFill>
            <a:srgbClr val="3A3A42"/>
          </a:solidFill>
          <a:ln/>
        </p:spPr>
        <p:txBody>
          <a:bodyPr/>
          <a:lstStyle/>
          <a:p>
            <a:endParaRPr lang="ja-JP" altLang="en-US"/>
          </a:p>
        </p:txBody>
      </p:sp>
      <p:sp>
        <p:nvSpPr>
          <p:cNvPr id="7" name="Text 3"/>
          <p:cNvSpPr/>
          <p:nvPr/>
        </p:nvSpPr>
        <p:spPr>
          <a:xfrm>
            <a:off x="5166360" y="1463040"/>
            <a:ext cx="3657600" cy="274320"/>
          </a:xfrm>
          <a:prstGeom prst="rect">
            <a:avLst/>
          </a:prstGeom>
          <a:noFill/>
          <a:ln/>
        </p:spPr>
        <p:txBody>
          <a:bodyPr wrap="square" lIns="0" tIns="0" rIns="0" bIns="0" rtlCol="0" anchor="ctr"/>
          <a:lstStyle/>
          <a:p>
            <a:pPr marL="0" indent="0">
              <a:buNone/>
            </a:pPr>
            <a:r>
              <a:rPr lang="en-US" sz="1000" kern="0" spc="400" dirty="0">
                <a:solidFill>
                  <a:srgbClr val="8B7AB8"/>
                </a:solidFill>
                <a:latin typeface="Consolas" pitchFamily="34" charset="0"/>
                <a:ea typeface="Consolas" pitchFamily="34" charset="-122"/>
                <a:cs typeface="Consolas" pitchFamily="34" charset="-120"/>
              </a:rPr>
              <a:t>SECTION  03</a:t>
            </a:r>
            <a:endParaRPr lang="en-US" sz="1000" dirty="0"/>
          </a:p>
        </p:txBody>
      </p:sp>
      <p:sp>
        <p:nvSpPr>
          <p:cNvPr id="8" name="Text 4"/>
          <p:cNvSpPr/>
          <p:nvPr/>
        </p:nvSpPr>
        <p:spPr>
          <a:xfrm>
            <a:off x="5166360" y="1783080"/>
            <a:ext cx="3931920" cy="868680"/>
          </a:xfrm>
          <a:prstGeom prst="rect">
            <a:avLst/>
          </a:prstGeom>
          <a:noFill/>
          <a:ln/>
        </p:spPr>
        <p:txBody>
          <a:bodyPr wrap="square" lIns="0" tIns="0" rIns="0" bIns="0" rtlCol="0" anchor="ctr"/>
          <a:lstStyle/>
          <a:p>
            <a:pPr marL="0" indent="0">
              <a:buNone/>
            </a:pPr>
            <a:r>
              <a:rPr lang="en-US" sz="3000" b="1" dirty="0">
                <a:solidFill>
                  <a:srgbClr val="3A3A42"/>
                </a:solidFill>
                <a:latin typeface="Noto Sans JP" pitchFamily="34" charset="0"/>
                <a:ea typeface="Noto Sans JP" pitchFamily="34" charset="-122"/>
                <a:cs typeface="Noto Sans JP" pitchFamily="34" charset="-120"/>
              </a:rPr>
              <a:t>AIガバナンス・推進人材</a:t>
            </a:r>
            <a:endParaRPr lang="en-US" sz="3000" dirty="0"/>
          </a:p>
        </p:txBody>
      </p:sp>
      <p:sp>
        <p:nvSpPr>
          <p:cNvPr id="9" name="Text 5"/>
          <p:cNvSpPr/>
          <p:nvPr/>
        </p:nvSpPr>
        <p:spPr>
          <a:xfrm>
            <a:off x="5166360" y="2743200"/>
            <a:ext cx="3657600" cy="731520"/>
          </a:xfrm>
          <a:prstGeom prst="rect">
            <a:avLst/>
          </a:prstGeom>
          <a:noFill/>
          <a:ln/>
        </p:spPr>
        <p:txBody>
          <a:bodyPr wrap="square" lIns="0" tIns="0" rIns="0" bIns="0" rtlCol="0" anchor="ctr"/>
          <a:lstStyle/>
          <a:p>
            <a:pPr marL="0" indent="0">
              <a:buNone/>
            </a:pPr>
            <a:r>
              <a:rPr lang="en-US" sz="1100" dirty="0">
                <a:solidFill>
                  <a:srgbClr val="5E5C6A"/>
                </a:solidFill>
                <a:latin typeface="Noto Sans JP" pitchFamily="34" charset="0"/>
                <a:ea typeface="Noto Sans JP" pitchFamily="34" charset="-122"/>
                <a:cs typeface="Noto Sans JP" pitchFamily="34" charset="-120"/>
              </a:rPr>
              <a:t>将来のAI活用を見据え、まず利用規程・ガイドラインを整備。並行して社内AI推進担当者を育成し、自走できる組織へ。</a:t>
            </a:r>
            <a:endParaRPr lang="en-US" sz="1100" dirty="0"/>
          </a:p>
        </p:txBody>
      </p:sp>
      <p:sp>
        <p:nvSpPr>
          <p:cNvPr id="10" name="Text 6"/>
          <p:cNvSpPr/>
          <p:nvPr/>
        </p:nvSpPr>
        <p:spPr>
          <a:xfrm>
            <a:off x="5166360" y="4389120"/>
            <a:ext cx="3657600" cy="228600"/>
          </a:xfrm>
          <a:prstGeom prst="rect">
            <a:avLst/>
          </a:prstGeom>
          <a:noFill/>
          <a:ln/>
        </p:spPr>
        <p:txBody>
          <a:bodyPr wrap="square" lIns="0" tIns="0" rIns="0" bIns="0" rtlCol="0" anchor="ctr"/>
          <a:lstStyle/>
          <a:p>
            <a:pPr marL="0" indent="0">
              <a:buNone/>
            </a:pPr>
            <a:r>
              <a:rPr lang="en-US" sz="900" dirty="0">
                <a:solidFill>
                  <a:srgbClr val="9B98A6"/>
                </a:solidFill>
                <a:latin typeface="Consolas" pitchFamily="34" charset="0"/>
                <a:ea typeface="Consolas" pitchFamily="34" charset="-122"/>
                <a:cs typeface="Consolas" pitchFamily="34" charset="-120"/>
              </a:rPr>
              <a:t>— スコープ: ご依頼事項 #8</a:t>
            </a:r>
            <a:endParaRPr lang="en-US" sz="900" dirty="0"/>
          </a:p>
        </p:txBody>
      </p:sp>
      <p:sp>
        <p:nvSpPr>
          <p:cNvPr id="11" name="Text 7"/>
          <p:cNvSpPr/>
          <p:nvPr/>
        </p:nvSpPr>
        <p:spPr>
          <a:xfrm>
            <a:off x="7955280" y="4846320"/>
            <a:ext cx="914400" cy="182880"/>
          </a:xfrm>
          <a:prstGeom prst="rect">
            <a:avLst/>
          </a:prstGeom>
          <a:noFill/>
          <a:ln/>
        </p:spPr>
        <p:txBody>
          <a:bodyPr wrap="square" lIns="0" tIns="0" rIns="0" bIns="0" rtlCol="0" anchor="ctr"/>
          <a:lstStyle/>
          <a:p>
            <a:pPr marL="0" indent="0" algn="r">
              <a:buNone/>
            </a:pPr>
            <a:r>
              <a:rPr lang="en-US" sz="800" dirty="0">
                <a:solidFill>
                  <a:srgbClr val="9B98A6"/>
                </a:solidFill>
                <a:latin typeface="Consolas" pitchFamily="34" charset="0"/>
                <a:ea typeface="Consolas" pitchFamily="34" charset="-122"/>
                <a:cs typeface="Consolas" pitchFamily="34" charset="-120"/>
              </a:rPr>
              <a:t>09 / 18</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marL="0" indent="0">
              <a:buNone/>
            </a:pPr>
            <a:r>
              <a:rPr lang="en-US" sz="800" kern="0" spc="200" dirty="0">
                <a:solidFill>
                  <a:srgbClr val="9B98A6"/>
                </a:solidFill>
                <a:latin typeface="Consolas" pitchFamily="34" charset="0"/>
                <a:ea typeface="Consolas" pitchFamily="34" charset="-122"/>
                <a:cs typeface="Consolas" pitchFamily="34" charset="-120"/>
              </a:rPr>
              <a:t>CONTENT ／ 05</a:t>
            </a:r>
            <a:endParaRPr lang="en-US" sz="800" dirty="0"/>
          </a:p>
        </p:txBody>
      </p:sp>
      <p:sp>
        <p:nvSpPr>
          <p:cNvPr id="3" name="Shape 1"/>
          <p:cNvSpPr/>
          <p:nvPr/>
        </p:nvSpPr>
        <p:spPr>
          <a:xfrm>
            <a:off x="228600" y="320040"/>
            <a:ext cx="64008" cy="64008"/>
          </a:xfrm>
          <a:prstGeom prst="ellipse">
            <a:avLst/>
          </a:prstGeom>
          <a:solidFill>
            <a:srgbClr val="8B7AB8"/>
          </a:solidFill>
          <a:ln/>
        </p:spPr>
        <p:txBody>
          <a:bodyPr/>
          <a:lstStyle/>
          <a:p>
            <a:endParaRPr lang="ja-JP" altLang="en-US"/>
          </a:p>
        </p:txBody>
      </p:sp>
      <p:pic>
        <p:nvPicPr>
          <p:cNvPr id="4" name="Image 0" descr="logo-horizontal.png"/>
          <p:cNvPicPr>
            <a:picLocks noChangeAspect="1"/>
          </p:cNvPicPr>
          <p:nvPr/>
        </p:nvPicPr>
        <p:blipFill>
          <a:blip r:embed="rId2"/>
          <a:stretch>
            <a:fillRect/>
          </a:stretch>
        </p:blipFill>
        <p:spPr>
          <a:xfrm>
            <a:off x="6492240" y="274320"/>
            <a:ext cx="2286000" cy="603504"/>
          </a:xfrm>
          <a:prstGeom prst="rect">
            <a:avLst/>
          </a:prstGeom>
        </p:spPr>
      </p:pic>
      <p:sp>
        <p:nvSpPr>
          <p:cNvPr id="5" name="Text 2"/>
          <p:cNvSpPr/>
          <p:nvPr/>
        </p:nvSpPr>
        <p:spPr>
          <a:xfrm>
            <a:off x="365760" y="960120"/>
            <a:ext cx="1097280" cy="365760"/>
          </a:xfrm>
          <a:prstGeom prst="rect">
            <a:avLst/>
          </a:prstGeom>
          <a:noFill/>
          <a:ln/>
        </p:spPr>
        <p:txBody>
          <a:bodyPr wrap="square" lIns="0" tIns="0" rIns="0" bIns="0" rtlCol="0" anchor="ctr"/>
          <a:lstStyle/>
          <a:p>
            <a:pPr marL="0" indent="0">
              <a:buNone/>
            </a:pPr>
            <a:r>
              <a:rPr lang="en-US" sz="900" kern="0" spc="400" dirty="0">
                <a:solidFill>
                  <a:srgbClr val="8B7AB8"/>
                </a:solidFill>
                <a:latin typeface="Consolas" pitchFamily="34" charset="0"/>
                <a:ea typeface="Consolas" pitchFamily="34" charset="-122"/>
                <a:cs typeface="Consolas" pitchFamily="34" charset="-120"/>
              </a:rPr>
              <a:t>05 / AI</a:t>
            </a:r>
            <a:endParaRPr lang="en-US" sz="900" dirty="0"/>
          </a:p>
        </p:txBody>
      </p:sp>
      <p:sp>
        <p:nvSpPr>
          <p:cNvPr id="6" name="Text 3"/>
          <p:cNvSpPr/>
          <p:nvPr/>
        </p:nvSpPr>
        <p:spPr>
          <a:xfrm>
            <a:off x="1463040" y="914400"/>
            <a:ext cx="7315200" cy="457200"/>
          </a:xfrm>
          <a:prstGeom prst="rect">
            <a:avLst/>
          </a:prstGeom>
          <a:noFill/>
          <a:ln/>
        </p:spPr>
        <p:txBody>
          <a:bodyPr wrap="square" lIns="0" tIns="0" rIns="0" bIns="0" rtlCol="0" anchor="ctr"/>
          <a:lstStyle/>
          <a:p>
            <a:pPr marL="0" indent="0">
              <a:buNone/>
            </a:pPr>
            <a:r>
              <a:rPr lang="en-US" sz="2200" b="1" dirty="0">
                <a:solidFill>
                  <a:srgbClr val="3A3A42"/>
                </a:solidFill>
                <a:latin typeface="Noto Sans JP" pitchFamily="34" charset="0"/>
                <a:ea typeface="Noto Sans JP" pitchFamily="34" charset="-122"/>
                <a:cs typeface="Noto Sans JP" pitchFamily="34" charset="-120"/>
              </a:rPr>
              <a:t>生成AI 利用規程・ガイドライン策定</a:t>
            </a:r>
            <a:endParaRPr lang="en-US" sz="2200" dirty="0"/>
          </a:p>
        </p:txBody>
      </p:sp>
      <p:sp>
        <p:nvSpPr>
          <p:cNvPr id="7" name="Shape 4"/>
          <p:cNvSpPr/>
          <p:nvPr/>
        </p:nvSpPr>
        <p:spPr>
          <a:xfrm>
            <a:off x="365760" y="1417320"/>
            <a:ext cx="8412480" cy="0"/>
          </a:xfrm>
          <a:prstGeom prst="line">
            <a:avLst/>
          </a:prstGeom>
          <a:noFill/>
          <a:ln w="6350">
            <a:solidFill>
              <a:srgbClr val="E8E6EC"/>
            </a:solidFill>
            <a:prstDash val="solid"/>
          </a:ln>
        </p:spPr>
        <p:txBody>
          <a:bodyPr/>
          <a:lstStyle/>
          <a:p>
            <a:endParaRPr lang="ja-JP" altLang="en-US"/>
          </a:p>
        </p:txBody>
      </p:sp>
      <p:sp>
        <p:nvSpPr>
          <p:cNvPr id="10" name="Text 7"/>
          <p:cNvSpPr/>
          <p:nvPr/>
        </p:nvSpPr>
        <p:spPr>
          <a:xfrm>
            <a:off x="7955280" y="4846320"/>
            <a:ext cx="914400" cy="182880"/>
          </a:xfrm>
          <a:prstGeom prst="rect">
            <a:avLst/>
          </a:prstGeom>
          <a:noFill/>
          <a:ln/>
        </p:spPr>
        <p:txBody>
          <a:bodyPr wrap="square" lIns="0" tIns="0" rIns="0" bIns="0" rtlCol="0" anchor="ctr"/>
          <a:lstStyle/>
          <a:p>
            <a:pPr marL="0" indent="0" algn="r">
              <a:buNone/>
            </a:pPr>
            <a:r>
              <a:rPr lang="en-US" sz="800" dirty="0">
                <a:solidFill>
                  <a:srgbClr val="9B98A6"/>
                </a:solidFill>
                <a:latin typeface="Consolas" pitchFamily="34" charset="0"/>
                <a:ea typeface="Consolas" pitchFamily="34" charset="-122"/>
                <a:cs typeface="Consolas" pitchFamily="34" charset="-120"/>
              </a:rPr>
              <a:t>10 / 18</a:t>
            </a:r>
            <a:endParaRPr lang="en-US" sz="800" dirty="0"/>
          </a:p>
        </p:txBody>
      </p:sp>
      <p:sp>
        <p:nvSpPr>
          <p:cNvPr id="100" name="l_t"/>
          <p:cNvSpPr/>
          <p:nvPr/>
        </p:nvSpPr>
        <p:spPr>
          <a:xfrm>
            <a:off x="365760" y="1600200"/>
            <a:ext cx="3840480" cy="274320"/>
          </a:xfrm>
          <a:prstGeom prst="rect">
            <a:avLst/>
          </a:prstGeom>
          <a:noFill/>
          <a:ln/>
        </p:spPr>
        <p:txBody>
          <a:bodyPr wrap="square" lIns="0" tIns="0" rIns="0" bIns="0" rtlCol="0"/>
          <a:lstStyle/>
          <a:p>
            <a:pPr marL="0" indent="0">
              <a:buNone/>
            </a:pPr>
            <a:r>
              <a:rPr lang="ja-JP" sz="1200" b="1" dirty="0">
                <a:solidFill>
                  <a:srgbClr val="3A3A42"/>
                </a:solidFill>
                <a:latin typeface="Noto Sans JP"/>
                <a:ea typeface="Noto Sans JP"/>
                <a:cs typeface="Noto Sans JP"/>
              </a:rPr>
              <a:t>基本コンセプト</a:t>
            </a:r>
          </a:p>
        </p:txBody>
      </p:sp>
      <p:sp>
        <p:nvSpPr>
          <p:cNvPr id="101" name="l_ln"/>
          <p:cNvSpPr/>
          <p:nvPr/>
        </p:nvSpPr>
        <p:spPr>
          <a:xfrm>
            <a:off x="365760" y="1947672"/>
            <a:ext cx="3840480" cy="0"/>
          </a:xfrm>
          <a:prstGeom prst="line">
            <a:avLst/>
          </a:prstGeom>
          <a:noFill/>
          <a:ln w="19050">
            <a:solidFill>
              <a:srgbClr val="8B7AB8"/>
            </a:solidFill>
            <a:prstDash val="solid"/>
          </a:ln>
        </p:spPr>
        <p:txBody>
          <a:bodyPr/>
          <a:lstStyle/>
          <a:p>
            <a:endParaRPr lang="ja-JP" altLang="en-US"/>
          </a:p>
        </p:txBody>
      </p:sp>
      <p:sp>
        <p:nvSpPr>
          <p:cNvPr id="102" name="c_no_bg"/>
          <p:cNvSpPr/>
          <p:nvPr/>
        </p:nvSpPr>
        <p:spPr>
          <a:xfrm>
            <a:off x="365760" y="2148840"/>
            <a:ext cx="3840480" cy="640080"/>
          </a:xfrm>
          <a:prstGeom prst="rect">
            <a:avLst/>
          </a:prstGeom>
          <a:solidFill>
            <a:srgbClr val="FAFAFB"/>
          </a:solidFill>
          <a:ln/>
        </p:spPr>
        <p:txBody>
          <a:bodyPr/>
          <a:lstStyle/>
          <a:p>
            <a:endParaRPr lang="ja-JP" altLang="en-US"/>
          </a:p>
        </p:txBody>
      </p:sp>
      <p:sp>
        <p:nvSpPr>
          <p:cNvPr id="103" name="c_no_l"/>
          <p:cNvSpPr/>
          <p:nvPr/>
        </p:nvSpPr>
        <p:spPr>
          <a:xfrm>
            <a:off x="548640" y="2240280"/>
            <a:ext cx="3474720" cy="201168"/>
          </a:xfrm>
          <a:prstGeom prst="rect">
            <a:avLst/>
          </a:prstGeom>
          <a:noFill/>
          <a:ln/>
        </p:spPr>
        <p:txBody>
          <a:bodyPr wrap="square" lIns="0" tIns="0" rIns="0" bIns="0" rtlCol="0"/>
          <a:lstStyle/>
          <a:p>
            <a:pPr marL="0" indent="0">
              <a:buNone/>
            </a:pPr>
            <a:r>
              <a:rPr lang="ja-JP" sz="800" b="1" kern="0" spc="150" dirty="0">
                <a:solidFill>
                  <a:srgbClr val="9B98A6"/>
                </a:solidFill>
                <a:latin typeface="Consolas"/>
                <a:ea typeface="Consolas"/>
                <a:cs typeface="Consolas"/>
              </a:rPr>
              <a:t>従来型（NG）</a:t>
            </a:r>
          </a:p>
        </p:txBody>
      </p:sp>
      <p:sp>
        <p:nvSpPr>
          <p:cNvPr id="104" name="c_no_t"/>
          <p:cNvSpPr/>
          <p:nvPr/>
        </p:nvSpPr>
        <p:spPr>
          <a:xfrm>
            <a:off x="548640" y="2468880"/>
            <a:ext cx="3474720" cy="274320"/>
          </a:xfrm>
          <a:prstGeom prst="rect">
            <a:avLst/>
          </a:prstGeom>
          <a:noFill/>
          <a:ln/>
        </p:spPr>
        <p:txBody>
          <a:bodyPr wrap="square" lIns="0" tIns="0" rIns="0" bIns="0" rtlCol="0"/>
          <a:lstStyle/>
          <a:p>
            <a:pPr marL="0" indent="0">
              <a:buNone/>
            </a:pPr>
            <a:r>
              <a:rPr lang="ja-JP" sz="1200" b="1" dirty="0">
                <a:solidFill>
                  <a:srgbClr val="9B98A6"/>
                </a:solidFill>
                <a:latin typeface="Noto Sans JP"/>
                <a:ea typeface="Noto Sans JP"/>
                <a:cs typeface="Noto Sans JP"/>
              </a:rPr>
              <a:t>禁止するためのルール</a:t>
            </a:r>
          </a:p>
        </p:txBody>
      </p:sp>
      <p:sp>
        <p:nvSpPr>
          <p:cNvPr id="105" name="c_ok_bg"/>
          <p:cNvSpPr/>
          <p:nvPr/>
        </p:nvSpPr>
        <p:spPr>
          <a:xfrm>
            <a:off x="365760" y="2971800"/>
            <a:ext cx="3840480" cy="822960"/>
          </a:xfrm>
          <a:prstGeom prst="rect">
            <a:avLst/>
          </a:prstGeom>
          <a:solidFill>
            <a:srgbClr val="8B7AB8"/>
          </a:solidFill>
          <a:ln/>
        </p:spPr>
        <p:txBody>
          <a:bodyPr/>
          <a:lstStyle/>
          <a:p>
            <a:endParaRPr lang="ja-JP" altLang="en-US"/>
          </a:p>
        </p:txBody>
      </p:sp>
      <p:sp>
        <p:nvSpPr>
          <p:cNvPr id="106" name="c_ok_l"/>
          <p:cNvSpPr/>
          <p:nvPr/>
        </p:nvSpPr>
        <p:spPr>
          <a:xfrm>
            <a:off x="548640" y="3081528"/>
            <a:ext cx="3474720" cy="201168"/>
          </a:xfrm>
          <a:prstGeom prst="rect">
            <a:avLst/>
          </a:prstGeom>
          <a:noFill/>
          <a:ln/>
        </p:spPr>
        <p:txBody>
          <a:bodyPr wrap="square" lIns="0" tIns="0" rIns="0" bIns="0" rtlCol="0"/>
          <a:lstStyle/>
          <a:p>
            <a:pPr marL="0" indent="0">
              <a:buNone/>
            </a:pPr>
            <a:r>
              <a:rPr lang="ja-JP" sz="800" b="1" kern="0" spc="150" dirty="0">
                <a:solidFill>
                  <a:srgbClr val="D9D1E8"/>
                </a:solidFill>
                <a:latin typeface="Consolas"/>
                <a:ea typeface="Consolas"/>
                <a:cs typeface="Consolas"/>
              </a:rPr>
              <a:t>当社アプローチ</a:t>
            </a:r>
          </a:p>
        </p:txBody>
      </p:sp>
      <p:sp>
        <p:nvSpPr>
          <p:cNvPr id="107" name="c_ok_t"/>
          <p:cNvSpPr/>
          <p:nvPr/>
        </p:nvSpPr>
        <p:spPr>
          <a:xfrm>
            <a:off x="548640" y="3319272"/>
            <a:ext cx="3474720" cy="384048"/>
          </a:xfrm>
          <a:prstGeom prst="rect">
            <a:avLst/>
          </a:prstGeom>
          <a:noFill/>
          <a:ln/>
        </p:spPr>
        <p:txBody>
          <a:bodyPr wrap="square" lIns="0" tIns="0" rIns="0" bIns="0" rtlCol="0"/>
          <a:lstStyle/>
          <a:p>
            <a:pPr marL="0" indent="0">
              <a:buNone/>
            </a:pPr>
            <a:r>
              <a:rPr lang="ja-JP" sz="1400" b="1" dirty="0">
                <a:solidFill>
                  <a:srgbClr val="FFFFFF"/>
                </a:solidFill>
                <a:latin typeface="Noto Sans JP"/>
                <a:ea typeface="Noto Sans JP"/>
                <a:cs typeface="Noto Sans JP"/>
              </a:rPr>
              <a:t>安全に推進するためのルール</a:t>
            </a:r>
          </a:p>
        </p:txBody>
      </p:sp>
      <p:sp>
        <p:nvSpPr>
          <p:cNvPr id="108" name="l_supp"/>
          <p:cNvSpPr/>
          <p:nvPr/>
        </p:nvSpPr>
        <p:spPr>
          <a:xfrm>
            <a:off x="365760" y="3977640"/>
            <a:ext cx="3840480" cy="640080"/>
          </a:xfrm>
          <a:prstGeom prst="rect">
            <a:avLst/>
          </a:prstGeom>
          <a:noFill/>
          <a:ln/>
        </p:spPr>
        <p:txBody>
          <a:bodyPr wrap="square" lIns="0" tIns="0" rIns="0" bIns="0" rtlCol="0"/>
          <a:lstStyle/>
          <a:p>
            <a:pPr marL="0" indent="0">
              <a:lnSpc>
                <a:spcPct val="140000"/>
              </a:lnSpc>
              <a:buNone/>
            </a:pPr>
            <a:r>
              <a:rPr lang="ja-JP" sz="900" dirty="0">
                <a:solidFill>
                  <a:srgbClr val="5E5C6A"/>
                </a:solidFill>
                <a:latin typeface="Noto Sans JP"/>
                <a:ea typeface="Noto Sans JP"/>
                <a:cs typeface="Noto Sans JP"/>
              </a:rPr>
              <a:t>将来的なAI技術の発展と活用を見据え</a:t>
            </a:r>
          </a:p>
          <a:p>
            <a:pPr marL="0" indent="0">
              <a:lnSpc>
                <a:spcPct val="140000"/>
              </a:lnSpc>
              <a:buNone/>
            </a:pPr>
            <a:r>
              <a:rPr lang="ja-JP" sz="900" dirty="0">
                <a:solidFill>
                  <a:srgbClr val="5E5C6A"/>
                </a:solidFill>
                <a:latin typeface="Noto Sans JP"/>
                <a:ea typeface="Noto Sans JP"/>
                <a:cs typeface="Noto Sans JP"/>
              </a:rPr>
              <a:t>まずは規程整備から段階的に着手します。</a:t>
            </a:r>
          </a:p>
        </p:txBody>
      </p:sp>
      <p:sp>
        <p:nvSpPr>
          <p:cNvPr id="109" name="r_t"/>
          <p:cNvSpPr/>
          <p:nvPr/>
        </p:nvSpPr>
        <p:spPr>
          <a:xfrm>
            <a:off x="4480560" y="1600200"/>
            <a:ext cx="4297680" cy="274320"/>
          </a:xfrm>
          <a:prstGeom prst="rect">
            <a:avLst/>
          </a:prstGeom>
          <a:noFill/>
          <a:ln/>
        </p:spPr>
        <p:txBody>
          <a:bodyPr wrap="square" lIns="0" tIns="0" rIns="0" bIns="0" rtlCol="0"/>
          <a:lstStyle/>
          <a:p>
            <a:pPr marL="0" indent="0">
              <a:buNone/>
            </a:pPr>
            <a:r>
              <a:rPr lang="ja-JP" sz="1200" b="1" dirty="0">
                <a:solidFill>
                  <a:srgbClr val="3A3A42"/>
                </a:solidFill>
                <a:latin typeface="Noto Sans JP"/>
                <a:ea typeface="Noto Sans JP"/>
                <a:cs typeface="Noto Sans JP"/>
              </a:rPr>
              <a:t>主要成果物</a:t>
            </a:r>
          </a:p>
        </p:txBody>
      </p:sp>
      <p:sp>
        <p:nvSpPr>
          <p:cNvPr id="110" name="r_ln"/>
          <p:cNvSpPr/>
          <p:nvPr/>
        </p:nvSpPr>
        <p:spPr>
          <a:xfrm>
            <a:off x="4480560" y="1947672"/>
            <a:ext cx="4297680" cy="0"/>
          </a:xfrm>
          <a:prstGeom prst="line">
            <a:avLst/>
          </a:prstGeom>
          <a:noFill/>
          <a:ln w="19050">
            <a:solidFill>
              <a:srgbClr val="8B7AB8"/>
            </a:solidFill>
            <a:prstDash val="solid"/>
          </a:ln>
        </p:spPr>
        <p:txBody>
          <a:bodyPr/>
          <a:lstStyle/>
          <a:p>
            <a:endParaRPr lang="ja-JP" altLang="en-US"/>
          </a:p>
        </p:txBody>
      </p:sp>
      <p:sp>
        <p:nvSpPr>
          <p:cNvPr id="111" name="d_n_0"/>
          <p:cNvSpPr/>
          <p:nvPr/>
        </p:nvSpPr>
        <p:spPr>
          <a:xfrm>
            <a:off x="4480560" y="2103120"/>
            <a:ext cx="274320" cy="274320"/>
          </a:xfrm>
          <a:prstGeom prst="rect">
            <a:avLst/>
          </a:prstGeom>
          <a:noFill/>
          <a:ln/>
        </p:spPr>
        <p:txBody>
          <a:bodyPr wrap="square" lIns="0" tIns="0" rIns="0" bIns="0" rtlCol="0"/>
          <a:lstStyle/>
          <a:p>
            <a:pPr marL="0" indent="0">
              <a:buNone/>
            </a:pPr>
            <a:r>
              <a:rPr lang="ja-JP" sz="900" b="1" dirty="0">
                <a:solidFill>
                  <a:srgbClr val="8B7AB8"/>
                </a:solidFill>
                <a:latin typeface="Consolas"/>
                <a:ea typeface="Consolas"/>
                <a:cs typeface="Consolas"/>
              </a:rPr>
              <a:t>01</a:t>
            </a:r>
          </a:p>
        </p:txBody>
      </p:sp>
      <p:sp>
        <p:nvSpPr>
          <p:cNvPr id="112" name="d_h_0"/>
          <p:cNvSpPr/>
          <p:nvPr/>
        </p:nvSpPr>
        <p:spPr>
          <a:xfrm>
            <a:off x="4846320" y="2084832"/>
            <a:ext cx="3931920" cy="228600"/>
          </a:xfrm>
          <a:prstGeom prst="rect">
            <a:avLst/>
          </a:prstGeom>
          <a:noFill/>
          <a:ln/>
        </p:spPr>
        <p:txBody>
          <a:bodyPr wrap="square" lIns="0" tIns="0" rIns="0" bIns="0" rtlCol="0"/>
          <a:lstStyle/>
          <a:p>
            <a:pPr marL="0" indent="0">
              <a:buNone/>
            </a:pPr>
            <a:r>
              <a:rPr lang="ja-JP" sz="1050" b="1" dirty="0">
                <a:solidFill>
                  <a:srgbClr val="3A3A42"/>
                </a:solidFill>
                <a:latin typeface="Noto Sans JP"/>
                <a:ea typeface="Noto Sans JP"/>
                <a:cs typeface="Noto Sans JP"/>
              </a:rPr>
              <a:t>生成AI 利用ガイドライン／規程</a:t>
            </a:r>
          </a:p>
        </p:txBody>
      </p:sp>
      <p:sp>
        <p:nvSpPr>
          <p:cNvPr id="113" name="d_d_0"/>
          <p:cNvSpPr/>
          <p:nvPr/>
        </p:nvSpPr>
        <p:spPr>
          <a:xfrm>
            <a:off x="4846320" y="2304288"/>
            <a:ext cx="3931920" cy="201168"/>
          </a:xfrm>
          <a:prstGeom prst="rect">
            <a:avLst/>
          </a:prstGeom>
          <a:noFill/>
          <a:ln/>
        </p:spPr>
        <p:txBody>
          <a:bodyPr wrap="square" lIns="0" tIns="0" rIns="0" bIns="0" rtlCol="0"/>
          <a:lstStyle/>
          <a:p>
            <a:pPr marL="0" indent="0">
              <a:buNone/>
            </a:pPr>
            <a:r>
              <a:rPr lang="ja-JP" sz="800" dirty="0">
                <a:solidFill>
                  <a:srgbClr val="5E5C6A"/>
                </a:solidFill>
                <a:latin typeface="Noto Sans JP"/>
                <a:ea typeface="Noto Sans JP"/>
                <a:cs typeface="Noto Sans JP"/>
              </a:rPr>
              <a:t>学園機密・個人情報・学生情報の取扱い区分</a:t>
            </a:r>
          </a:p>
        </p:txBody>
      </p:sp>
      <p:sp>
        <p:nvSpPr>
          <p:cNvPr id="114" name="d_n_1"/>
          <p:cNvSpPr/>
          <p:nvPr/>
        </p:nvSpPr>
        <p:spPr>
          <a:xfrm>
            <a:off x="4480560" y="2560320"/>
            <a:ext cx="274320" cy="274320"/>
          </a:xfrm>
          <a:prstGeom prst="rect">
            <a:avLst/>
          </a:prstGeom>
          <a:noFill/>
          <a:ln/>
        </p:spPr>
        <p:txBody>
          <a:bodyPr wrap="square" lIns="0" tIns="0" rIns="0" bIns="0" rtlCol="0"/>
          <a:lstStyle/>
          <a:p>
            <a:pPr marL="0" indent="0">
              <a:buNone/>
            </a:pPr>
            <a:r>
              <a:rPr lang="ja-JP" sz="900" b="1" dirty="0">
                <a:solidFill>
                  <a:srgbClr val="8B7AB8"/>
                </a:solidFill>
                <a:latin typeface="Consolas"/>
                <a:ea typeface="Consolas"/>
                <a:cs typeface="Consolas"/>
              </a:rPr>
              <a:t>02</a:t>
            </a:r>
          </a:p>
        </p:txBody>
      </p:sp>
      <p:sp>
        <p:nvSpPr>
          <p:cNvPr id="115" name="d_h_1"/>
          <p:cNvSpPr/>
          <p:nvPr/>
        </p:nvSpPr>
        <p:spPr>
          <a:xfrm>
            <a:off x="4846320" y="2542032"/>
            <a:ext cx="3931920" cy="228600"/>
          </a:xfrm>
          <a:prstGeom prst="rect">
            <a:avLst/>
          </a:prstGeom>
          <a:noFill/>
          <a:ln/>
        </p:spPr>
        <p:txBody>
          <a:bodyPr wrap="square" lIns="0" tIns="0" rIns="0" bIns="0" rtlCol="0"/>
          <a:lstStyle/>
          <a:p>
            <a:pPr marL="0" indent="0">
              <a:buNone/>
            </a:pPr>
            <a:r>
              <a:rPr lang="ja-JP" sz="1050" b="1" dirty="0">
                <a:solidFill>
                  <a:srgbClr val="3A3A42"/>
                </a:solidFill>
                <a:latin typeface="Noto Sans JP"/>
                <a:ea typeface="Noto Sans JP"/>
                <a:cs typeface="Noto Sans JP"/>
              </a:rPr>
              <a:t>利用可能／不可ツール判定基準</a:t>
            </a:r>
          </a:p>
        </p:txBody>
      </p:sp>
      <p:sp>
        <p:nvSpPr>
          <p:cNvPr id="116" name="d_d_1"/>
          <p:cNvSpPr/>
          <p:nvPr/>
        </p:nvSpPr>
        <p:spPr>
          <a:xfrm>
            <a:off x="4846320" y="2761488"/>
            <a:ext cx="3931920" cy="201168"/>
          </a:xfrm>
          <a:prstGeom prst="rect">
            <a:avLst/>
          </a:prstGeom>
          <a:noFill/>
          <a:ln/>
        </p:spPr>
        <p:txBody>
          <a:bodyPr wrap="square" lIns="0" tIns="0" rIns="0" bIns="0" rtlCol="0"/>
          <a:lstStyle/>
          <a:p>
            <a:pPr marL="0" indent="0">
              <a:buNone/>
            </a:pPr>
            <a:r>
              <a:rPr lang="ja-JP" sz="800" dirty="0">
                <a:solidFill>
                  <a:srgbClr val="5E5C6A"/>
                </a:solidFill>
                <a:latin typeface="Noto Sans JP"/>
                <a:ea typeface="Noto Sans JP"/>
                <a:cs typeface="Noto Sans JP"/>
              </a:rPr>
              <a:t>承認プロセスと対象ツール一覧</a:t>
            </a:r>
          </a:p>
        </p:txBody>
      </p:sp>
      <p:sp>
        <p:nvSpPr>
          <p:cNvPr id="117" name="d_n_2"/>
          <p:cNvSpPr/>
          <p:nvPr/>
        </p:nvSpPr>
        <p:spPr>
          <a:xfrm>
            <a:off x="4480560" y="3017520"/>
            <a:ext cx="274320" cy="274320"/>
          </a:xfrm>
          <a:prstGeom prst="rect">
            <a:avLst/>
          </a:prstGeom>
          <a:noFill/>
          <a:ln/>
        </p:spPr>
        <p:txBody>
          <a:bodyPr wrap="square" lIns="0" tIns="0" rIns="0" bIns="0" rtlCol="0"/>
          <a:lstStyle/>
          <a:p>
            <a:pPr marL="0" indent="0">
              <a:buNone/>
            </a:pPr>
            <a:r>
              <a:rPr lang="ja-JP" sz="900" b="1" dirty="0">
                <a:solidFill>
                  <a:srgbClr val="8B7AB8"/>
                </a:solidFill>
                <a:latin typeface="Consolas"/>
                <a:ea typeface="Consolas"/>
                <a:cs typeface="Consolas"/>
              </a:rPr>
              <a:t>03</a:t>
            </a:r>
          </a:p>
        </p:txBody>
      </p:sp>
      <p:sp>
        <p:nvSpPr>
          <p:cNvPr id="118" name="d_h_2"/>
          <p:cNvSpPr/>
          <p:nvPr/>
        </p:nvSpPr>
        <p:spPr>
          <a:xfrm>
            <a:off x="4846320" y="2999232"/>
            <a:ext cx="3931920" cy="228600"/>
          </a:xfrm>
          <a:prstGeom prst="rect">
            <a:avLst/>
          </a:prstGeom>
          <a:noFill/>
          <a:ln/>
        </p:spPr>
        <p:txBody>
          <a:bodyPr wrap="square" lIns="0" tIns="0" rIns="0" bIns="0" rtlCol="0"/>
          <a:lstStyle/>
          <a:p>
            <a:pPr marL="0" indent="0">
              <a:buNone/>
            </a:pPr>
            <a:r>
              <a:rPr lang="ja-JP" sz="1050" b="1" dirty="0">
                <a:solidFill>
                  <a:srgbClr val="3A3A42"/>
                </a:solidFill>
                <a:latin typeface="Noto Sans JP"/>
                <a:ea typeface="Noto Sans JP"/>
                <a:cs typeface="Noto Sans JP"/>
              </a:rPr>
              <a:t>著作権・アウトプット責任ルール</a:t>
            </a:r>
          </a:p>
        </p:txBody>
      </p:sp>
      <p:sp>
        <p:nvSpPr>
          <p:cNvPr id="119" name="d_d_2"/>
          <p:cNvSpPr/>
          <p:nvPr/>
        </p:nvSpPr>
        <p:spPr>
          <a:xfrm>
            <a:off x="4846320" y="3218688"/>
            <a:ext cx="3931920" cy="201168"/>
          </a:xfrm>
          <a:prstGeom prst="rect">
            <a:avLst/>
          </a:prstGeom>
          <a:noFill/>
          <a:ln/>
        </p:spPr>
        <p:txBody>
          <a:bodyPr wrap="square" lIns="0" tIns="0" rIns="0" bIns="0" rtlCol="0"/>
          <a:lstStyle/>
          <a:p>
            <a:pPr marL="0" indent="0">
              <a:buNone/>
            </a:pPr>
            <a:r>
              <a:rPr lang="ja-JP" sz="800" dirty="0">
                <a:solidFill>
                  <a:srgbClr val="5E5C6A"/>
                </a:solidFill>
                <a:latin typeface="Noto Sans JP"/>
                <a:ea typeface="Noto Sans JP"/>
                <a:cs typeface="Noto Sans JP"/>
              </a:rPr>
              <a:t>生成物の権利と学園としての責任範囲</a:t>
            </a:r>
          </a:p>
        </p:txBody>
      </p:sp>
      <p:sp>
        <p:nvSpPr>
          <p:cNvPr id="120" name="d_n_3"/>
          <p:cNvSpPr/>
          <p:nvPr/>
        </p:nvSpPr>
        <p:spPr>
          <a:xfrm>
            <a:off x="4480560" y="3474720"/>
            <a:ext cx="274320" cy="274320"/>
          </a:xfrm>
          <a:prstGeom prst="rect">
            <a:avLst/>
          </a:prstGeom>
          <a:noFill/>
          <a:ln/>
        </p:spPr>
        <p:txBody>
          <a:bodyPr wrap="square" lIns="0" tIns="0" rIns="0" bIns="0" rtlCol="0"/>
          <a:lstStyle/>
          <a:p>
            <a:pPr marL="0" indent="0">
              <a:buNone/>
            </a:pPr>
            <a:r>
              <a:rPr lang="ja-JP" sz="900" b="1" dirty="0">
                <a:solidFill>
                  <a:srgbClr val="8B7AB8"/>
                </a:solidFill>
                <a:latin typeface="Consolas"/>
                <a:ea typeface="Consolas"/>
                <a:cs typeface="Consolas"/>
              </a:rPr>
              <a:t>04</a:t>
            </a:r>
          </a:p>
        </p:txBody>
      </p:sp>
      <p:sp>
        <p:nvSpPr>
          <p:cNvPr id="121" name="d_h_3"/>
          <p:cNvSpPr/>
          <p:nvPr/>
        </p:nvSpPr>
        <p:spPr>
          <a:xfrm>
            <a:off x="4846320" y="3456432"/>
            <a:ext cx="3931920" cy="228600"/>
          </a:xfrm>
          <a:prstGeom prst="rect">
            <a:avLst/>
          </a:prstGeom>
          <a:noFill/>
          <a:ln/>
        </p:spPr>
        <p:txBody>
          <a:bodyPr wrap="square" lIns="0" tIns="0" rIns="0" bIns="0" rtlCol="0"/>
          <a:lstStyle/>
          <a:p>
            <a:pPr marL="0" indent="0">
              <a:buNone/>
            </a:pPr>
            <a:r>
              <a:rPr lang="ja-JP" sz="1050" b="1" dirty="0">
                <a:solidFill>
                  <a:srgbClr val="3A3A42"/>
                </a:solidFill>
                <a:latin typeface="Noto Sans JP"/>
                <a:ea typeface="Noto Sans JP"/>
                <a:cs typeface="Noto Sans JP"/>
              </a:rPr>
              <a:t>インシデント対応フロー</a:t>
            </a:r>
          </a:p>
        </p:txBody>
      </p:sp>
      <p:sp>
        <p:nvSpPr>
          <p:cNvPr id="122" name="d_d_3"/>
          <p:cNvSpPr/>
          <p:nvPr/>
        </p:nvSpPr>
        <p:spPr>
          <a:xfrm>
            <a:off x="4846320" y="3675888"/>
            <a:ext cx="3931920" cy="201168"/>
          </a:xfrm>
          <a:prstGeom prst="rect">
            <a:avLst/>
          </a:prstGeom>
          <a:noFill/>
          <a:ln/>
        </p:spPr>
        <p:txBody>
          <a:bodyPr wrap="square" lIns="0" tIns="0" rIns="0" bIns="0" rtlCol="0"/>
          <a:lstStyle/>
          <a:p>
            <a:pPr marL="0" indent="0">
              <a:buNone/>
            </a:pPr>
            <a:r>
              <a:rPr lang="ja-JP" sz="800" dirty="0">
                <a:solidFill>
                  <a:srgbClr val="5E5C6A"/>
                </a:solidFill>
                <a:latin typeface="Noto Sans JP"/>
                <a:ea typeface="Noto Sans JP"/>
                <a:cs typeface="Noto Sans JP"/>
              </a:rPr>
              <a:t>情報漏洩・誤出力時のエスカレーション</a:t>
            </a:r>
          </a:p>
        </p:txBody>
      </p:sp>
      <p:sp>
        <p:nvSpPr>
          <p:cNvPr id="123" name="d_n_4"/>
          <p:cNvSpPr/>
          <p:nvPr/>
        </p:nvSpPr>
        <p:spPr>
          <a:xfrm>
            <a:off x="4480560" y="3931920"/>
            <a:ext cx="274320" cy="274320"/>
          </a:xfrm>
          <a:prstGeom prst="rect">
            <a:avLst/>
          </a:prstGeom>
          <a:noFill/>
          <a:ln/>
        </p:spPr>
        <p:txBody>
          <a:bodyPr wrap="square" lIns="0" tIns="0" rIns="0" bIns="0" rtlCol="0"/>
          <a:lstStyle/>
          <a:p>
            <a:pPr marL="0" indent="0">
              <a:buNone/>
            </a:pPr>
            <a:r>
              <a:rPr lang="ja-JP" sz="900" b="1" dirty="0">
                <a:solidFill>
                  <a:srgbClr val="8B7AB8"/>
                </a:solidFill>
                <a:latin typeface="Consolas"/>
                <a:ea typeface="Consolas"/>
                <a:cs typeface="Consolas"/>
              </a:rPr>
              <a:t>05</a:t>
            </a:r>
          </a:p>
        </p:txBody>
      </p:sp>
      <p:sp>
        <p:nvSpPr>
          <p:cNvPr id="124" name="d_h_4"/>
          <p:cNvSpPr/>
          <p:nvPr/>
        </p:nvSpPr>
        <p:spPr>
          <a:xfrm>
            <a:off x="4846320" y="3913632"/>
            <a:ext cx="3931920" cy="228600"/>
          </a:xfrm>
          <a:prstGeom prst="rect">
            <a:avLst/>
          </a:prstGeom>
          <a:noFill/>
          <a:ln/>
        </p:spPr>
        <p:txBody>
          <a:bodyPr wrap="square" lIns="0" tIns="0" rIns="0" bIns="0" rtlCol="0"/>
          <a:lstStyle/>
          <a:p>
            <a:pPr marL="0" indent="0">
              <a:buNone/>
            </a:pPr>
            <a:r>
              <a:rPr lang="ja-JP" sz="1050" b="1" dirty="0">
                <a:solidFill>
                  <a:srgbClr val="3A3A42"/>
                </a:solidFill>
                <a:latin typeface="Noto Sans JP"/>
                <a:ea typeface="Noto Sans JP"/>
                <a:cs typeface="Noto Sans JP"/>
              </a:rPr>
              <a:t>学内説明資料／研修資料</a:t>
            </a:r>
          </a:p>
        </p:txBody>
      </p:sp>
      <p:sp>
        <p:nvSpPr>
          <p:cNvPr id="125" name="d_d_4"/>
          <p:cNvSpPr/>
          <p:nvPr/>
        </p:nvSpPr>
        <p:spPr>
          <a:xfrm>
            <a:off x="4846320" y="4133088"/>
            <a:ext cx="3931920" cy="201168"/>
          </a:xfrm>
          <a:prstGeom prst="rect">
            <a:avLst/>
          </a:prstGeom>
          <a:noFill/>
          <a:ln/>
        </p:spPr>
        <p:txBody>
          <a:bodyPr wrap="square" lIns="0" tIns="0" rIns="0" bIns="0" rtlCol="0"/>
          <a:lstStyle/>
          <a:p>
            <a:pPr marL="0" indent="0">
              <a:buNone/>
            </a:pPr>
            <a:r>
              <a:rPr lang="ja-JP" sz="800" dirty="0">
                <a:solidFill>
                  <a:srgbClr val="5E5C6A"/>
                </a:solidFill>
                <a:latin typeface="Noto Sans JP"/>
                <a:ea typeface="Noto Sans JP"/>
                <a:cs typeface="Noto Sans JP"/>
              </a:rPr>
              <a:t>プロジェクトCと連動した教材</a:t>
            </a:r>
          </a:p>
        </p:txBody>
      </p:sp>
      <p:sp>
        <p:nvSpPr>
          <p:cNvPr id="126" name="cb_bg"/>
          <p:cNvSpPr/>
          <p:nvPr/>
        </p:nvSpPr>
        <p:spPr>
          <a:xfrm>
            <a:off x="365760" y="4498848"/>
            <a:ext cx="8412480" cy="320040"/>
          </a:xfrm>
          <a:prstGeom prst="rect">
            <a:avLst/>
          </a:prstGeom>
          <a:solidFill>
            <a:srgbClr val="8B7AB8"/>
          </a:solidFill>
          <a:ln/>
        </p:spPr>
        <p:txBody>
          <a:bodyPr/>
          <a:lstStyle/>
          <a:p>
            <a:endParaRPr lang="ja-JP" altLang="en-US"/>
          </a:p>
        </p:txBody>
      </p:sp>
      <p:sp>
        <p:nvSpPr>
          <p:cNvPr id="127" name="cb_t"/>
          <p:cNvSpPr/>
          <p:nvPr/>
        </p:nvSpPr>
        <p:spPr>
          <a:xfrm>
            <a:off x="548640" y="4498848"/>
            <a:ext cx="8229600" cy="320040"/>
          </a:xfrm>
          <a:prstGeom prst="rect">
            <a:avLst/>
          </a:prstGeom>
          <a:noFill/>
          <a:ln/>
        </p:spPr>
        <p:txBody>
          <a:bodyPr wrap="square" lIns="0" tIns="0" rIns="0" bIns="0" rtlCol="0" anchor="ctr"/>
          <a:lstStyle/>
          <a:p>
            <a:pPr marL="0" indent="0">
              <a:buNone/>
            </a:pPr>
            <a:r>
              <a:rPr lang="ja-JP" sz="950" b="1" kern="0" spc="50" dirty="0">
                <a:solidFill>
                  <a:srgbClr val="FFFFFF"/>
                </a:solidFill>
                <a:latin typeface="Consolas"/>
                <a:ea typeface="Consolas"/>
                <a:cs typeface="Consolas"/>
              </a:rPr>
              <a:t>PROJECT B  想定期間 / 工数 / 費用（標準シナリオ）    2〜3ヶ月  ／  123h  ／  ¥1,230,000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marL="0" indent="0">
              <a:buNone/>
            </a:pPr>
            <a:r>
              <a:rPr lang="en-US" sz="800" kern="0" spc="200" dirty="0">
                <a:solidFill>
                  <a:srgbClr val="9B98A6"/>
                </a:solidFill>
                <a:latin typeface="Consolas" pitchFamily="34" charset="0"/>
                <a:ea typeface="Consolas" pitchFamily="34" charset="-122"/>
                <a:cs typeface="Consolas" pitchFamily="34" charset="-120"/>
              </a:rPr>
              <a:t>CONTENT ／ 06</a:t>
            </a:r>
            <a:endParaRPr lang="en-US" sz="800" dirty="0"/>
          </a:p>
        </p:txBody>
      </p:sp>
      <p:sp>
        <p:nvSpPr>
          <p:cNvPr id="3" name="Shape 1"/>
          <p:cNvSpPr/>
          <p:nvPr/>
        </p:nvSpPr>
        <p:spPr>
          <a:xfrm>
            <a:off x="228600" y="320040"/>
            <a:ext cx="64008" cy="64008"/>
          </a:xfrm>
          <a:prstGeom prst="ellipse">
            <a:avLst/>
          </a:prstGeom>
          <a:solidFill>
            <a:srgbClr val="8B7AB8"/>
          </a:solidFill>
          <a:ln/>
        </p:spPr>
        <p:txBody>
          <a:bodyPr/>
          <a:lstStyle/>
          <a:p>
            <a:endParaRPr lang="ja-JP" altLang="en-US"/>
          </a:p>
        </p:txBody>
      </p:sp>
      <p:pic>
        <p:nvPicPr>
          <p:cNvPr id="4" name="Image 0" descr="logo-horizontal.png"/>
          <p:cNvPicPr>
            <a:picLocks noChangeAspect="1"/>
          </p:cNvPicPr>
          <p:nvPr/>
        </p:nvPicPr>
        <p:blipFill>
          <a:blip r:embed="rId2"/>
          <a:stretch>
            <a:fillRect/>
          </a:stretch>
        </p:blipFill>
        <p:spPr>
          <a:xfrm>
            <a:off x="6492240" y="274320"/>
            <a:ext cx="2286000" cy="603504"/>
          </a:xfrm>
          <a:prstGeom prst="rect">
            <a:avLst/>
          </a:prstGeom>
        </p:spPr>
      </p:pic>
      <p:sp>
        <p:nvSpPr>
          <p:cNvPr id="5" name="Text 2"/>
          <p:cNvSpPr/>
          <p:nvPr/>
        </p:nvSpPr>
        <p:spPr>
          <a:xfrm>
            <a:off x="365760" y="960120"/>
            <a:ext cx="1097280" cy="365760"/>
          </a:xfrm>
          <a:prstGeom prst="rect">
            <a:avLst/>
          </a:prstGeom>
          <a:noFill/>
          <a:ln/>
        </p:spPr>
        <p:txBody>
          <a:bodyPr wrap="square" lIns="0" tIns="0" rIns="0" bIns="0" rtlCol="0" anchor="ctr"/>
          <a:lstStyle/>
          <a:p>
            <a:pPr marL="0" indent="0">
              <a:buNone/>
            </a:pPr>
            <a:r>
              <a:rPr lang="en-US" sz="900" kern="0" spc="400" dirty="0">
                <a:solidFill>
                  <a:srgbClr val="8B7AB8"/>
                </a:solidFill>
                <a:latin typeface="Consolas" pitchFamily="34" charset="0"/>
                <a:ea typeface="Consolas" pitchFamily="34" charset="-122"/>
                <a:cs typeface="Consolas" pitchFamily="34" charset="-120"/>
              </a:rPr>
              <a:t>06 / AI</a:t>
            </a:r>
            <a:endParaRPr lang="en-US" sz="900" dirty="0"/>
          </a:p>
        </p:txBody>
      </p:sp>
      <p:sp>
        <p:nvSpPr>
          <p:cNvPr id="6" name="Text 3"/>
          <p:cNvSpPr/>
          <p:nvPr/>
        </p:nvSpPr>
        <p:spPr>
          <a:xfrm>
            <a:off x="1463040" y="914400"/>
            <a:ext cx="7315200" cy="457200"/>
          </a:xfrm>
          <a:prstGeom prst="rect">
            <a:avLst/>
          </a:prstGeom>
          <a:noFill/>
          <a:ln/>
        </p:spPr>
        <p:txBody>
          <a:bodyPr wrap="square" lIns="0" tIns="0" rIns="0" bIns="0" rtlCol="0" anchor="ctr"/>
          <a:lstStyle/>
          <a:p>
            <a:pPr marL="0" indent="0">
              <a:buNone/>
            </a:pPr>
            <a:r>
              <a:rPr lang="en-US" sz="2200" b="1" dirty="0">
                <a:solidFill>
                  <a:srgbClr val="3A3A42"/>
                </a:solidFill>
                <a:latin typeface="Noto Sans JP" pitchFamily="34" charset="0"/>
                <a:ea typeface="Noto Sans JP" pitchFamily="34" charset="-122"/>
                <a:cs typeface="Noto Sans JP" pitchFamily="34" charset="-120"/>
              </a:rPr>
              <a:t>社内AI推進担当者 育成プログラム</a:t>
            </a:r>
            <a:endParaRPr lang="en-US" sz="2200" dirty="0"/>
          </a:p>
        </p:txBody>
      </p:sp>
      <p:sp>
        <p:nvSpPr>
          <p:cNvPr id="7" name="Shape 4"/>
          <p:cNvSpPr/>
          <p:nvPr/>
        </p:nvSpPr>
        <p:spPr>
          <a:xfrm>
            <a:off x="365760" y="1417320"/>
            <a:ext cx="8412480" cy="0"/>
          </a:xfrm>
          <a:prstGeom prst="line">
            <a:avLst/>
          </a:prstGeom>
          <a:noFill/>
          <a:ln w="6350">
            <a:solidFill>
              <a:srgbClr val="E8E6EC"/>
            </a:solidFill>
            <a:prstDash val="solid"/>
          </a:ln>
        </p:spPr>
        <p:txBody>
          <a:bodyPr/>
          <a:lstStyle/>
          <a:p>
            <a:endParaRPr lang="ja-JP" altLang="en-US"/>
          </a:p>
        </p:txBody>
      </p:sp>
      <p:sp>
        <p:nvSpPr>
          <p:cNvPr id="10" name="Text 7"/>
          <p:cNvSpPr/>
          <p:nvPr/>
        </p:nvSpPr>
        <p:spPr>
          <a:xfrm>
            <a:off x="7955280" y="4846320"/>
            <a:ext cx="914400" cy="182880"/>
          </a:xfrm>
          <a:prstGeom prst="rect">
            <a:avLst/>
          </a:prstGeom>
          <a:noFill/>
          <a:ln/>
        </p:spPr>
        <p:txBody>
          <a:bodyPr wrap="square" lIns="0" tIns="0" rIns="0" bIns="0" rtlCol="0" anchor="ctr"/>
          <a:lstStyle/>
          <a:p>
            <a:pPr marL="0" indent="0" algn="r">
              <a:buNone/>
            </a:pPr>
            <a:r>
              <a:rPr lang="en-US" sz="800" dirty="0">
                <a:solidFill>
                  <a:srgbClr val="9B98A6"/>
                </a:solidFill>
                <a:latin typeface="Consolas" pitchFamily="34" charset="0"/>
                <a:ea typeface="Consolas" pitchFamily="34" charset="-122"/>
                <a:cs typeface="Consolas" pitchFamily="34" charset="-120"/>
              </a:rPr>
              <a:t>11 / 18</a:t>
            </a:r>
            <a:endParaRPr lang="en-US" sz="800" dirty="0"/>
          </a:p>
        </p:txBody>
      </p:sp>
      <p:sp>
        <p:nvSpPr>
          <p:cNvPr id="100" name="intro"/>
          <p:cNvSpPr/>
          <p:nvPr/>
        </p:nvSpPr>
        <p:spPr>
          <a:xfrm>
            <a:off x="365760" y="1600200"/>
            <a:ext cx="8412480" cy="320040"/>
          </a:xfrm>
          <a:prstGeom prst="rect">
            <a:avLst/>
          </a:prstGeom>
          <a:noFill/>
          <a:ln/>
        </p:spPr>
        <p:txBody>
          <a:bodyPr wrap="square" lIns="0" tIns="0" rIns="0" bIns="0" rtlCol="0"/>
          <a:lstStyle/>
          <a:p>
            <a:pPr marL="0" indent="0">
              <a:buNone/>
            </a:pPr>
            <a:r>
              <a:rPr lang="ja-JP" sz="1000" dirty="0">
                <a:solidFill>
                  <a:srgbClr val="5E5C6A"/>
                </a:solidFill>
                <a:latin typeface="Noto Sans JP"/>
                <a:ea typeface="Noto Sans JP"/>
                <a:cs typeface="Noto Sans JP"/>
              </a:rPr>
              <a:t>AI活用を各部署で自走できる「社内リーダー（DXチャンピオン）」を育成し、現場発の改善サイクルを回せる組織へ。</a:t>
            </a:r>
          </a:p>
        </p:txBody>
      </p:sp>
      <p:sp>
        <p:nvSpPr>
          <p:cNvPr id="101" name="ln_i"/>
          <p:cNvSpPr/>
          <p:nvPr/>
        </p:nvSpPr>
        <p:spPr>
          <a:xfrm>
            <a:off x="365760" y="2103120"/>
            <a:ext cx="8412480" cy="0"/>
          </a:xfrm>
          <a:prstGeom prst="line">
            <a:avLst/>
          </a:prstGeom>
          <a:noFill/>
          <a:ln w="6350">
            <a:solidFill>
              <a:srgbClr val="E8E6EC"/>
            </a:solidFill>
            <a:prstDash val="solid"/>
          </a:ln>
        </p:spPr>
        <p:txBody>
          <a:bodyPr/>
          <a:lstStyle/>
          <a:p>
            <a:endParaRPr lang="ja-JP" altLang="en-US"/>
          </a:p>
        </p:txBody>
      </p:sp>
      <p:sp>
        <p:nvSpPr>
          <p:cNvPr id="102" name="m_lbl_0"/>
          <p:cNvSpPr/>
          <p:nvPr/>
        </p:nvSpPr>
        <p:spPr>
          <a:xfrm>
            <a:off x="365760" y="2240280"/>
            <a:ext cx="1402080" cy="274320"/>
          </a:xfrm>
          <a:prstGeom prst="rect">
            <a:avLst/>
          </a:prstGeom>
          <a:noFill/>
          <a:ln/>
        </p:spPr>
        <p:txBody>
          <a:bodyPr wrap="square" lIns="0" tIns="0" rIns="0" bIns="0" rtlCol="0"/>
          <a:lstStyle/>
          <a:p>
            <a:pPr marL="0" indent="0" algn="ctr">
              <a:buNone/>
            </a:pPr>
            <a:r>
              <a:rPr lang="ja-JP" sz="900" b="1" kern="0" spc="100" dirty="0">
                <a:solidFill>
                  <a:srgbClr val="8B7AB8"/>
                </a:solidFill>
                <a:latin typeface="Consolas"/>
                <a:ea typeface="Consolas"/>
                <a:cs typeface="Consolas"/>
              </a:rPr>
              <a:t>Month 1</a:t>
            </a:r>
          </a:p>
        </p:txBody>
      </p:sp>
      <p:sp>
        <p:nvSpPr>
          <p:cNvPr id="103" name="m_lbl_1"/>
          <p:cNvSpPr/>
          <p:nvPr/>
        </p:nvSpPr>
        <p:spPr>
          <a:xfrm>
            <a:off x="1767840" y="2240280"/>
            <a:ext cx="1402080" cy="274320"/>
          </a:xfrm>
          <a:prstGeom prst="rect">
            <a:avLst/>
          </a:prstGeom>
          <a:noFill/>
          <a:ln/>
        </p:spPr>
        <p:txBody>
          <a:bodyPr wrap="square" lIns="0" tIns="0" rIns="0" bIns="0" rtlCol="0"/>
          <a:lstStyle/>
          <a:p>
            <a:pPr marL="0" indent="0" algn="ctr">
              <a:buNone/>
            </a:pPr>
            <a:r>
              <a:rPr lang="ja-JP" sz="900" b="1" kern="0" spc="100" dirty="0">
                <a:solidFill>
                  <a:srgbClr val="8B7AB8"/>
                </a:solidFill>
                <a:latin typeface="Consolas"/>
                <a:ea typeface="Consolas"/>
                <a:cs typeface="Consolas"/>
              </a:rPr>
              <a:t>Month 2</a:t>
            </a:r>
          </a:p>
        </p:txBody>
      </p:sp>
      <p:sp>
        <p:nvSpPr>
          <p:cNvPr id="104" name="m_lbl_2"/>
          <p:cNvSpPr/>
          <p:nvPr/>
        </p:nvSpPr>
        <p:spPr>
          <a:xfrm>
            <a:off x="3169920" y="2240280"/>
            <a:ext cx="1402080" cy="274320"/>
          </a:xfrm>
          <a:prstGeom prst="rect">
            <a:avLst/>
          </a:prstGeom>
          <a:noFill/>
          <a:ln/>
        </p:spPr>
        <p:txBody>
          <a:bodyPr wrap="square" lIns="0" tIns="0" rIns="0" bIns="0" rtlCol="0"/>
          <a:lstStyle/>
          <a:p>
            <a:pPr marL="0" indent="0" algn="ctr">
              <a:buNone/>
            </a:pPr>
            <a:r>
              <a:rPr lang="ja-JP" sz="900" b="1" kern="0" spc="100" dirty="0">
                <a:solidFill>
                  <a:srgbClr val="8B7AB8"/>
                </a:solidFill>
                <a:latin typeface="Consolas"/>
                <a:ea typeface="Consolas"/>
                <a:cs typeface="Consolas"/>
              </a:rPr>
              <a:t>Month 3</a:t>
            </a:r>
          </a:p>
        </p:txBody>
      </p:sp>
      <p:sp>
        <p:nvSpPr>
          <p:cNvPr id="105" name="m_lbl_3"/>
          <p:cNvSpPr/>
          <p:nvPr/>
        </p:nvSpPr>
        <p:spPr>
          <a:xfrm>
            <a:off x="4572000" y="2240280"/>
            <a:ext cx="1402080" cy="274320"/>
          </a:xfrm>
          <a:prstGeom prst="rect">
            <a:avLst/>
          </a:prstGeom>
          <a:noFill/>
          <a:ln/>
        </p:spPr>
        <p:txBody>
          <a:bodyPr wrap="square" lIns="0" tIns="0" rIns="0" bIns="0" rtlCol="0"/>
          <a:lstStyle/>
          <a:p>
            <a:pPr marL="0" indent="0" algn="ctr">
              <a:buNone/>
            </a:pPr>
            <a:r>
              <a:rPr lang="ja-JP" sz="900" b="1" kern="0" spc="100" dirty="0">
                <a:solidFill>
                  <a:srgbClr val="8B7AB8"/>
                </a:solidFill>
                <a:latin typeface="Consolas"/>
                <a:ea typeface="Consolas"/>
                <a:cs typeface="Consolas"/>
              </a:rPr>
              <a:t>Month 4</a:t>
            </a:r>
          </a:p>
        </p:txBody>
      </p:sp>
      <p:sp>
        <p:nvSpPr>
          <p:cNvPr id="106" name="m_lbl_4"/>
          <p:cNvSpPr/>
          <p:nvPr/>
        </p:nvSpPr>
        <p:spPr>
          <a:xfrm>
            <a:off x="5974080" y="2240280"/>
            <a:ext cx="1402080" cy="274320"/>
          </a:xfrm>
          <a:prstGeom prst="rect">
            <a:avLst/>
          </a:prstGeom>
          <a:noFill/>
          <a:ln/>
        </p:spPr>
        <p:txBody>
          <a:bodyPr wrap="square" lIns="0" tIns="0" rIns="0" bIns="0" rtlCol="0"/>
          <a:lstStyle/>
          <a:p>
            <a:pPr marL="0" indent="0" algn="ctr">
              <a:buNone/>
            </a:pPr>
            <a:r>
              <a:rPr lang="ja-JP" sz="900" b="1" kern="0" spc="100" dirty="0">
                <a:solidFill>
                  <a:srgbClr val="8B7AB8"/>
                </a:solidFill>
                <a:latin typeface="Consolas"/>
                <a:ea typeface="Consolas"/>
                <a:cs typeface="Consolas"/>
              </a:rPr>
              <a:t>Month 5</a:t>
            </a:r>
          </a:p>
        </p:txBody>
      </p:sp>
      <p:sp>
        <p:nvSpPr>
          <p:cNvPr id="107" name="m_lbl_5"/>
          <p:cNvSpPr/>
          <p:nvPr/>
        </p:nvSpPr>
        <p:spPr>
          <a:xfrm>
            <a:off x="7376160" y="2240280"/>
            <a:ext cx="1402080" cy="274320"/>
          </a:xfrm>
          <a:prstGeom prst="rect">
            <a:avLst/>
          </a:prstGeom>
          <a:noFill/>
          <a:ln/>
        </p:spPr>
        <p:txBody>
          <a:bodyPr wrap="square" lIns="0" tIns="0" rIns="0" bIns="0" rtlCol="0"/>
          <a:lstStyle/>
          <a:p>
            <a:pPr marL="0" indent="0" algn="ctr">
              <a:buNone/>
            </a:pPr>
            <a:r>
              <a:rPr lang="ja-JP" sz="900" b="1" kern="0" spc="100" dirty="0">
                <a:solidFill>
                  <a:srgbClr val="8B7AB8"/>
                </a:solidFill>
                <a:latin typeface="Consolas"/>
                <a:ea typeface="Consolas"/>
                <a:cs typeface="Consolas"/>
              </a:rPr>
              <a:t>Month 6</a:t>
            </a:r>
          </a:p>
        </p:txBody>
      </p:sp>
      <p:sp>
        <p:nvSpPr>
          <p:cNvPr id="108" name="axis"/>
          <p:cNvSpPr/>
          <p:nvPr/>
        </p:nvSpPr>
        <p:spPr>
          <a:xfrm>
            <a:off x="365760" y="2606040"/>
            <a:ext cx="8412480" cy="0"/>
          </a:xfrm>
          <a:prstGeom prst="line">
            <a:avLst/>
          </a:prstGeom>
          <a:noFill/>
          <a:ln w="12700">
            <a:solidFill>
              <a:srgbClr val="5E5C6A"/>
            </a:solidFill>
            <a:prstDash val="solid"/>
          </a:ln>
        </p:spPr>
        <p:txBody>
          <a:bodyPr/>
          <a:lstStyle/>
          <a:p>
            <a:endParaRPr lang="ja-JP" altLang="en-US"/>
          </a:p>
        </p:txBody>
      </p:sp>
      <p:sp>
        <p:nvSpPr>
          <p:cNvPr id="109" name="b_0"/>
          <p:cNvSpPr/>
          <p:nvPr/>
        </p:nvSpPr>
        <p:spPr>
          <a:xfrm>
            <a:off x="365760" y="2743200"/>
            <a:ext cx="2804160" cy="292608"/>
          </a:xfrm>
          <a:prstGeom prst="rect">
            <a:avLst/>
          </a:prstGeom>
          <a:solidFill>
            <a:srgbClr val="8B7AB8"/>
          </a:solidFill>
          <a:ln/>
        </p:spPr>
        <p:txBody>
          <a:bodyPr/>
          <a:lstStyle/>
          <a:p>
            <a:endParaRPr lang="ja-JP" altLang="en-US"/>
          </a:p>
        </p:txBody>
      </p:sp>
      <p:sp>
        <p:nvSpPr>
          <p:cNvPr id="110" name="b_t_0"/>
          <p:cNvSpPr/>
          <p:nvPr/>
        </p:nvSpPr>
        <p:spPr>
          <a:xfrm>
            <a:off x="548640" y="2743200"/>
            <a:ext cx="2529840" cy="292608"/>
          </a:xfrm>
          <a:prstGeom prst="rect">
            <a:avLst/>
          </a:prstGeom>
          <a:noFill/>
          <a:ln/>
        </p:spPr>
        <p:txBody>
          <a:bodyPr wrap="square" lIns="0" tIns="0" rIns="0" bIns="0" rtlCol="0" anchor="ctr"/>
          <a:lstStyle/>
          <a:p>
            <a:pPr marL="0" indent="0">
              <a:buNone/>
            </a:pPr>
            <a:r>
              <a:rPr lang="ja-JP" sz="950" b="1" dirty="0">
                <a:solidFill>
                  <a:srgbClr val="FFFFFF"/>
                </a:solidFill>
                <a:latin typeface="Noto Sans JP"/>
                <a:ea typeface="Noto Sans JP"/>
                <a:cs typeface="Noto Sans JP"/>
              </a:rPr>
              <a:t>AI基礎研修</a:t>
            </a:r>
          </a:p>
        </p:txBody>
      </p:sp>
      <p:sp>
        <p:nvSpPr>
          <p:cNvPr id="111" name="b_d_0"/>
          <p:cNvSpPr/>
          <p:nvPr/>
        </p:nvSpPr>
        <p:spPr>
          <a:xfrm>
            <a:off x="3307080" y="2743200"/>
            <a:ext cx="5471160" cy="292608"/>
          </a:xfrm>
          <a:prstGeom prst="rect">
            <a:avLst/>
          </a:prstGeom>
          <a:noFill/>
          <a:ln/>
        </p:spPr>
        <p:txBody>
          <a:bodyPr wrap="square" lIns="0" tIns="0" rIns="0" bIns="0" rtlCol="0" anchor="ctr"/>
          <a:lstStyle/>
          <a:p>
            <a:pPr marL="0" indent="0">
              <a:buNone/>
            </a:pPr>
            <a:r>
              <a:rPr lang="ja-JP" sz="850" dirty="0">
                <a:solidFill>
                  <a:srgbClr val="5E5C6A"/>
                </a:solidFill>
                <a:latin typeface="Noto Sans JP"/>
                <a:ea typeface="Noto Sans JP"/>
                <a:cs typeface="Noto Sans JP"/>
              </a:rPr>
              <a:t>全社向け・半日〜1日</a:t>
            </a:r>
          </a:p>
        </p:txBody>
      </p:sp>
      <p:sp>
        <p:nvSpPr>
          <p:cNvPr id="112" name="b_1"/>
          <p:cNvSpPr/>
          <p:nvPr/>
        </p:nvSpPr>
        <p:spPr>
          <a:xfrm>
            <a:off x="1767840" y="3108960"/>
            <a:ext cx="4206240" cy="292608"/>
          </a:xfrm>
          <a:prstGeom prst="rect">
            <a:avLst/>
          </a:prstGeom>
          <a:solidFill>
            <a:srgbClr val="8B7AB8"/>
          </a:solidFill>
          <a:ln/>
        </p:spPr>
        <p:txBody>
          <a:bodyPr/>
          <a:lstStyle/>
          <a:p>
            <a:endParaRPr lang="ja-JP" altLang="en-US"/>
          </a:p>
        </p:txBody>
      </p:sp>
      <p:sp>
        <p:nvSpPr>
          <p:cNvPr id="113" name="b_t_1"/>
          <p:cNvSpPr/>
          <p:nvPr/>
        </p:nvSpPr>
        <p:spPr>
          <a:xfrm>
            <a:off x="1950720" y="3108960"/>
            <a:ext cx="3931920" cy="292608"/>
          </a:xfrm>
          <a:prstGeom prst="rect">
            <a:avLst/>
          </a:prstGeom>
          <a:noFill/>
          <a:ln/>
        </p:spPr>
        <p:txBody>
          <a:bodyPr wrap="square" lIns="0" tIns="0" rIns="0" bIns="0" rtlCol="0" anchor="ctr"/>
          <a:lstStyle/>
          <a:p>
            <a:pPr marL="0" indent="0">
              <a:buNone/>
            </a:pPr>
            <a:r>
              <a:rPr lang="ja-JP" sz="950" b="1" dirty="0">
                <a:solidFill>
                  <a:srgbClr val="FFFFFF"/>
                </a:solidFill>
                <a:latin typeface="Noto Sans JP"/>
                <a:ea typeface="Noto Sans JP"/>
                <a:cs typeface="Noto Sans JP"/>
              </a:rPr>
              <a:t>プロンプト実践研修</a:t>
            </a:r>
          </a:p>
        </p:txBody>
      </p:sp>
      <p:sp>
        <p:nvSpPr>
          <p:cNvPr id="114" name="b_d_1"/>
          <p:cNvSpPr/>
          <p:nvPr/>
        </p:nvSpPr>
        <p:spPr>
          <a:xfrm>
            <a:off x="6111240" y="3108960"/>
            <a:ext cx="2667000" cy="292608"/>
          </a:xfrm>
          <a:prstGeom prst="rect">
            <a:avLst/>
          </a:prstGeom>
          <a:noFill/>
          <a:ln/>
        </p:spPr>
        <p:txBody>
          <a:bodyPr wrap="square" lIns="0" tIns="0" rIns="0" bIns="0" rtlCol="0" anchor="ctr"/>
          <a:lstStyle/>
          <a:p>
            <a:pPr marL="0" indent="0">
              <a:buNone/>
            </a:pPr>
            <a:r>
              <a:rPr lang="ja-JP" sz="850" dirty="0">
                <a:solidFill>
                  <a:srgbClr val="5E5C6A"/>
                </a:solidFill>
                <a:latin typeface="Noto Sans JP"/>
                <a:ea typeface="Noto Sans JP"/>
                <a:cs typeface="Noto Sans JP"/>
              </a:rPr>
              <a:t>部門別（経理・人事・学事・総務）</a:t>
            </a:r>
          </a:p>
        </p:txBody>
      </p:sp>
      <p:sp>
        <p:nvSpPr>
          <p:cNvPr id="115" name="b_2"/>
          <p:cNvSpPr/>
          <p:nvPr/>
        </p:nvSpPr>
        <p:spPr>
          <a:xfrm>
            <a:off x="365760" y="3474720"/>
            <a:ext cx="8412480" cy="292608"/>
          </a:xfrm>
          <a:prstGeom prst="rect">
            <a:avLst/>
          </a:prstGeom>
          <a:solidFill>
            <a:srgbClr val="6B5C96"/>
          </a:solidFill>
          <a:ln/>
        </p:spPr>
        <p:txBody>
          <a:bodyPr/>
          <a:lstStyle/>
          <a:p>
            <a:endParaRPr lang="ja-JP" altLang="en-US"/>
          </a:p>
        </p:txBody>
      </p:sp>
      <p:sp>
        <p:nvSpPr>
          <p:cNvPr id="116" name="b_t_2"/>
          <p:cNvSpPr/>
          <p:nvPr/>
        </p:nvSpPr>
        <p:spPr>
          <a:xfrm>
            <a:off x="548640" y="3474720"/>
            <a:ext cx="8138160" cy="292608"/>
          </a:xfrm>
          <a:prstGeom prst="rect">
            <a:avLst/>
          </a:prstGeom>
          <a:noFill/>
          <a:ln/>
        </p:spPr>
        <p:txBody>
          <a:bodyPr wrap="square" lIns="0" tIns="0" rIns="0" bIns="0" rtlCol="0" anchor="ctr"/>
          <a:lstStyle/>
          <a:p>
            <a:pPr marL="0" indent="0">
              <a:buNone/>
            </a:pPr>
            <a:r>
              <a:rPr lang="ja-JP" sz="950" b="1" dirty="0">
                <a:solidFill>
                  <a:srgbClr val="FFFFFF"/>
                </a:solidFill>
                <a:latin typeface="Noto Sans JP"/>
                <a:ea typeface="Noto Sans JP"/>
                <a:cs typeface="Noto Sans JP"/>
              </a:rPr>
              <a:t>推進担当者 月次セッション</a:t>
            </a:r>
          </a:p>
        </p:txBody>
      </p:sp>
      <p:sp>
        <p:nvSpPr>
          <p:cNvPr id="117" name="b_3"/>
          <p:cNvSpPr/>
          <p:nvPr/>
        </p:nvSpPr>
        <p:spPr>
          <a:xfrm>
            <a:off x="5974080" y="3840480"/>
            <a:ext cx="2804160" cy="292608"/>
          </a:xfrm>
          <a:prstGeom prst="rect">
            <a:avLst/>
          </a:prstGeom>
          <a:solidFill>
            <a:srgbClr val="D9D1E8"/>
          </a:solidFill>
          <a:ln/>
        </p:spPr>
        <p:txBody>
          <a:bodyPr/>
          <a:lstStyle/>
          <a:p>
            <a:endParaRPr lang="ja-JP" altLang="en-US"/>
          </a:p>
        </p:txBody>
      </p:sp>
      <p:sp>
        <p:nvSpPr>
          <p:cNvPr id="118" name="b_t_3"/>
          <p:cNvSpPr/>
          <p:nvPr/>
        </p:nvSpPr>
        <p:spPr>
          <a:xfrm>
            <a:off x="6156960" y="3840480"/>
            <a:ext cx="2529840" cy="292608"/>
          </a:xfrm>
          <a:prstGeom prst="rect">
            <a:avLst/>
          </a:prstGeom>
          <a:noFill/>
          <a:ln/>
        </p:spPr>
        <p:txBody>
          <a:bodyPr wrap="square" lIns="0" tIns="0" rIns="0" bIns="0" rtlCol="0" anchor="ctr"/>
          <a:lstStyle/>
          <a:p>
            <a:pPr marL="0" indent="0">
              <a:buNone/>
            </a:pPr>
            <a:r>
              <a:rPr lang="ja-JP" sz="950" b="1" dirty="0">
                <a:solidFill>
                  <a:srgbClr val="3A3A42"/>
                </a:solidFill>
                <a:latin typeface="Noto Sans JP"/>
                <a:ea typeface="Noto Sans JP"/>
                <a:cs typeface="Noto Sans JP"/>
              </a:rPr>
              <a:t>フォローアップ＆ナレッジ化</a:t>
            </a:r>
          </a:p>
        </p:txBody>
      </p:sp>
      <p:sp>
        <p:nvSpPr>
          <p:cNvPr id="119" name="cb_bg"/>
          <p:cNvSpPr/>
          <p:nvPr/>
        </p:nvSpPr>
        <p:spPr>
          <a:xfrm>
            <a:off x="365760" y="4498848"/>
            <a:ext cx="8412480" cy="320040"/>
          </a:xfrm>
          <a:prstGeom prst="rect">
            <a:avLst/>
          </a:prstGeom>
          <a:solidFill>
            <a:srgbClr val="8B7AB8"/>
          </a:solidFill>
          <a:ln/>
        </p:spPr>
        <p:txBody>
          <a:bodyPr/>
          <a:lstStyle/>
          <a:p>
            <a:endParaRPr lang="ja-JP" altLang="en-US"/>
          </a:p>
        </p:txBody>
      </p:sp>
      <p:sp>
        <p:nvSpPr>
          <p:cNvPr id="120" name="cb_t"/>
          <p:cNvSpPr/>
          <p:nvPr/>
        </p:nvSpPr>
        <p:spPr>
          <a:xfrm>
            <a:off x="548640" y="4498848"/>
            <a:ext cx="8229600" cy="320040"/>
          </a:xfrm>
          <a:prstGeom prst="rect">
            <a:avLst/>
          </a:prstGeom>
          <a:noFill/>
          <a:ln/>
        </p:spPr>
        <p:txBody>
          <a:bodyPr wrap="square" lIns="0" tIns="0" rIns="0" bIns="0" rtlCol="0" anchor="ctr"/>
          <a:lstStyle/>
          <a:p>
            <a:pPr marL="0" indent="0">
              <a:buNone/>
            </a:pPr>
            <a:r>
              <a:rPr lang="ja-JP" sz="900" b="1" kern="0" spc="50" dirty="0">
                <a:solidFill>
                  <a:srgbClr val="FFFFFF"/>
                </a:solidFill>
                <a:latin typeface="Consolas"/>
                <a:ea typeface="Consolas"/>
                <a:cs typeface="Consolas"/>
              </a:rPr>
              <a:t>PROJECT C  想定期間 / 工数 / 費用（標準シナリオ）    6ヶ月  ／  216h  ／  ¥2,160,000  （単発研修のみなら ¥50,000〜 / 日）</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marL="0" indent="0">
              <a:buNone/>
            </a:pPr>
            <a:r>
              <a:rPr lang="en-US" sz="800" kern="0" spc="200" dirty="0">
                <a:solidFill>
                  <a:srgbClr val="9B98A6"/>
                </a:solidFill>
                <a:latin typeface="Consolas" pitchFamily="34" charset="0"/>
                <a:ea typeface="Consolas" pitchFamily="34" charset="-122"/>
                <a:cs typeface="Consolas" pitchFamily="34" charset="-120"/>
              </a:rPr>
              <a:t>SECTION ／ CHAPTER</a:t>
            </a:r>
            <a:endParaRPr lang="en-US" sz="800" dirty="0"/>
          </a:p>
        </p:txBody>
      </p:sp>
      <p:sp>
        <p:nvSpPr>
          <p:cNvPr id="3" name="Shape 1"/>
          <p:cNvSpPr/>
          <p:nvPr/>
        </p:nvSpPr>
        <p:spPr>
          <a:xfrm>
            <a:off x="228600" y="320040"/>
            <a:ext cx="64008" cy="64008"/>
          </a:xfrm>
          <a:prstGeom prst="ellipse">
            <a:avLst/>
          </a:prstGeom>
          <a:solidFill>
            <a:srgbClr val="8B7AB8"/>
          </a:solidFill>
          <a:ln/>
        </p:spPr>
        <p:txBody>
          <a:bodyPr/>
          <a:lstStyle/>
          <a:p>
            <a:endParaRPr lang="ja-JP" altLang="en-US"/>
          </a:p>
        </p:txBody>
      </p:sp>
      <p:pic>
        <p:nvPicPr>
          <p:cNvPr id="4" name="Image 0" descr="logo-horizontal.png"/>
          <p:cNvPicPr>
            <a:picLocks noChangeAspect="1"/>
          </p:cNvPicPr>
          <p:nvPr/>
        </p:nvPicPr>
        <p:blipFill>
          <a:blip r:embed="rId2"/>
          <a:stretch>
            <a:fillRect/>
          </a:stretch>
        </p:blipFill>
        <p:spPr>
          <a:xfrm>
            <a:off x="6492240" y="274320"/>
            <a:ext cx="2286000" cy="603504"/>
          </a:xfrm>
          <a:prstGeom prst="rect">
            <a:avLst/>
          </a:prstGeom>
        </p:spPr>
      </p:pic>
      <p:pic>
        <p:nvPicPr>
          <p:cNvPr id="5" name="Image 1" descr="favicon-faded.png"/>
          <p:cNvPicPr>
            <a:picLocks noChangeAspect="1"/>
          </p:cNvPicPr>
          <p:nvPr/>
        </p:nvPicPr>
        <p:blipFill>
          <a:blip r:embed="rId3"/>
          <a:stretch>
            <a:fillRect/>
          </a:stretch>
        </p:blipFill>
        <p:spPr>
          <a:xfrm>
            <a:off x="822960" y="1005840"/>
            <a:ext cx="3474720" cy="3474720"/>
          </a:xfrm>
          <a:prstGeom prst="rect">
            <a:avLst/>
          </a:prstGeom>
        </p:spPr>
      </p:pic>
      <p:sp>
        <p:nvSpPr>
          <p:cNvPr id="6" name="Shape 2"/>
          <p:cNvSpPr/>
          <p:nvPr/>
        </p:nvSpPr>
        <p:spPr>
          <a:xfrm>
            <a:off x="4937760" y="1463040"/>
            <a:ext cx="27432" cy="2103120"/>
          </a:xfrm>
          <a:prstGeom prst="rect">
            <a:avLst/>
          </a:prstGeom>
          <a:solidFill>
            <a:srgbClr val="3A3A42"/>
          </a:solidFill>
          <a:ln/>
        </p:spPr>
        <p:txBody>
          <a:bodyPr/>
          <a:lstStyle/>
          <a:p>
            <a:endParaRPr lang="ja-JP" altLang="en-US"/>
          </a:p>
        </p:txBody>
      </p:sp>
      <p:sp>
        <p:nvSpPr>
          <p:cNvPr id="7" name="Text 3"/>
          <p:cNvSpPr/>
          <p:nvPr/>
        </p:nvSpPr>
        <p:spPr>
          <a:xfrm>
            <a:off x="5166360" y="1463040"/>
            <a:ext cx="3657600" cy="274320"/>
          </a:xfrm>
          <a:prstGeom prst="rect">
            <a:avLst/>
          </a:prstGeom>
          <a:noFill/>
          <a:ln/>
        </p:spPr>
        <p:txBody>
          <a:bodyPr wrap="square" lIns="0" tIns="0" rIns="0" bIns="0" rtlCol="0" anchor="ctr"/>
          <a:lstStyle/>
          <a:p>
            <a:pPr marL="0" indent="0">
              <a:buNone/>
            </a:pPr>
            <a:r>
              <a:rPr lang="en-US" sz="1000" kern="0" spc="400" dirty="0">
                <a:solidFill>
                  <a:srgbClr val="8B7AB8"/>
                </a:solidFill>
                <a:latin typeface="Consolas" pitchFamily="34" charset="0"/>
                <a:ea typeface="Consolas" pitchFamily="34" charset="-122"/>
                <a:cs typeface="Consolas" pitchFamily="34" charset="-120"/>
              </a:rPr>
              <a:t>SECTION  04</a:t>
            </a:r>
            <a:endParaRPr lang="en-US" sz="1000" dirty="0"/>
          </a:p>
        </p:txBody>
      </p:sp>
      <p:sp>
        <p:nvSpPr>
          <p:cNvPr id="8" name="Text 4"/>
          <p:cNvSpPr/>
          <p:nvPr/>
        </p:nvSpPr>
        <p:spPr>
          <a:xfrm>
            <a:off x="5166360" y="1783080"/>
            <a:ext cx="3931920" cy="868680"/>
          </a:xfrm>
          <a:prstGeom prst="rect">
            <a:avLst/>
          </a:prstGeom>
          <a:noFill/>
          <a:ln/>
        </p:spPr>
        <p:txBody>
          <a:bodyPr wrap="square" lIns="0" tIns="0" rIns="0" bIns="0" rtlCol="0" anchor="ctr"/>
          <a:lstStyle/>
          <a:p>
            <a:pPr marL="0" indent="0">
              <a:buNone/>
            </a:pPr>
            <a:r>
              <a:rPr lang="en-US" sz="3000" b="1" dirty="0">
                <a:solidFill>
                  <a:srgbClr val="3A3A42"/>
                </a:solidFill>
                <a:latin typeface="Noto Sans JP" pitchFamily="34" charset="0"/>
                <a:ea typeface="Noto Sans JP" pitchFamily="34" charset="-122"/>
                <a:cs typeface="Noto Sans JP" pitchFamily="34" charset="-120"/>
              </a:rPr>
              <a:t>費用・スケジュール・体制</a:t>
            </a:r>
            <a:endParaRPr lang="en-US" sz="3000" dirty="0"/>
          </a:p>
        </p:txBody>
      </p:sp>
      <p:sp>
        <p:nvSpPr>
          <p:cNvPr id="9" name="Text 5"/>
          <p:cNvSpPr/>
          <p:nvPr/>
        </p:nvSpPr>
        <p:spPr>
          <a:xfrm>
            <a:off x="5166360" y="2743200"/>
            <a:ext cx="3657600" cy="731520"/>
          </a:xfrm>
          <a:prstGeom prst="rect">
            <a:avLst/>
          </a:prstGeom>
          <a:noFill/>
          <a:ln/>
        </p:spPr>
        <p:txBody>
          <a:bodyPr wrap="square" lIns="0" tIns="0" rIns="0" bIns="0" rtlCol="0" anchor="ctr"/>
          <a:lstStyle/>
          <a:p>
            <a:pPr marL="0" indent="0">
              <a:buNone/>
            </a:pPr>
            <a:r>
              <a:rPr lang="en-US" sz="1100" dirty="0">
                <a:solidFill>
                  <a:srgbClr val="5E5C6A"/>
                </a:solidFill>
                <a:latin typeface="Noto Sans JP" pitchFamily="34" charset="0"/>
                <a:ea typeface="Noto Sans JP" pitchFamily="34" charset="-122"/>
                <a:cs typeface="Noto Sans JP" pitchFamily="34" charset="-120"/>
              </a:rPr>
              <a:t>月額顧問（継続伴走）とプロジェクト型（単発成果物）を組み合わせた現実的な構成と、12ヶ月想定のトータルコストをご提示します。</a:t>
            </a:r>
            <a:endParaRPr lang="en-US" sz="1100" dirty="0"/>
          </a:p>
        </p:txBody>
      </p:sp>
      <p:sp>
        <p:nvSpPr>
          <p:cNvPr id="10" name="Text 6"/>
          <p:cNvSpPr/>
          <p:nvPr/>
        </p:nvSpPr>
        <p:spPr>
          <a:xfrm>
            <a:off x="5166360" y="4389120"/>
            <a:ext cx="3657600" cy="228600"/>
          </a:xfrm>
          <a:prstGeom prst="rect">
            <a:avLst/>
          </a:prstGeom>
          <a:noFill/>
          <a:ln/>
        </p:spPr>
        <p:txBody>
          <a:bodyPr wrap="square" lIns="0" tIns="0" rIns="0" bIns="0" rtlCol="0" anchor="ctr"/>
          <a:lstStyle/>
          <a:p>
            <a:pPr marL="0" indent="0">
              <a:buNone/>
            </a:pPr>
            <a:r>
              <a:rPr lang="en-US" sz="900" dirty="0">
                <a:solidFill>
                  <a:srgbClr val="9B98A6"/>
                </a:solidFill>
                <a:latin typeface="Consolas" pitchFamily="34" charset="0"/>
                <a:ea typeface="Consolas" pitchFamily="34" charset="-122"/>
                <a:cs typeface="Consolas" pitchFamily="34" charset="-120"/>
              </a:rPr>
              <a:t>— スコープ: 工数積み上げ／費用／次のステップ</a:t>
            </a:r>
            <a:endParaRPr lang="en-US" sz="900" dirty="0"/>
          </a:p>
        </p:txBody>
      </p:sp>
      <p:sp>
        <p:nvSpPr>
          <p:cNvPr id="11" name="Text 7"/>
          <p:cNvSpPr/>
          <p:nvPr/>
        </p:nvSpPr>
        <p:spPr>
          <a:xfrm>
            <a:off x="7955280" y="4846320"/>
            <a:ext cx="914400" cy="182880"/>
          </a:xfrm>
          <a:prstGeom prst="rect">
            <a:avLst/>
          </a:prstGeom>
          <a:noFill/>
          <a:ln/>
        </p:spPr>
        <p:txBody>
          <a:bodyPr wrap="square" lIns="0" tIns="0" rIns="0" bIns="0" rtlCol="0" anchor="ctr"/>
          <a:lstStyle/>
          <a:p>
            <a:pPr marL="0" indent="0" algn="r">
              <a:buNone/>
            </a:pPr>
            <a:r>
              <a:rPr lang="en-US" sz="800" dirty="0">
                <a:solidFill>
                  <a:srgbClr val="9B98A6"/>
                </a:solidFill>
                <a:latin typeface="Consolas" pitchFamily="34" charset="0"/>
                <a:ea typeface="Consolas" pitchFamily="34" charset="-122"/>
                <a:cs typeface="Consolas" pitchFamily="34" charset="-120"/>
              </a:rPr>
              <a:t>12 / 18</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marL="0" indent="0">
              <a:buNone/>
            </a:pPr>
            <a:r>
              <a:rPr lang="en-US" sz="800" kern="0" spc="200" dirty="0">
                <a:solidFill>
                  <a:srgbClr val="9B98A6"/>
                </a:solidFill>
                <a:latin typeface="Consolas" pitchFamily="34" charset="0"/>
                <a:ea typeface="Consolas" pitchFamily="34" charset="-122"/>
                <a:cs typeface="Consolas" pitchFamily="34" charset="-120"/>
              </a:rPr>
              <a:t>CONTENT ／ 07</a:t>
            </a:r>
            <a:endParaRPr lang="en-US" sz="800" dirty="0"/>
          </a:p>
        </p:txBody>
      </p:sp>
      <p:sp>
        <p:nvSpPr>
          <p:cNvPr id="3" name="Shape 1"/>
          <p:cNvSpPr/>
          <p:nvPr/>
        </p:nvSpPr>
        <p:spPr>
          <a:xfrm>
            <a:off x="228600" y="320040"/>
            <a:ext cx="64008" cy="64008"/>
          </a:xfrm>
          <a:prstGeom prst="ellipse">
            <a:avLst/>
          </a:prstGeom>
          <a:solidFill>
            <a:srgbClr val="8B7AB8"/>
          </a:solidFill>
          <a:ln/>
        </p:spPr>
        <p:txBody>
          <a:bodyPr/>
          <a:lstStyle/>
          <a:p>
            <a:endParaRPr lang="ja-JP" altLang="en-US"/>
          </a:p>
        </p:txBody>
      </p:sp>
      <p:pic>
        <p:nvPicPr>
          <p:cNvPr id="4" name="Image 0" descr="logo-horizontal.png"/>
          <p:cNvPicPr>
            <a:picLocks noChangeAspect="1"/>
          </p:cNvPicPr>
          <p:nvPr/>
        </p:nvPicPr>
        <p:blipFill>
          <a:blip r:embed="rId2"/>
          <a:stretch>
            <a:fillRect/>
          </a:stretch>
        </p:blipFill>
        <p:spPr>
          <a:xfrm>
            <a:off x="6492240" y="274320"/>
            <a:ext cx="2286000" cy="603504"/>
          </a:xfrm>
          <a:prstGeom prst="rect">
            <a:avLst/>
          </a:prstGeom>
        </p:spPr>
      </p:pic>
      <p:sp>
        <p:nvSpPr>
          <p:cNvPr id="5" name="Text 2"/>
          <p:cNvSpPr/>
          <p:nvPr/>
        </p:nvSpPr>
        <p:spPr>
          <a:xfrm>
            <a:off x="365760" y="960120"/>
            <a:ext cx="1097280" cy="365760"/>
          </a:xfrm>
          <a:prstGeom prst="rect">
            <a:avLst/>
          </a:prstGeom>
          <a:noFill/>
          <a:ln/>
        </p:spPr>
        <p:txBody>
          <a:bodyPr wrap="square" lIns="0" tIns="0" rIns="0" bIns="0" rtlCol="0" anchor="ctr"/>
          <a:lstStyle/>
          <a:p>
            <a:pPr marL="0" indent="0">
              <a:buNone/>
            </a:pPr>
            <a:r>
              <a:rPr lang="en-US" sz="900" kern="0" spc="400" dirty="0">
                <a:solidFill>
                  <a:srgbClr val="8B7AB8"/>
                </a:solidFill>
                <a:latin typeface="Consolas" pitchFamily="34" charset="0"/>
                <a:ea typeface="Consolas" pitchFamily="34" charset="-122"/>
                <a:cs typeface="Consolas" pitchFamily="34" charset="-120"/>
              </a:rPr>
              <a:t>07 / COST</a:t>
            </a:r>
            <a:endParaRPr lang="en-US" sz="900" dirty="0"/>
          </a:p>
        </p:txBody>
      </p:sp>
      <p:sp>
        <p:nvSpPr>
          <p:cNvPr id="6" name="Text 3"/>
          <p:cNvSpPr/>
          <p:nvPr/>
        </p:nvSpPr>
        <p:spPr>
          <a:xfrm>
            <a:off x="1463040" y="914400"/>
            <a:ext cx="7315200" cy="457200"/>
          </a:xfrm>
          <a:prstGeom prst="rect">
            <a:avLst/>
          </a:prstGeom>
          <a:noFill/>
          <a:ln/>
        </p:spPr>
        <p:txBody>
          <a:bodyPr wrap="square" lIns="0" tIns="0" rIns="0" bIns="0" rtlCol="0" anchor="ctr"/>
          <a:lstStyle/>
          <a:p>
            <a:pPr marL="0" indent="0">
              <a:buNone/>
            </a:pPr>
            <a:r>
              <a:rPr lang="en-US" sz="2200" b="1" dirty="0">
                <a:solidFill>
                  <a:srgbClr val="3A3A42"/>
                </a:solidFill>
                <a:latin typeface="Noto Sans JP" pitchFamily="34" charset="0"/>
                <a:ea typeface="Noto Sans JP" pitchFamily="34" charset="-122"/>
                <a:cs typeface="Noto Sans JP" pitchFamily="34" charset="-120"/>
              </a:rPr>
              <a:t>月額顧問  工数積み上げ</a:t>
            </a:r>
            <a:endParaRPr lang="en-US" sz="2200" dirty="0"/>
          </a:p>
        </p:txBody>
      </p:sp>
      <p:sp>
        <p:nvSpPr>
          <p:cNvPr id="7" name="Shape 4"/>
          <p:cNvSpPr/>
          <p:nvPr/>
        </p:nvSpPr>
        <p:spPr>
          <a:xfrm>
            <a:off x="365760" y="1417320"/>
            <a:ext cx="8412480" cy="0"/>
          </a:xfrm>
          <a:prstGeom prst="line">
            <a:avLst/>
          </a:prstGeom>
          <a:noFill/>
          <a:ln w="6350">
            <a:solidFill>
              <a:srgbClr val="E8E6EC"/>
            </a:solidFill>
            <a:prstDash val="solid"/>
          </a:ln>
        </p:spPr>
        <p:txBody>
          <a:bodyPr/>
          <a:lstStyle/>
          <a:p>
            <a:endParaRPr lang="ja-JP" altLang="en-US"/>
          </a:p>
        </p:txBody>
      </p:sp>
      <p:sp>
        <p:nvSpPr>
          <p:cNvPr id="10" name="Text 7"/>
          <p:cNvSpPr/>
          <p:nvPr/>
        </p:nvSpPr>
        <p:spPr>
          <a:xfrm>
            <a:off x="7955280" y="4846320"/>
            <a:ext cx="914400" cy="182880"/>
          </a:xfrm>
          <a:prstGeom prst="rect">
            <a:avLst/>
          </a:prstGeom>
          <a:noFill/>
          <a:ln/>
        </p:spPr>
        <p:txBody>
          <a:bodyPr wrap="square" lIns="0" tIns="0" rIns="0" bIns="0" rtlCol="0" anchor="ctr"/>
          <a:lstStyle/>
          <a:p>
            <a:pPr marL="0" indent="0" algn="r">
              <a:buNone/>
            </a:pPr>
            <a:r>
              <a:rPr lang="en-US" sz="800" dirty="0">
                <a:solidFill>
                  <a:srgbClr val="9B98A6"/>
                </a:solidFill>
                <a:latin typeface="Consolas" pitchFamily="34" charset="0"/>
                <a:ea typeface="Consolas" pitchFamily="34" charset="-122"/>
                <a:cs typeface="Consolas" pitchFamily="34" charset="-120"/>
              </a:rPr>
              <a:t>13 / 18</a:t>
            </a:r>
            <a:endParaRPr lang="en-US" sz="800" dirty="0"/>
          </a:p>
        </p:txBody>
      </p:sp>
      <p:sp>
        <p:nvSpPr>
          <p:cNvPr id="100" name="l_t"/>
          <p:cNvSpPr/>
          <p:nvPr/>
        </p:nvSpPr>
        <p:spPr>
          <a:xfrm>
            <a:off x="365760" y="1600200"/>
            <a:ext cx="5120640" cy="274320"/>
          </a:xfrm>
          <a:prstGeom prst="rect">
            <a:avLst/>
          </a:prstGeom>
          <a:noFill/>
          <a:ln/>
        </p:spPr>
        <p:txBody>
          <a:bodyPr wrap="square" lIns="0" tIns="0" rIns="0" bIns="0" rtlCol="0"/>
          <a:lstStyle/>
          <a:p>
            <a:pPr marL="0" indent="0">
              <a:buNone/>
            </a:pPr>
            <a:r>
              <a:rPr lang="ja-JP" sz="1100" b="1" dirty="0">
                <a:solidFill>
                  <a:srgbClr val="3A3A42"/>
                </a:solidFill>
                <a:latin typeface="Noto Sans JP"/>
                <a:ea typeface="Noto Sans JP"/>
                <a:cs typeface="Noto Sans JP"/>
              </a:rPr>
              <a:t>主要アクティビティ別  月次工数（標準シナリオ）</a:t>
            </a:r>
          </a:p>
        </p:txBody>
      </p:sp>
      <p:sp>
        <p:nvSpPr>
          <p:cNvPr id="101" name="l_ln"/>
          <p:cNvSpPr/>
          <p:nvPr/>
        </p:nvSpPr>
        <p:spPr>
          <a:xfrm>
            <a:off x="365760" y="1947672"/>
            <a:ext cx="5120640" cy="0"/>
          </a:xfrm>
          <a:prstGeom prst="line">
            <a:avLst/>
          </a:prstGeom>
          <a:noFill/>
          <a:ln w="19050">
            <a:solidFill>
              <a:srgbClr val="8B7AB8"/>
            </a:solidFill>
            <a:prstDash val="solid"/>
          </a:ln>
        </p:spPr>
        <p:txBody>
          <a:bodyPr/>
          <a:lstStyle/>
          <a:p>
            <a:endParaRPr lang="ja-JP" altLang="en-US"/>
          </a:p>
        </p:txBody>
      </p:sp>
      <p:sp>
        <p:nvSpPr>
          <p:cNvPr id="102" name="h_1"/>
          <p:cNvSpPr/>
          <p:nvPr/>
        </p:nvSpPr>
        <p:spPr>
          <a:xfrm>
            <a:off x="457200" y="2103120"/>
            <a:ext cx="457200" cy="384048"/>
          </a:xfrm>
          <a:prstGeom prst="rect">
            <a:avLst/>
          </a:prstGeom>
          <a:noFill/>
          <a:ln/>
        </p:spPr>
        <p:txBody>
          <a:bodyPr wrap="square" lIns="0" tIns="0" rIns="0" bIns="0" rtlCol="0" anchor="ctr"/>
          <a:lstStyle/>
          <a:p>
            <a:pPr marL="0" indent="0">
              <a:buNone/>
            </a:pPr>
            <a:r>
              <a:rPr lang="ja-JP" sz="800" b="1" dirty="0">
                <a:solidFill>
                  <a:srgbClr val="9B98A6"/>
                </a:solidFill>
                <a:latin typeface="Consolas"/>
                <a:ea typeface="Consolas"/>
                <a:cs typeface="Consolas"/>
              </a:rPr>
              <a:t>#</a:t>
            </a:r>
          </a:p>
        </p:txBody>
      </p:sp>
      <p:sp>
        <p:nvSpPr>
          <p:cNvPr id="103" name="h_2"/>
          <p:cNvSpPr/>
          <p:nvPr/>
        </p:nvSpPr>
        <p:spPr>
          <a:xfrm>
            <a:off x="914400" y="2103120"/>
            <a:ext cx="3474720" cy="384048"/>
          </a:xfrm>
          <a:prstGeom prst="rect">
            <a:avLst/>
          </a:prstGeom>
          <a:noFill/>
          <a:ln/>
        </p:spPr>
        <p:txBody>
          <a:bodyPr wrap="square" lIns="0" tIns="0" rIns="0" bIns="0" rtlCol="0" anchor="ctr"/>
          <a:lstStyle/>
          <a:p>
            <a:pPr marL="0" indent="0">
              <a:buNone/>
            </a:pPr>
            <a:r>
              <a:rPr lang="ja-JP" sz="800" b="1" kern="0" spc="100" dirty="0">
                <a:solidFill>
                  <a:srgbClr val="9B98A6"/>
                </a:solidFill>
                <a:latin typeface="Consolas"/>
                <a:ea typeface="Consolas"/>
                <a:cs typeface="Consolas"/>
              </a:rPr>
              <a:t>アクティビティ</a:t>
            </a:r>
          </a:p>
        </p:txBody>
      </p:sp>
      <p:sp>
        <p:nvSpPr>
          <p:cNvPr id="104" name="h_3"/>
          <p:cNvSpPr/>
          <p:nvPr/>
        </p:nvSpPr>
        <p:spPr>
          <a:xfrm>
            <a:off x="4389120" y="2103120"/>
            <a:ext cx="1005840" cy="384048"/>
          </a:xfrm>
          <a:prstGeom prst="rect">
            <a:avLst/>
          </a:prstGeom>
          <a:noFill/>
          <a:ln/>
        </p:spPr>
        <p:txBody>
          <a:bodyPr wrap="square" lIns="0" tIns="0" rIns="0" bIns="0" rtlCol="0" anchor="ctr"/>
          <a:lstStyle/>
          <a:p>
            <a:pPr marL="0" indent="0" algn="r">
              <a:buNone/>
            </a:pPr>
            <a:r>
              <a:rPr lang="ja-JP" sz="800" b="1" kern="0" spc="100" dirty="0">
                <a:solidFill>
                  <a:srgbClr val="9B98A6"/>
                </a:solidFill>
                <a:latin typeface="Consolas"/>
                <a:ea typeface="Consolas"/>
                <a:cs typeface="Consolas"/>
              </a:rPr>
              <a:t>工数 / 月</a:t>
            </a:r>
          </a:p>
        </p:txBody>
      </p:sp>
      <p:sp>
        <p:nvSpPr>
          <p:cNvPr id="105" name="tag_bg_0"/>
          <p:cNvSpPr/>
          <p:nvPr/>
        </p:nvSpPr>
        <p:spPr>
          <a:xfrm>
            <a:off x="457200" y="2551176"/>
            <a:ext cx="292608" cy="256032"/>
          </a:xfrm>
          <a:prstGeom prst="rect">
            <a:avLst/>
          </a:prstGeom>
          <a:solidFill>
            <a:srgbClr val="8B7AB8"/>
          </a:solidFill>
          <a:ln/>
        </p:spPr>
        <p:txBody>
          <a:bodyPr/>
          <a:lstStyle/>
          <a:p>
            <a:endParaRPr lang="ja-JP" altLang="en-US"/>
          </a:p>
        </p:txBody>
      </p:sp>
      <p:sp>
        <p:nvSpPr>
          <p:cNvPr id="106" name="tag_0"/>
          <p:cNvSpPr/>
          <p:nvPr/>
        </p:nvSpPr>
        <p:spPr>
          <a:xfrm>
            <a:off x="457200" y="2551176"/>
            <a:ext cx="292608" cy="256032"/>
          </a:xfrm>
          <a:prstGeom prst="rect">
            <a:avLst/>
          </a:prstGeom>
          <a:noFill/>
          <a:ln/>
        </p:spPr>
        <p:txBody>
          <a:bodyPr wrap="square" lIns="0" tIns="0" rIns="0" bIns="0" rtlCol="0" anchor="ctr"/>
          <a:lstStyle/>
          <a:p>
            <a:pPr marL="0" indent="0" algn="ctr">
              <a:buNone/>
            </a:pPr>
            <a:r>
              <a:rPr lang="ja-JP" sz="850" b="1" dirty="0">
                <a:solidFill>
                  <a:srgbClr val="FFFFFF"/>
                </a:solidFill>
                <a:latin typeface="Consolas"/>
                <a:ea typeface="Consolas"/>
                <a:cs typeface="Consolas"/>
              </a:rPr>
              <a:t>A</a:t>
            </a:r>
          </a:p>
        </p:txBody>
      </p:sp>
      <p:sp>
        <p:nvSpPr>
          <p:cNvPr id="107" name="nm_0"/>
          <p:cNvSpPr/>
          <p:nvPr/>
        </p:nvSpPr>
        <p:spPr>
          <a:xfrm>
            <a:off x="914400" y="2487168"/>
            <a:ext cx="3474720" cy="384048"/>
          </a:xfrm>
          <a:prstGeom prst="rect">
            <a:avLst/>
          </a:prstGeom>
          <a:noFill/>
          <a:ln/>
        </p:spPr>
        <p:txBody>
          <a:bodyPr wrap="square" lIns="0" tIns="0" rIns="0" bIns="0" rtlCol="0" anchor="ctr"/>
          <a:lstStyle/>
          <a:p>
            <a:pPr marL="0" indent="0">
              <a:buNone/>
            </a:pPr>
            <a:r>
              <a:rPr lang="ja-JP" sz="950" dirty="0">
                <a:solidFill>
                  <a:srgbClr val="3A3A42"/>
                </a:solidFill>
                <a:latin typeface="Noto Sans JP"/>
                <a:ea typeface="Noto Sans JP"/>
                <a:cs typeface="Noto Sans JP"/>
              </a:rPr>
              <a:t>現場課題起点の即効支援</a:t>
            </a:r>
          </a:p>
        </p:txBody>
      </p:sp>
      <p:sp>
        <p:nvSpPr>
          <p:cNvPr id="108" name="hr_0"/>
          <p:cNvSpPr/>
          <p:nvPr/>
        </p:nvSpPr>
        <p:spPr>
          <a:xfrm>
            <a:off x="4389120" y="2487168"/>
            <a:ext cx="1005840" cy="384048"/>
          </a:xfrm>
          <a:prstGeom prst="rect">
            <a:avLst/>
          </a:prstGeom>
          <a:noFill/>
          <a:ln/>
        </p:spPr>
        <p:txBody>
          <a:bodyPr wrap="square" lIns="0" tIns="0" rIns="0" bIns="0" rtlCol="0" anchor="ctr"/>
          <a:lstStyle/>
          <a:p>
            <a:pPr marL="0" indent="0" algn="r">
              <a:buNone/>
            </a:pPr>
            <a:r>
              <a:rPr lang="ja-JP" sz="1050" b="1" dirty="0">
                <a:solidFill>
                  <a:srgbClr val="3A3A42"/>
                </a:solidFill>
                <a:latin typeface="Consolas"/>
                <a:ea typeface="Consolas"/>
                <a:cs typeface="Consolas"/>
              </a:rPr>
              <a:t>10.0 h</a:t>
            </a:r>
          </a:p>
        </p:txBody>
      </p:sp>
      <p:sp>
        <p:nvSpPr>
          <p:cNvPr id="109" name="tag_bg_1"/>
          <p:cNvSpPr/>
          <p:nvPr/>
        </p:nvSpPr>
        <p:spPr>
          <a:xfrm>
            <a:off x="457200" y="2935224"/>
            <a:ext cx="292608" cy="256032"/>
          </a:xfrm>
          <a:prstGeom prst="rect">
            <a:avLst/>
          </a:prstGeom>
          <a:solidFill>
            <a:srgbClr val="8B7AB8"/>
          </a:solidFill>
          <a:ln/>
        </p:spPr>
        <p:txBody>
          <a:bodyPr/>
          <a:lstStyle/>
          <a:p>
            <a:endParaRPr lang="ja-JP" altLang="en-US"/>
          </a:p>
        </p:txBody>
      </p:sp>
      <p:sp>
        <p:nvSpPr>
          <p:cNvPr id="110" name="tag_1"/>
          <p:cNvSpPr/>
          <p:nvPr/>
        </p:nvSpPr>
        <p:spPr>
          <a:xfrm>
            <a:off x="457200" y="2935224"/>
            <a:ext cx="292608" cy="256032"/>
          </a:xfrm>
          <a:prstGeom prst="rect">
            <a:avLst/>
          </a:prstGeom>
          <a:noFill/>
          <a:ln/>
        </p:spPr>
        <p:txBody>
          <a:bodyPr wrap="square" lIns="0" tIns="0" rIns="0" bIns="0" rtlCol="0" anchor="ctr"/>
          <a:lstStyle/>
          <a:p>
            <a:pPr marL="0" indent="0" algn="ctr">
              <a:buNone/>
            </a:pPr>
            <a:r>
              <a:rPr lang="ja-JP" sz="850" b="1" dirty="0">
                <a:solidFill>
                  <a:srgbClr val="FFFFFF"/>
                </a:solidFill>
                <a:latin typeface="Consolas"/>
                <a:ea typeface="Consolas"/>
                <a:cs typeface="Consolas"/>
              </a:rPr>
              <a:t>B</a:t>
            </a:r>
          </a:p>
        </p:txBody>
      </p:sp>
      <p:sp>
        <p:nvSpPr>
          <p:cNvPr id="111" name="nm_1"/>
          <p:cNvSpPr/>
          <p:nvPr/>
        </p:nvSpPr>
        <p:spPr>
          <a:xfrm>
            <a:off x="914400" y="2871216"/>
            <a:ext cx="3474720" cy="384048"/>
          </a:xfrm>
          <a:prstGeom prst="rect">
            <a:avLst/>
          </a:prstGeom>
          <a:noFill/>
          <a:ln/>
        </p:spPr>
        <p:txBody>
          <a:bodyPr wrap="square" lIns="0" tIns="0" rIns="0" bIns="0" rtlCol="0" anchor="ctr"/>
          <a:lstStyle/>
          <a:p>
            <a:pPr marL="0" indent="0">
              <a:buNone/>
            </a:pPr>
            <a:r>
              <a:rPr lang="ja-JP" sz="950" dirty="0">
                <a:solidFill>
                  <a:srgbClr val="3A3A42"/>
                </a:solidFill>
                <a:latin typeface="Noto Sans JP"/>
                <a:ea typeface="Noto Sans JP"/>
                <a:cs typeface="Noto Sans JP"/>
              </a:rPr>
              <a:t>To-Beフロー／システム／データフロー レビュー</a:t>
            </a:r>
          </a:p>
        </p:txBody>
      </p:sp>
      <p:sp>
        <p:nvSpPr>
          <p:cNvPr id="112" name="hr_1"/>
          <p:cNvSpPr/>
          <p:nvPr/>
        </p:nvSpPr>
        <p:spPr>
          <a:xfrm>
            <a:off x="4389120" y="2871216"/>
            <a:ext cx="1005840" cy="384048"/>
          </a:xfrm>
          <a:prstGeom prst="rect">
            <a:avLst/>
          </a:prstGeom>
          <a:noFill/>
          <a:ln/>
        </p:spPr>
        <p:txBody>
          <a:bodyPr wrap="square" lIns="0" tIns="0" rIns="0" bIns="0" rtlCol="0" anchor="ctr"/>
          <a:lstStyle/>
          <a:p>
            <a:pPr marL="0" indent="0" algn="r">
              <a:buNone/>
            </a:pPr>
            <a:r>
              <a:rPr lang="ja-JP" sz="1050" b="1" dirty="0">
                <a:solidFill>
                  <a:srgbClr val="3A3A42"/>
                </a:solidFill>
                <a:latin typeface="Consolas"/>
                <a:ea typeface="Consolas"/>
                <a:cs typeface="Consolas"/>
              </a:rPr>
              <a:t>12.0 h</a:t>
            </a:r>
          </a:p>
        </p:txBody>
      </p:sp>
      <p:sp>
        <p:nvSpPr>
          <p:cNvPr id="113" name="tag_bg_2"/>
          <p:cNvSpPr/>
          <p:nvPr/>
        </p:nvSpPr>
        <p:spPr>
          <a:xfrm>
            <a:off x="457200" y="3319272"/>
            <a:ext cx="292608" cy="256032"/>
          </a:xfrm>
          <a:prstGeom prst="rect">
            <a:avLst/>
          </a:prstGeom>
          <a:solidFill>
            <a:srgbClr val="8B7AB8"/>
          </a:solidFill>
          <a:ln/>
        </p:spPr>
        <p:txBody>
          <a:bodyPr/>
          <a:lstStyle/>
          <a:p>
            <a:endParaRPr lang="ja-JP" altLang="en-US"/>
          </a:p>
        </p:txBody>
      </p:sp>
      <p:sp>
        <p:nvSpPr>
          <p:cNvPr id="114" name="tag_2"/>
          <p:cNvSpPr/>
          <p:nvPr/>
        </p:nvSpPr>
        <p:spPr>
          <a:xfrm>
            <a:off x="457200" y="3319272"/>
            <a:ext cx="292608" cy="256032"/>
          </a:xfrm>
          <a:prstGeom prst="rect">
            <a:avLst/>
          </a:prstGeom>
          <a:noFill/>
          <a:ln/>
        </p:spPr>
        <p:txBody>
          <a:bodyPr wrap="square" lIns="0" tIns="0" rIns="0" bIns="0" rtlCol="0" anchor="ctr"/>
          <a:lstStyle/>
          <a:p>
            <a:pPr marL="0" indent="0" algn="ctr">
              <a:buNone/>
            </a:pPr>
            <a:r>
              <a:rPr lang="ja-JP" sz="850" b="1" dirty="0">
                <a:solidFill>
                  <a:srgbClr val="FFFFFF"/>
                </a:solidFill>
                <a:latin typeface="Consolas"/>
                <a:ea typeface="Consolas"/>
                <a:cs typeface="Consolas"/>
              </a:rPr>
              <a:t>C</a:t>
            </a:r>
          </a:p>
        </p:txBody>
      </p:sp>
      <p:sp>
        <p:nvSpPr>
          <p:cNvPr id="115" name="nm_2"/>
          <p:cNvSpPr/>
          <p:nvPr/>
        </p:nvSpPr>
        <p:spPr>
          <a:xfrm>
            <a:off x="914400" y="3255264"/>
            <a:ext cx="3474720" cy="384048"/>
          </a:xfrm>
          <a:prstGeom prst="rect">
            <a:avLst/>
          </a:prstGeom>
          <a:noFill/>
          <a:ln/>
        </p:spPr>
        <p:txBody>
          <a:bodyPr wrap="square" lIns="0" tIns="0" rIns="0" bIns="0" rtlCol="0" anchor="ctr"/>
          <a:lstStyle/>
          <a:p>
            <a:pPr marL="0" indent="0">
              <a:buNone/>
            </a:pPr>
            <a:r>
              <a:rPr lang="ja-JP" sz="950" dirty="0">
                <a:solidFill>
                  <a:srgbClr val="3A3A42"/>
                </a:solidFill>
                <a:latin typeface="Noto Sans JP"/>
                <a:ea typeface="Noto Sans JP"/>
                <a:cs typeface="Noto Sans JP"/>
              </a:rPr>
              <a:t>エデュース要件定義並走・</a:t>
            </a:r>
            <a:r>
              <a:rPr lang="en-US" altLang="ja-JP" sz="950" dirty="0">
                <a:solidFill>
                  <a:srgbClr val="3A3A42"/>
                </a:solidFill>
                <a:latin typeface="Noto Sans JP"/>
                <a:ea typeface="Noto Sans JP"/>
                <a:cs typeface="Noto Sans JP"/>
              </a:rPr>
              <a:t>SaaS</a:t>
            </a:r>
            <a:r>
              <a:rPr lang="ja-JP" sz="950" dirty="0">
                <a:solidFill>
                  <a:srgbClr val="3A3A42"/>
                </a:solidFill>
                <a:latin typeface="Noto Sans JP"/>
                <a:ea typeface="Noto Sans JP"/>
                <a:cs typeface="Noto Sans JP"/>
              </a:rPr>
              <a:t>ベンダー調整</a:t>
            </a:r>
          </a:p>
        </p:txBody>
      </p:sp>
      <p:sp>
        <p:nvSpPr>
          <p:cNvPr id="116" name="hr_2"/>
          <p:cNvSpPr/>
          <p:nvPr/>
        </p:nvSpPr>
        <p:spPr>
          <a:xfrm>
            <a:off x="4389120" y="3255264"/>
            <a:ext cx="1005840" cy="384048"/>
          </a:xfrm>
          <a:prstGeom prst="rect">
            <a:avLst/>
          </a:prstGeom>
          <a:noFill/>
          <a:ln/>
        </p:spPr>
        <p:txBody>
          <a:bodyPr wrap="square" lIns="0" tIns="0" rIns="0" bIns="0" rtlCol="0" anchor="ctr"/>
          <a:lstStyle/>
          <a:p>
            <a:pPr marL="0" indent="0" algn="r">
              <a:buNone/>
            </a:pPr>
            <a:r>
              <a:rPr lang="ja-JP" sz="1050" b="1" dirty="0">
                <a:solidFill>
                  <a:srgbClr val="3A3A42"/>
                </a:solidFill>
                <a:latin typeface="Consolas"/>
                <a:ea typeface="Consolas"/>
                <a:cs typeface="Consolas"/>
              </a:rPr>
              <a:t>16.0 h</a:t>
            </a:r>
          </a:p>
        </p:txBody>
      </p:sp>
      <p:sp>
        <p:nvSpPr>
          <p:cNvPr id="117" name="tag_bg_3"/>
          <p:cNvSpPr/>
          <p:nvPr/>
        </p:nvSpPr>
        <p:spPr>
          <a:xfrm>
            <a:off x="457200" y="3703320"/>
            <a:ext cx="292608" cy="256032"/>
          </a:xfrm>
          <a:prstGeom prst="rect">
            <a:avLst/>
          </a:prstGeom>
          <a:solidFill>
            <a:srgbClr val="8B7AB8"/>
          </a:solidFill>
          <a:ln/>
        </p:spPr>
        <p:txBody>
          <a:bodyPr/>
          <a:lstStyle/>
          <a:p>
            <a:endParaRPr lang="ja-JP" altLang="en-US"/>
          </a:p>
        </p:txBody>
      </p:sp>
      <p:sp>
        <p:nvSpPr>
          <p:cNvPr id="118" name="tag_3"/>
          <p:cNvSpPr/>
          <p:nvPr/>
        </p:nvSpPr>
        <p:spPr>
          <a:xfrm>
            <a:off x="457200" y="3703320"/>
            <a:ext cx="292608" cy="256032"/>
          </a:xfrm>
          <a:prstGeom prst="rect">
            <a:avLst/>
          </a:prstGeom>
          <a:noFill/>
          <a:ln/>
        </p:spPr>
        <p:txBody>
          <a:bodyPr wrap="square" lIns="0" tIns="0" rIns="0" bIns="0" rtlCol="0" anchor="ctr"/>
          <a:lstStyle/>
          <a:p>
            <a:pPr marL="0" indent="0" algn="ctr">
              <a:buNone/>
            </a:pPr>
            <a:r>
              <a:rPr lang="ja-JP" sz="850" b="1" dirty="0">
                <a:solidFill>
                  <a:srgbClr val="FFFFFF"/>
                </a:solidFill>
                <a:latin typeface="Consolas"/>
                <a:ea typeface="Consolas"/>
                <a:cs typeface="Consolas"/>
              </a:rPr>
              <a:t>D</a:t>
            </a:r>
          </a:p>
        </p:txBody>
      </p:sp>
      <p:sp>
        <p:nvSpPr>
          <p:cNvPr id="119" name="nm_3"/>
          <p:cNvSpPr/>
          <p:nvPr/>
        </p:nvSpPr>
        <p:spPr>
          <a:xfrm>
            <a:off x="914400" y="3639312"/>
            <a:ext cx="3474720" cy="384048"/>
          </a:xfrm>
          <a:prstGeom prst="rect">
            <a:avLst/>
          </a:prstGeom>
          <a:noFill/>
          <a:ln/>
        </p:spPr>
        <p:txBody>
          <a:bodyPr wrap="square" lIns="0" tIns="0" rIns="0" bIns="0" rtlCol="0" anchor="ctr"/>
          <a:lstStyle/>
          <a:p>
            <a:pPr marL="0" indent="0">
              <a:buNone/>
            </a:pPr>
            <a:r>
              <a:rPr lang="ja-JP" sz="950" dirty="0">
                <a:solidFill>
                  <a:srgbClr val="3A3A42"/>
                </a:solidFill>
                <a:latin typeface="Noto Sans JP"/>
                <a:ea typeface="Noto Sans JP"/>
                <a:cs typeface="Noto Sans JP"/>
              </a:rPr>
              <a:t>AI・業務効率化ツール情報提供・MTG運営</a:t>
            </a:r>
          </a:p>
        </p:txBody>
      </p:sp>
      <p:sp>
        <p:nvSpPr>
          <p:cNvPr id="120" name="hr_3"/>
          <p:cNvSpPr/>
          <p:nvPr/>
        </p:nvSpPr>
        <p:spPr>
          <a:xfrm>
            <a:off x="4389120" y="3639312"/>
            <a:ext cx="1005840" cy="384048"/>
          </a:xfrm>
          <a:prstGeom prst="rect">
            <a:avLst/>
          </a:prstGeom>
          <a:noFill/>
          <a:ln/>
        </p:spPr>
        <p:txBody>
          <a:bodyPr wrap="square" lIns="0" tIns="0" rIns="0" bIns="0" rtlCol="0" anchor="ctr"/>
          <a:lstStyle/>
          <a:p>
            <a:pPr marL="0" indent="0" algn="r">
              <a:buNone/>
            </a:pPr>
            <a:r>
              <a:rPr lang="ja-JP" sz="1050" b="1" dirty="0">
                <a:solidFill>
                  <a:srgbClr val="3A3A42"/>
                </a:solidFill>
                <a:latin typeface="Consolas"/>
                <a:ea typeface="Consolas"/>
                <a:cs typeface="Consolas"/>
              </a:rPr>
              <a:t>17.0 h</a:t>
            </a:r>
          </a:p>
        </p:txBody>
      </p:sp>
      <p:sp>
        <p:nvSpPr>
          <p:cNvPr id="121" name="sum_bg"/>
          <p:cNvSpPr/>
          <p:nvPr/>
        </p:nvSpPr>
        <p:spPr>
          <a:xfrm>
            <a:off x="365760" y="4114800"/>
            <a:ext cx="5120640" cy="457200"/>
          </a:xfrm>
          <a:prstGeom prst="rect">
            <a:avLst/>
          </a:prstGeom>
          <a:solidFill>
            <a:srgbClr val="8B7AB8"/>
          </a:solidFill>
          <a:ln/>
        </p:spPr>
        <p:txBody>
          <a:bodyPr/>
          <a:lstStyle/>
          <a:p>
            <a:endParaRPr lang="ja-JP" altLang="en-US"/>
          </a:p>
        </p:txBody>
      </p:sp>
      <p:sp>
        <p:nvSpPr>
          <p:cNvPr id="122" name="sum_l"/>
          <p:cNvSpPr/>
          <p:nvPr/>
        </p:nvSpPr>
        <p:spPr>
          <a:xfrm>
            <a:off x="548640" y="4114800"/>
            <a:ext cx="3474720" cy="457200"/>
          </a:xfrm>
          <a:prstGeom prst="rect">
            <a:avLst/>
          </a:prstGeom>
          <a:noFill/>
          <a:ln/>
        </p:spPr>
        <p:txBody>
          <a:bodyPr wrap="square" lIns="0" tIns="0" rIns="0" bIns="0" rtlCol="0" anchor="ctr"/>
          <a:lstStyle/>
          <a:p>
            <a:pPr marL="0" indent="0">
              <a:buNone/>
            </a:pPr>
            <a:r>
              <a:rPr lang="ja-JP" sz="1000" b="1" dirty="0">
                <a:solidFill>
                  <a:srgbClr val="FFFFFF"/>
                </a:solidFill>
                <a:latin typeface="Noto Sans JP"/>
                <a:ea typeface="Noto Sans JP"/>
                <a:cs typeface="Noto Sans JP"/>
              </a:rPr>
              <a:t>月次合計</a:t>
            </a:r>
          </a:p>
        </p:txBody>
      </p:sp>
      <p:sp>
        <p:nvSpPr>
          <p:cNvPr id="123" name="sum_v"/>
          <p:cNvSpPr/>
          <p:nvPr/>
        </p:nvSpPr>
        <p:spPr>
          <a:xfrm>
            <a:off x="4023360" y="4114800"/>
            <a:ext cx="1371600" cy="457200"/>
          </a:xfrm>
          <a:prstGeom prst="rect">
            <a:avLst/>
          </a:prstGeom>
          <a:noFill/>
          <a:ln/>
        </p:spPr>
        <p:txBody>
          <a:bodyPr wrap="square" lIns="0" tIns="0" rIns="0" bIns="0" rtlCol="0" anchor="ctr"/>
          <a:lstStyle/>
          <a:p>
            <a:pPr marL="0" indent="0" algn="r">
              <a:buNone/>
            </a:pPr>
            <a:r>
              <a:rPr lang="ja-JP" sz="1400" b="1" dirty="0">
                <a:solidFill>
                  <a:srgbClr val="FFFFFF"/>
                </a:solidFill>
                <a:latin typeface="Consolas"/>
                <a:ea typeface="Consolas"/>
                <a:cs typeface="Consolas"/>
              </a:rPr>
              <a:t>55.0 h / 月</a:t>
            </a:r>
          </a:p>
        </p:txBody>
      </p:sp>
      <p:sp>
        <p:nvSpPr>
          <p:cNvPr id="124" name="r_t"/>
          <p:cNvSpPr/>
          <p:nvPr/>
        </p:nvSpPr>
        <p:spPr>
          <a:xfrm>
            <a:off x="5669280" y="1600200"/>
            <a:ext cx="3108960" cy="274320"/>
          </a:xfrm>
          <a:prstGeom prst="rect">
            <a:avLst/>
          </a:prstGeom>
          <a:noFill/>
          <a:ln/>
        </p:spPr>
        <p:txBody>
          <a:bodyPr wrap="square" lIns="0" tIns="0" rIns="0" bIns="0" rtlCol="0"/>
          <a:lstStyle/>
          <a:p>
            <a:pPr marL="0" indent="0">
              <a:buNone/>
            </a:pPr>
            <a:r>
              <a:rPr lang="ja-JP" sz="1100" b="1" dirty="0">
                <a:solidFill>
                  <a:srgbClr val="3A3A42"/>
                </a:solidFill>
                <a:latin typeface="Noto Sans JP"/>
                <a:ea typeface="Noto Sans JP"/>
                <a:cs typeface="Noto Sans JP"/>
              </a:rPr>
              <a:t>シナリオ比較</a:t>
            </a:r>
          </a:p>
        </p:txBody>
      </p:sp>
      <p:sp>
        <p:nvSpPr>
          <p:cNvPr id="125" name="r_ln"/>
          <p:cNvSpPr/>
          <p:nvPr/>
        </p:nvSpPr>
        <p:spPr>
          <a:xfrm>
            <a:off x="5669280" y="1947672"/>
            <a:ext cx="3108960" cy="0"/>
          </a:xfrm>
          <a:prstGeom prst="line">
            <a:avLst/>
          </a:prstGeom>
          <a:noFill/>
          <a:ln w="19050">
            <a:solidFill>
              <a:srgbClr val="8B7AB8"/>
            </a:solidFill>
            <a:prstDash val="solid"/>
          </a:ln>
        </p:spPr>
        <p:txBody>
          <a:bodyPr/>
          <a:lstStyle/>
          <a:p>
            <a:endParaRPr lang="ja-JP" altLang="en-US"/>
          </a:p>
        </p:txBody>
      </p:sp>
      <p:sp>
        <p:nvSpPr>
          <p:cNvPr id="126" name="sc_bg_0"/>
          <p:cNvSpPr/>
          <p:nvPr/>
        </p:nvSpPr>
        <p:spPr>
          <a:xfrm>
            <a:off x="5669280" y="2103120"/>
            <a:ext cx="3108960" cy="685800"/>
          </a:xfrm>
          <a:prstGeom prst="rect">
            <a:avLst/>
          </a:prstGeom>
          <a:solidFill>
            <a:srgbClr val="FAFAFB"/>
          </a:solidFill>
          <a:ln/>
        </p:spPr>
        <p:txBody>
          <a:bodyPr/>
          <a:lstStyle/>
          <a:p>
            <a:endParaRPr lang="ja-JP" altLang="en-US"/>
          </a:p>
        </p:txBody>
      </p:sp>
      <p:sp>
        <p:nvSpPr>
          <p:cNvPr id="127" name="sc_l_0"/>
          <p:cNvSpPr/>
          <p:nvPr/>
        </p:nvSpPr>
        <p:spPr>
          <a:xfrm>
            <a:off x="5897880" y="2194560"/>
            <a:ext cx="2651760" cy="201168"/>
          </a:xfrm>
          <a:prstGeom prst="rect">
            <a:avLst/>
          </a:prstGeom>
          <a:noFill/>
          <a:ln/>
        </p:spPr>
        <p:txBody>
          <a:bodyPr wrap="square" lIns="0" tIns="0" rIns="0" bIns="0" rtlCol="0"/>
          <a:lstStyle/>
          <a:p>
            <a:pPr marL="0" indent="0">
              <a:buNone/>
            </a:pPr>
            <a:r>
              <a:rPr lang="ja-JP" sz="900" b="1" kern="0" spc="100" dirty="0">
                <a:solidFill>
                  <a:srgbClr val="9B98A6"/>
                </a:solidFill>
                <a:latin typeface="Consolas"/>
                <a:ea typeface="Consolas"/>
                <a:cs typeface="Consolas"/>
              </a:rPr>
              <a:t>控えめ</a:t>
            </a:r>
          </a:p>
        </p:txBody>
      </p:sp>
      <p:sp>
        <p:nvSpPr>
          <p:cNvPr id="128" name="sc_v_0"/>
          <p:cNvSpPr/>
          <p:nvPr/>
        </p:nvSpPr>
        <p:spPr>
          <a:xfrm>
            <a:off x="5897880" y="2395728"/>
            <a:ext cx="2651760" cy="365760"/>
          </a:xfrm>
          <a:prstGeom prst="rect">
            <a:avLst/>
          </a:prstGeom>
          <a:noFill/>
          <a:ln/>
        </p:spPr>
        <p:txBody>
          <a:bodyPr wrap="square" lIns="0" tIns="0" rIns="0" bIns="0" rtlCol="0"/>
          <a:lstStyle/>
          <a:p>
            <a:pPr marL="0" indent="0">
              <a:buNone/>
            </a:pPr>
            <a:r>
              <a:rPr lang="ja-JP" sz="2000" b="1" dirty="0">
                <a:solidFill>
                  <a:srgbClr val="3A3A42"/>
                </a:solidFill>
                <a:latin typeface="Consolas"/>
                <a:ea typeface="Consolas"/>
                <a:cs typeface="Consolas"/>
              </a:rPr>
              <a:t>31.5 h</a:t>
            </a:r>
          </a:p>
        </p:txBody>
      </p:sp>
      <p:sp>
        <p:nvSpPr>
          <p:cNvPr id="129" name="sc_bg_1"/>
          <p:cNvSpPr/>
          <p:nvPr/>
        </p:nvSpPr>
        <p:spPr>
          <a:xfrm>
            <a:off x="5669280" y="2880360"/>
            <a:ext cx="3108960" cy="685800"/>
          </a:xfrm>
          <a:prstGeom prst="rect">
            <a:avLst/>
          </a:prstGeom>
          <a:solidFill>
            <a:srgbClr val="8B7AB8"/>
          </a:solidFill>
          <a:ln/>
        </p:spPr>
        <p:txBody>
          <a:bodyPr/>
          <a:lstStyle/>
          <a:p>
            <a:endParaRPr lang="ja-JP" altLang="en-US"/>
          </a:p>
        </p:txBody>
      </p:sp>
      <p:sp>
        <p:nvSpPr>
          <p:cNvPr id="130" name="sc_l_1"/>
          <p:cNvSpPr/>
          <p:nvPr/>
        </p:nvSpPr>
        <p:spPr>
          <a:xfrm>
            <a:off x="5897880" y="2971800"/>
            <a:ext cx="2651760" cy="201168"/>
          </a:xfrm>
          <a:prstGeom prst="rect">
            <a:avLst/>
          </a:prstGeom>
          <a:noFill/>
          <a:ln/>
        </p:spPr>
        <p:txBody>
          <a:bodyPr wrap="square" lIns="0" tIns="0" rIns="0" bIns="0" rtlCol="0"/>
          <a:lstStyle/>
          <a:p>
            <a:pPr marL="0" indent="0">
              <a:buNone/>
            </a:pPr>
            <a:r>
              <a:rPr lang="ja-JP" sz="900" b="1" kern="0" spc="100" dirty="0">
                <a:solidFill>
                  <a:srgbClr val="D9D1E8"/>
                </a:solidFill>
                <a:latin typeface="Consolas"/>
                <a:ea typeface="Consolas"/>
                <a:cs typeface="Consolas"/>
              </a:rPr>
              <a:t>標準（推奨）</a:t>
            </a:r>
          </a:p>
        </p:txBody>
      </p:sp>
      <p:sp>
        <p:nvSpPr>
          <p:cNvPr id="131" name="sc_v_1"/>
          <p:cNvSpPr/>
          <p:nvPr/>
        </p:nvSpPr>
        <p:spPr>
          <a:xfrm>
            <a:off x="5897880" y="3172968"/>
            <a:ext cx="2651760" cy="365760"/>
          </a:xfrm>
          <a:prstGeom prst="rect">
            <a:avLst/>
          </a:prstGeom>
          <a:noFill/>
          <a:ln/>
        </p:spPr>
        <p:txBody>
          <a:bodyPr wrap="square" lIns="0" tIns="0" rIns="0" bIns="0" rtlCol="0"/>
          <a:lstStyle/>
          <a:p>
            <a:pPr marL="0" indent="0">
              <a:buNone/>
            </a:pPr>
            <a:r>
              <a:rPr lang="ja-JP" sz="2000" b="1" dirty="0">
                <a:solidFill>
                  <a:srgbClr val="FFFFFF"/>
                </a:solidFill>
                <a:latin typeface="Consolas"/>
                <a:ea typeface="Consolas"/>
                <a:cs typeface="Consolas"/>
              </a:rPr>
              <a:t>55.0 h</a:t>
            </a:r>
          </a:p>
        </p:txBody>
      </p:sp>
      <p:sp>
        <p:nvSpPr>
          <p:cNvPr id="132" name="sc_bg_2"/>
          <p:cNvSpPr/>
          <p:nvPr/>
        </p:nvSpPr>
        <p:spPr>
          <a:xfrm>
            <a:off x="5669280" y="3657600"/>
            <a:ext cx="3108960" cy="685800"/>
          </a:xfrm>
          <a:prstGeom prst="rect">
            <a:avLst/>
          </a:prstGeom>
          <a:solidFill>
            <a:srgbClr val="FAFAFB"/>
          </a:solidFill>
          <a:ln/>
        </p:spPr>
        <p:txBody>
          <a:bodyPr/>
          <a:lstStyle/>
          <a:p>
            <a:endParaRPr lang="ja-JP" altLang="en-US"/>
          </a:p>
        </p:txBody>
      </p:sp>
      <p:sp>
        <p:nvSpPr>
          <p:cNvPr id="133" name="sc_l_2"/>
          <p:cNvSpPr/>
          <p:nvPr/>
        </p:nvSpPr>
        <p:spPr>
          <a:xfrm>
            <a:off x="5897880" y="3749040"/>
            <a:ext cx="2651760" cy="201168"/>
          </a:xfrm>
          <a:prstGeom prst="rect">
            <a:avLst/>
          </a:prstGeom>
          <a:noFill/>
          <a:ln/>
        </p:spPr>
        <p:txBody>
          <a:bodyPr wrap="square" lIns="0" tIns="0" rIns="0" bIns="0" rtlCol="0"/>
          <a:lstStyle/>
          <a:p>
            <a:pPr marL="0" indent="0">
              <a:buNone/>
            </a:pPr>
            <a:r>
              <a:rPr lang="ja-JP" sz="900" b="1" kern="0" spc="100" dirty="0">
                <a:solidFill>
                  <a:srgbClr val="9B98A6"/>
                </a:solidFill>
                <a:latin typeface="Consolas"/>
                <a:ea typeface="Consolas"/>
                <a:cs typeface="Consolas"/>
              </a:rPr>
              <a:t>手厚い</a:t>
            </a:r>
          </a:p>
        </p:txBody>
      </p:sp>
      <p:sp>
        <p:nvSpPr>
          <p:cNvPr id="134" name="sc_v_2"/>
          <p:cNvSpPr/>
          <p:nvPr/>
        </p:nvSpPr>
        <p:spPr>
          <a:xfrm>
            <a:off x="5897880" y="3950208"/>
            <a:ext cx="2651760" cy="365760"/>
          </a:xfrm>
          <a:prstGeom prst="rect">
            <a:avLst/>
          </a:prstGeom>
          <a:noFill/>
          <a:ln/>
        </p:spPr>
        <p:txBody>
          <a:bodyPr wrap="square" lIns="0" tIns="0" rIns="0" bIns="0" rtlCol="0"/>
          <a:lstStyle/>
          <a:p>
            <a:pPr marL="0" indent="0">
              <a:buNone/>
            </a:pPr>
            <a:r>
              <a:rPr lang="ja-JP" sz="2000" b="1" dirty="0">
                <a:solidFill>
                  <a:srgbClr val="3A3A42"/>
                </a:solidFill>
                <a:latin typeface="Consolas"/>
                <a:ea typeface="Consolas"/>
                <a:cs typeface="Consolas"/>
              </a:rPr>
              <a:t>86.0 h</a:t>
            </a:r>
          </a:p>
        </p:txBody>
      </p:sp>
      <p:sp>
        <p:nvSpPr>
          <p:cNvPr id="135" name="note"/>
          <p:cNvSpPr/>
          <p:nvPr/>
        </p:nvSpPr>
        <p:spPr>
          <a:xfrm>
            <a:off x="365760" y="4480560"/>
            <a:ext cx="8412480" cy="365760"/>
          </a:xfrm>
          <a:prstGeom prst="rect">
            <a:avLst/>
          </a:prstGeom>
          <a:noFill/>
          <a:ln/>
        </p:spPr>
        <p:txBody>
          <a:bodyPr wrap="square" lIns="0" tIns="0" rIns="0" bIns="0" rtlCol="0" anchor="ctr"/>
          <a:lstStyle/>
          <a:p>
            <a:pPr marL="0" indent="0">
              <a:buNone/>
            </a:pPr>
            <a:r>
              <a:rPr lang="ja-JP" sz="900" dirty="0">
                <a:solidFill>
                  <a:srgbClr val="5E5C6A"/>
                </a:solidFill>
                <a:latin typeface="Noto Sans JP"/>
                <a:ea typeface="Noto Sans JP"/>
                <a:cs typeface="Noto Sans JP"/>
              </a:rPr>
              <a:t>プレミアム（16h/月）は標準シナリオの約29%のみカバー。フェーズ別にカスタム月額プランへの切替を推奨。</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marL="0" indent="0">
              <a:buNone/>
            </a:pPr>
            <a:r>
              <a:rPr lang="en-US" sz="800" kern="0" spc="200" dirty="0">
                <a:solidFill>
                  <a:srgbClr val="9B98A6"/>
                </a:solidFill>
                <a:latin typeface="Consolas" pitchFamily="34" charset="0"/>
                <a:ea typeface="Consolas" pitchFamily="34" charset="-122"/>
                <a:cs typeface="Consolas" pitchFamily="34" charset="-120"/>
              </a:rPr>
              <a:t>CONTENT ／ 08</a:t>
            </a:r>
            <a:endParaRPr lang="en-US" sz="800" dirty="0"/>
          </a:p>
        </p:txBody>
      </p:sp>
      <p:sp>
        <p:nvSpPr>
          <p:cNvPr id="3" name="Shape 1"/>
          <p:cNvSpPr/>
          <p:nvPr/>
        </p:nvSpPr>
        <p:spPr>
          <a:xfrm>
            <a:off x="228600" y="320040"/>
            <a:ext cx="64008" cy="64008"/>
          </a:xfrm>
          <a:prstGeom prst="ellipse">
            <a:avLst/>
          </a:prstGeom>
          <a:solidFill>
            <a:srgbClr val="8B7AB8"/>
          </a:solidFill>
          <a:ln/>
        </p:spPr>
        <p:txBody>
          <a:bodyPr/>
          <a:lstStyle/>
          <a:p>
            <a:endParaRPr lang="ja-JP" altLang="en-US"/>
          </a:p>
        </p:txBody>
      </p:sp>
      <p:pic>
        <p:nvPicPr>
          <p:cNvPr id="4" name="Image 0" descr="logo-horizontal.png"/>
          <p:cNvPicPr>
            <a:picLocks noChangeAspect="1"/>
          </p:cNvPicPr>
          <p:nvPr/>
        </p:nvPicPr>
        <p:blipFill>
          <a:blip r:embed="rId2"/>
          <a:stretch>
            <a:fillRect/>
          </a:stretch>
        </p:blipFill>
        <p:spPr>
          <a:xfrm>
            <a:off x="6492240" y="274320"/>
            <a:ext cx="2286000" cy="603504"/>
          </a:xfrm>
          <a:prstGeom prst="rect">
            <a:avLst/>
          </a:prstGeom>
        </p:spPr>
      </p:pic>
      <p:sp>
        <p:nvSpPr>
          <p:cNvPr id="5" name="Text 2"/>
          <p:cNvSpPr/>
          <p:nvPr/>
        </p:nvSpPr>
        <p:spPr>
          <a:xfrm>
            <a:off x="365760" y="960120"/>
            <a:ext cx="1097280" cy="365760"/>
          </a:xfrm>
          <a:prstGeom prst="rect">
            <a:avLst/>
          </a:prstGeom>
          <a:noFill/>
          <a:ln/>
        </p:spPr>
        <p:txBody>
          <a:bodyPr wrap="square" lIns="0" tIns="0" rIns="0" bIns="0" rtlCol="0" anchor="ctr"/>
          <a:lstStyle/>
          <a:p>
            <a:pPr marL="0" indent="0">
              <a:buNone/>
            </a:pPr>
            <a:r>
              <a:rPr lang="en-US" sz="900" kern="0" spc="400" dirty="0">
                <a:solidFill>
                  <a:srgbClr val="8B7AB8"/>
                </a:solidFill>
                <a:latin typeface="Consolas" pitchFamily="34" charset="0"/>
                <a:ea typeface="Consolas" pitchFamily="34" charset="-122"/>
                <a:cs typeface="Consolas" pitchFamily="34" charset="-120"/>
              </a:rPr>
              <a:t>08 / COST</a:t>
            </a:r>
            <a:endParaRPr lang="en-US" sz="900" dirty="0"/>
          </a:p>
        </p:txBody>
      </p:sp>
      <p:sp>
        <p:nvSpPr>
          <p:cNvPr id="6" name="Text 3"/>
          <p:cNvSpPr/>
          <p:nvPr/>
        </p:nvSpPr>
        <p:spPr>
          <a:xfrm>
            <a:off x="1463040" y="914400"/>
            <a:ext cx="7315200" cy="457200"/>
          </a:xfrm>
          <a:prstGeom prst="rect">
            <a:avLst/>
          </a:prstGeom>
          <a:noFill/>
          <a:ln/>
        </p:spPr>
        <p:txBody>
          <a:bodyPr wrap="square" lIns="0" tIns="0" rIns="0" bIns="0" rtlCol="0" anchor="ctr"/>
          <a:lstStyle/>
          <a:p>
            <a:pPr marL="0" indent="0">
              <a:buNone/>
            </a:pPr>
            <a:r>
              <a:rPr lang="en-US" sz="2200" b="1" dirty="0">
                <a:solidFill>
                  <a:srgbClr val="3A3A42"/>
                </a:solidFill>
                <a:latin typeface="Noto Sans JP" pitchFamily="34" charset="0"/>
                <a:ea typeface="Noto Sans JP" pitchFamily="34" charset="-122"/>
                <a:cs typeface="Noto Sans JP" pitchFamily="34" charset="-120"/>
              </a:rPr>
              <a:t>プロジェクト型  工数積み上げ</a:t>
            </a:r>
            <a:endParaRPr lang="en-US" sz="2200" dirty="0"/>
          </a:p>
        </p:txBody>
      </p:sp>
      <p:sp>
        <p:nvSpPr>
          <p:cNvPr id="7" name="Shape 4"/>
          <p:cNvSpPr/>
          <p:nvPr/>
        </p:nvSpPr>
        <p:spPr>
          <a:xfrm>
            <a:off x="365760" y="1417320"/>
            <a:ext cx="8412480" cy="0"/>
          </a:xfrm>
          <a:prstGeom prst="line">
            <a:avLst/>
          </a:prstGeom>
          <a:noFill/>
          <a:ln w="6350">
            <a:solidFill>
              <a:srgbClr val="E8E6EC"/>
            </a:solidFill>
            <a:prstDash val="solid"/>
          </a:ln>
        </p:spPr>
        <p:txBody>
          <a:bodyPr/>
          <a:lstStyle/>
          <a:p>
            <a:endParaRPr lang="ja-JP" altLang="en-US"/>
          </a:p>
        </p:txBody>
      </p:sp>
      <p:sp>
        <p:nvSpPr>
          <p:cNvPr id="10" name="Text 7"/>
          <p:cNvSpPr/>
          <p:nvPr/>
        </p:nvSpPr>
        <p:spPr>
          <a:xfrm>
            <a:off x="7955280" y="4846320"/>
            <a:ext cx="914400" cy="182880"/>
          </a:xfrm>
          <a:prstGeom prst="rect">
            <a:avLst/>
          </a:prstGeom>
          <a:noFill/>
          <a:ln/>
        </p:spPr>
        <p:txBody>
          <a:bodyPr wrap="square" lIns="0" tIns="0" rIns="0" bIns="0" rtlCol="0" anchor="ctr"/>
          <a:lstStyle/>
          <a:p>
            <a:pPr marL="0" indent="0" algn="r">
              <a:buNone/>
            </a:pPr>
            <a:r>
              <a:rPr lang="en-US" sz="800" dirty="0">
                <a:solidFill>
                  <a:srgbClr val="9B98A6"/>
                </a:solidFill>
                <a:latin typeface="Consolas" pitchFamily="34" charset="0"/>
                <a:ea typeface="Consolas" pitchFamily="34" charset="-122"/>
                <a:cs typeface="Consolas" pitchFamily="34" charset="-120"/>
              </a:rPr>
              <a:t>14 / 18</a:t>
            </a:r>
            <a:endParaRPr lang="en-US" sz="800" dirty="0"/>
          </a:p>
        </p:txBody>
      </p:sp>
      <p:sp>
        <p:nvSpPr>
          <p:cNvPr id="100" name="l_t"/>
          <p:cNvSpPr/>
          <p:nvPr/>
        </p:nvSpPr>
        <p:spPr>
          <a:xfrm>
            <a:off x="365760" y="1600200"/>
            <a:ext cx="8412480" cy="274320"/>
          </a:xfrm>
          <a:prstGeom prst="rect">
            <a:avLst/>
          </a:prstGeom>
          <a:noFill/>
          <a:ln/>
        </p:spPr>
        <p:txBody>
          <a:bodyPr wrap="square" lIns="0" tIns="0" rIns="0" bIns="0" rtlCol="0"/>
          <a:lstStyle/>
          <a:p>
            <a:pPr marL="0" indent="0">
              <a:buNone/>
            </a:pPr>
            <a:r>
              <a:rPr lang="ja-JP" sz="1100" b="1" dirty="0">
                <a:solidFill>
                  <a:srgbClr val="3A3A42"/>
                </a:solidFill>
                <a:latin typeface="Noto Sans JP"/>
                <a:ea typeface="Noto Sans JP"/>
                <a:cs typeface="Noto Sans JP"/>
              </a:rPr>
              <a:t>3プロジェクトの工数・費用（標準シナリオ）</a:t>
            </a:r>
          </a:p>
        </p:txBody>
      </p:sp>
      <p:sp>
        <p:nvSpPr>
          <p:cNvPr id="101" name="l_ln"/>
          <p:cNvSpPr/>
          <p:nvPr/>
        </p:nvSpPr>
        <p:spPr>
          <a:xfrm>
            <a:off x="365760" y="1947672"/>
            <a:ext cx="8412480" cy="0"/>
          </a:xfrm>
          <a:prstGeom prst="line">
            <a:avLst/>
          </a:prstGeom>
          <a:noFill/>
          <a:ln w="19050">
            <a:solidFill>
              <a:srgbClr val="8B7AB8"/>
            </a:solidFill>
            <a:prstDash val="solid"/>
          </a:ln>
        </p:spPr>
        <p:txBody>
          <a:bodyPr/>
          <a:lstStyle/>
          <a:p>
            <a:endParaRPr lang="ja-JP" altLang="en-US"/>
          </a:p>
        </p:txBody>
      </p:sp>
      <p:sp>
        <p:nvSpPr>
          <p:cNvPr id="102" name="p_bg_0"/>
          <p:cNvSpPr/>
          <p:nvPr/>
        </p:nvSpPr>
        <p:spPr>
          <a:xfrm>
            <a:off x="365760" y="2148840"/>
            <a:ext cx="2706624" cy="2011680"/>
          </a:xfrm>
          <a:prstGeom prst="rect">
            <a:avLst/>
          </a:prstGeom>
          <a:solidFill>
            <a:srgbClr val="8B7AB8"/>
          </a:solidFill>
          <a:ln/>
        </p:spPr>
        <p:txBody>
          <a:bodyPr/>
          <a:lstStyle/>
          <a:p>
            <a:endParaRPr lang="ja-JP" altLang="en-US"/>
          </a:p>
        </p:txBody>
      </p:sp>
      <p:sp>
        <p:nvSpPr>
          <p:cNvPr id="103" name="p_tag_0"/>
          <p:cNvSpPr/>
          <p:nvPr/>
        </p:nvSpPr>
        <p:spPr>
          <a:xfrm>
            <a:off x="594360" y="2331720"/>
            <a:ext cx="731520" cy="731520"/>
          </a:xfrm>
          <a:prstGeom prst="rect">
            <a:avLst/>
          </a:prstGeom>
          <a:noFill/>
          <a:ln/>
        </p:spPr>
        <p:txBody>
          <a:bodyPr wrap="square" lIns="0" tIns="0" rIns="0" bIns="0" rtlCol="0"/>
          <a:lstStyle/>
          <a:p>
            <a:pPr marL="0" indent="0">
              <a:buNone/>
            </a:pPr>
            <a:r>
              <a:rPr lang="ja-JP" sz="4800" b="1" dirty="0">
                <a:solidFill>
                  <a:srgbClr val="D9D1E8"/>
                </a:solidFill>
                <a:latin typeface="Georgia"/>
                <a:ea typeface="Georgia"/>
                <a:cs typeface="Georgia"/>
              </a:rPr>
              <a:t>A</a:t>
            </a:r>
          </a:p>
        </p:txBody>
      </p:sp>
      <p:sp>
        <p:nvSpPr>
          <p:cNvPr id="104" name="p_n1_0"/>
          <p:cNvSpPr/>
          <p:nvPr/>
        </p:nvSpPr>
        <p:spPr>
          <a:xfrm>
            <a:off x="594360" y="3017520"/>
            <a:ext cx="2249424" cy="274320"/>
          </a:xfrm>
          <a:prstGeom prst="rect">
            <a:avLst/>
          </a:prstGeom>
          <a:noFill/>
          <a:ln/>
        </p:spPr>
        <p:txBody>
          <a:bodyPr wrap="square" lIns="0" tIns="0" rIns="0" bIns="0" rtlCol="0"/>
          <a:lstStyle/>
          <a:p>
            <a:pPr marL="0" indent="0">
              <a:buNone/>
            </a:pPr>
            <a:r>
              <a:rPr lang="ja-JP" sz="1250" b="1" dirty="0">
                <a:solidFill>
                  <a:srgbClr val="FFFFFF"/>
                </a:solidFill>
                <a:latin typeface="Noto Sans JP"/>
                <a:ea typeface="Noto Sans JP"/>
                <a:cs typeface="Noto Sans JP"/>
              </a:rPr>
              <a:t>統合DB 構造設計</a:t>
            </a:r>
          </a:p>
        </p:txBody>
      </p:sp>
      <p:sp>
        <p:nvSpPr>
          <p:cNvPr id="105" name="p_n2_0"/>
          <p:cNvSpPr/>
          <p:nvPr/>
        </p:nvSpPr>
        <p:spPr>
          <a:xfrm>
            <a:off x="594360" y="3291840"/>
            <a:ext cx="2249424" cy="274320"/>
          </a:xfrm>
          <a:prstGeom prst="rect">
            <a:avLst/>
          </a:prstGeom>
          <a:noFill/>
          <a:ln/>
        </p:spPr>
        <p:txBody>
          <a:bodyPr wrap="square" lIns="0" tIns="0" rIns="0" bIns="0" rtlCol="0"/>
          <a:lstStyle/>
          <a:p>
            <a:pPr marL="0" indent="0">
              <a:buNone/>
            </a:pPr>
            <a:r>
              <a:rPr lang="ja-JP" sz="1050" dirty="0">
                <a:solidFill>
                  <a:srgbClr val="D9D1E8"/>
                </a:solidFill>
                <a:latin typeface="Noto Sans JP"/>
                <a:ea typeface="Noto Sans JP"/>
                <a:cs typeface="Noto Sans JP"/>
              </a:rPr>
              <a:t>＋ 共通マスタレビュー</a:t>
            </a:r>
          </a:p>
        </p:txBody>
      </p:sp>
      <p:sp>
        <p:nvSpPr>
          <p:cNvPr id="106" name="p_s_0"/>
          <p:cNvSpPr/>
          <p:nvPr/>
        </p:nvSpPr>
        <p:spPr>
          <a:xfrm>
            <a:off x="594360" y="3611880"/>
            <a:ext cx="2249424" cy="0"/>
          </a:xfrm>
          <a:prstGeom prst="line">
            <a:avLst/>
          </a:prstGeom>
          <a:noFill/>
          <a:ln w="6350">
            <a:solidFill>
              <a:srgbClr val="D9D1E8"/>
            </a:solidFill>
            <a:prstDash val="solid"/>
          </a:ln>
        </p:spPr>
        <p:txBody>
          <a:bodyPr/>
          <a:lstStyle/>
          <a:p>
            <a:endParaRPr lang="ja-JP" altLang="en-US"/>
          </a:p>
        </p:txBody>
      </p:sp>
      <p:sp>
        <p:nvSpPr>
          <p:cNvPr id="107" name="p_pe_0"/>
          <p:cNvSpPr/>
          <p:nvPr/>
        </p:nvSpPr>
        <p:spPr>
          <a:xfrm>
            <a:off x="594360" y="3703320"/>
            <a:ext cx="2249424" cy="182880"/>
          </a:xfrm>
          <a:prstGeom prst="rect">
            <a:avLst/>
          </a:prstGeom>
          <a:noFill/>
          <a:ln/>
        </p:spPr>
        <p:txBody>
          <a:bodyPr wrap="square" lIns="0" tIns="0" rIns="0" bIns="0" rtlCol="0"/>
          <a:lstStyle/>
          <a:p>
            <a:pPr marL="0" indent="0">
              <a:buNone/>
            </a:pPr>
            <a:r>
              <a:rPr lang="ja-JP" sz="900" dirty="0">
                <a:solidFill>
                  <a:srgbClr val="D9D1E8"/>
                </a:solidFill>
                <a:latin typeface="Consolas"/>
                <a:ea typeface="Consolas"/>
                <a:cs typeface="Consolas"/>
              </a:rPr>
              <a:t>3〜4ヶ月  /  244h</a:t>
            </a:r>
          </a:p>
        </p:txBody>
      </p:sp>
      <p:sp>
        <p:nvSpPr>
          <p:cNvPr id="108" name="p_c_0"/>
          <p:cNvSpPr/>
          <p:nvPr/>
        </p:nvSpPr>
        <p:spPr>
          <a:xfrm>
            <a:off x="594360" y="3904488"/>
            <a:ext cx="2249424" cy="274320"/>
          </a:xfrm>
          <a:prstGeom prst="rect">
            <a:avLst/>
          </a:prstGeom>
          <a:noFill/>
          <a:ln/>
        </p:spPr>
        <p:txBody>
          <a:bodyPr wrap="square" lIns="0" tIns="0" rIns="0" bIns="0" rtlCol="0"/>
          <a:lstStyle/>
          <a:p>
            <a:pPr marL="0" indent="0">
              <a:buNone/>
            </a:pPr>
            <a:r>
              <a:rPr lang="ja-JP" sz="1500" b="1" dirty="0">
                <a:solidFill>
                  <a:srgbClr val="FFFFFF"/>
                </a:solidFill>
                <a:latin typeface="Consolas"/>
                <a:ea typeface="Consolas"/>
                <a:cs typeface="Consolas"/>
              </a:rPr>
              <a:t>¥2,440,000</a:t>
            </a:r>
          </a:p>
        </p:txBody>
      </p:sp>
      <p:sp>
        <p:nvSpPr>
          <p:cNvPr id="109" name="p_bg_1"/>
          <p:cNvSpPr/>
          <p:nvPr/>
        </p:nvSpPr>
        <p:spPr>
          <a:xfrm>
            <a:off x="3218688" y="2148840"/>
            <a:ext cx="2706624" cy="2011680"/>
          </a:xfrm>
          <a:prstGeom prst="rect">
            <a:avLst/>
          </a:prstGeom>
          <a:solidFill>
            <a:srgbClr val="8B7AB8"/>
          </a:solidFill>
          <a:ln/>
        </p:spPr>
        <p:txBody>
          <a:bodyPr/>
          <a:lstStyle/>
          <a:p>
            <a:endParaRPr lang="ja-JP" altLang="en-US"/>
          </a:p>
        </p:txBody>
      </p:sp>
      <p:sp>
        <p:nvSpPr>
          <p:cNvPr id="110" name="p_tag_1"/>
          <p:cNvSpPr/>
          <p:nvPr/>
        </p:nvSpPr>
        <p:spPr>
          <a:xfrm>
            <a:off x="3447288" y="2331720"/>
            <a:ext cx="731520" cy="731520"/>
          </a:xfrm>
          <a:prstGeom prst="rect">
            <a:avLst/>
          </a:prstGeom>
          <a:noFill/>
          <a:ln/>
        </p:spPr>
        <p:txBody>
          <a:bodyPr wrap="square" lIns="0" tIns="0" rIns="0" bIns="0" rtlCol="0"/>
          <a:lstStyle/>
          <a:p>
            <a:pPr marL="0" indent="0">
              <a:buNone/>
            </a:pPr>
            <a:r>
              <a:rPr lang="ja-JP" sz="4800" b="1" dirty="0">
                <a:solidFill>
                  <a:srgbClr val="D9D1E8"/>
                </a:solidFill>
                <a:latin typeface="Georgia"/>
                <a:ea typeface="Georgia"/>
                <a:cs typeface="Georgia"/>
              </a:rPr>
              <a:t>B</a:t>
            </a:r>
          </a:p>
        </p:txBody>
      </p:sp>
      <p:sp>
        <p:nvSpPr>
          <p:cNvPr id="111" name="p_n1_1"/>
          <p:cNvSpPr/>
          <p:nvPr/>
        </p:nvSpPr>
        <p:spPr>
          <a:xfrm>
            <a:off x="3447288" y="3017520"/>
            <a:ext cx="2249424" cy="274320"/>
          </a:xfrm>
          <a:prstGeom prst="rect">
            <a:avLst/>
          </a:prstGeom>
          <a:noFill/>
          <a:ln/>
        </p:spPr>
        <p:txBody>
          <a:bodyPr wrap="square" lIns="0" tIns="0" rIns="0" bIns="0" rtlCol="0"/>
          <a:lstStyle/>
          <a:p>
            <a:pPr marL="0" indent="0">
              <a:buNone/>
            </a:pPr>
            <a:r>
              <a:rPr lang="ja-JP" sz="1250" b="1" dirty="0">
                <a:solidFill>
                  <a:srgbClr val="FFFFFF"/>
                </a:solidFill>
                <a:latin typeface="Noto Sans JP"/>
                <a:ea typeface="Noto Sans JP"/>
                <a:cs typeface="Noto Sans JP"/>
              </a:rPr>
              <a:t>生成AI 利用規程</a:t>
            </a:r>
          </a:p>
        </p:txBody>
      </p:sp>
      <p:sp>
        <p:nvSpPr>
          <p:cNvPr id="112" name="p_n2_1"/>
          <p:cNvSpPr/>
          <p:nvPr/>
        </p:nvSpPr>
        <p:spPr>
          <a:xfrm>
            <a:off x="3447288" y="3291840"/>
            <a:ext cx="2249424" cy="274320"/>
          </a:xfrm>
          <a:prstGeom prst="rect">
            <a:avLst/>
          </a:prstGeom>
          <a:noFill/>
          <a:ln/>
        </p:spPr>
        <p:txBody>
          <a:bodyPr wrap="square" lIns="0" tIns="0" rIns="0" bIns="0" rtlCol="0"/>
          <a:lstStyle/>
          <a:p>
            <a:pPr marL="0" indent="0">
              <a:buNone/>
            </a:pPr>
            <a:r>
              <a:rPr lang="ja-JP" sz="1050" dirty="0">
                <a:solidFill>
                  <a:srgbClr val="D9D1E8"/>
                </a:solidFill>
                <a:latin typeface="Noto Sans JP"/>
                <a:ea typeface="Noto Sans JP"/>
                <a:cs typeface="Noto Sans JP"/>
              </a:rPr>
              <a:t>／ ガイドライン策定</a:t>
            </a:r>
          </a:p>
        </p:txBody>
      </p:sp>
      <p:sp>
        <p:nvSpPr>
          <p:cNvPr id="113" name="p_s_1"/>
          <p:cNvSpPr/>
          <p:nvPr/>
        </p:nvSpPr>
        <p:spPr>
          <a:xfrm>
            <a:off x="3447288" y="3611880"/>
            <a:ext cx="2249424" cy="0"/>
          </a:xfrm>
          <a:prstGeom prst="line">
            <a:avLst/>
          </a:prstGeom>
          <a:noFill/>
          <a:ln w="6350">
            <a:solidFill>
              <a:srgbClr val="D9D1E8"/>
            </a:solidFill>
            <a:prstDash val="solid"/>
          </a:ln>
        </p:spPr>
        <p:txBody>
          <a:bodyPr/>
          <a:lstStyle/>
          <a:p>
            <a:endParaRPr lang="ja-JP" altLang="en-US"/>
          </a:p>
        </p:txBody>
      </p:sp>
      <p:sp>
        <p:nvSpPr>
          <p:cNvPr id="114" name="p_pe_1"/>
          <p:cNvSpPr/>
          <p:nvPr/>
        </p:nvSpPr>
        <p:spPr>
          <a:xfrm>
            <a:off x="3447288" y="3703320"/>
            <a:ext cx="2249424" cy="182880"/>
          </a:xfrm>
          <a:prstGeom prst="rect">
            <a:avLst/>
          </a:prstGeom>
          <a:noFill/>
          <a:ln/>
        </p:spPr>
        <p:txBody>
          <a:bodyPr wrap="square" lIns="0" tIns="0" rIns="0" bIns="0" rtlCol="0"/>
          <a:lstStyle/>
          <a:p>
            <a:pPr marL="0" indent="0">
              <a:buNone/>
            </a:pPr>
            <a:r>
              <a:rPr lang="ja-JP" sz="900" dirty="0">
                <a:solidFill>
                  <a:srgbClr val="D9D1E8"/>
                </a:solidFill>
                <a:latin typeface="Consolas"/>
                <a:ea typeface="Consolas"/>
                <a:cs typeface="Consolas"/>
              </a:rPr>
              <a:t>2〜3ヶ月  /  123h</a:t>
            </a:r>
          </a:p>
        </p:txBody>
      </p:sp>
      <p:sp>
        <p:nvSpPr>
          <p:cNvPr id="115" name="p_c_1"/>
          <p:cNvSpPr/>
          <p:nvPr/>
        </p:nvSpPr>
        <p:spPr>
          <a:xfrm>
            <a:off x="3447288" y="3904488"/>
            <a:ext cx="2249424" cy="274320"/>
          </a:xfrm>
          <a:prstGeom prst="rect">
            <a:avLst/>
          </a:prstGeom>
          <a:noFill/>
          <a:ln/>
        </p:spPr>
        <p:txBody>
          <a:bodyPr wrap="square" lIns="0" tIns="0" rIns="0" bIns="0" rtlCol="0"/>
          <a:lstStyle/>
          <a:p>
            <a:pPr marL="0" indent="0">
              <a:buNone/>
            </a:pPr>
            <a:r>
              <a:rPr lang="ja-JP" sz="1500" b="1" dirty="0">
                <a:solidFill>
                  <a:srgbClr val="FFFFFF"/>
                </a:solidFill>
                <a:latin typeface="Consolas"/>
                <a:ea typeface="Consolas"/>
                <a:cs typeface="Consolas"/>
              </a:rPr>
              <a:t>¥1,230,000</a:t>
            </a:r>
          </a:p>
        </p:txBody>
      </p:sp>
      <p:sp>
        <p:nvSpPr>
          <p:cNvPr id="116" name="p_bg_2"/>
          <p:cNvSpPr/>
          <p:nvPr/>
        </p:nvSpPr>
        <p:spPr>
          <a:xfrm>
            <a:off x="6071616" y="2148840"/>
            <a:ext cx="2706624" cy="2011680"/>
          </a:xfrm>
          <a:prstGeom prst="rect">
            <a:avLst/>
          </a:prstGeom>
          <a:solidFill>
            <a:srgbClr val="8B7AB8"/>
          </a:solidFill>
          <a:ln/>
        </p:spPr>
        <p:txBody>
          <a:bodyPr/>
          <a:lstStyle/>
          <a:p>
            <a:endParaRPr lang="ja-JP" altLang="en-US"/>
          </a:p>
        </p:txBody>
      </p:sp>
      <p:sp>
        <p:nvSpPr>
          <p:cNvPr id="117" name="p_tag_2"/>
          <p:cNvSpPr/>
          <p:nvPr/>
        </p:nvSpPr>
        <p:spPr>
          <a:xfrm>
            <a:off x="6300216" y="2331720"/>
            <a:ext cx="731520" cy="731520"/>
          </a:xfrm>
          <a:prstGeom prst="rect">
            <a:avLst/>
          </a:prstGeom>
          <a:noFill/>
          <a:ln/>
        </p:spPr>
        <p:txBody>
          <a:bodyPr wrap="square" lIns="0" tIns="0" rIns="0" bIns="0" rtlCol="0"/>
          <a:lstStyle/>
          <a:p>
            <a:pPr marL="0" indent="0">
              <a:buNone/>
            </a:pPr>
            <a:r>
              <a:rPr lang="ja-JP" sz="4800" b="1" dirty="0">
                <a:solidFill>
                  <a:srgbClr val="D9D1E8"/>
                </a:solidFill>
                <a:latin typeface="Georgia"/>
                <a:ea typeface="Georgia"/>
                <a:cs typeface="Georgia"/>
              </a:rPr>
              <a:t>C</a:t>
            </a:r>
          </a:p>
        </p:txBody>
      </p:sp>
      <p:sp>
        <p:nvSpPr>
          <p:cNvPr id="118" name="p_n1_2"/>
          <p:cNvSpPr/>
          <p:nvPr/>
        </p:nvSpPr>
        <p:spPr>
          <a:xfrm>
            <a:off x="6300216" y="3017520"/>
            <a:ext cx="2249424" cy="274320"/>
          </a:xfrm>
          <a:prstGeom prst="rect">
            <a:avLst/>
          </a:prstGeom>
          <a:noFill/>
          <a:ln/>
        </p:spPr>
        <p:txBody>
          <a:bodyPr wrap="square" lIns="0" tIns="0" rIns="0" bIns="0" rtlCol="0"/>
          <a:lstStyle/>
          <a:p>
            <a:pPr marL="0" indent="0">
              <a:buNone/>
            </a:pPr>
            <a:r>
              <a:rPr lang="ja-JP" sz="1250" b="1" dirty="0">
                <a:solidFill>
                  <a:srgbClr val="FFFFFF"/>
                </a:solidFill>
                <a:latin typeface="Noto Sans JP"/>
                <a:ea typeface="Noto Sans JP"/>
                <a:cs typeface="Noto Sans JP"/>
              </a:rPr>
              <a:t>AI推進担当者</a:t>
            </a:r>
          </a:p>
        </p:txBody>
      </p:sp>
      <p:sp>
        <p:nvSpPr>
          <p:cNvPr id="119" name="p_n2_2"/>
          <p:cNvSpPr/>
          <p:nvPr/>
        </p:nvSpPr>
        <p:spPr>
          <a:xfrm>
            <a:off x="6300216" y="3291840"/>
            <a:ext cx="2249424" cy="274320"/>
          </a:xfrm>
          <a:prstGeom prst="rect">
            <a:avLst/>
          </a:prstGeom>
          <a:noFill/>
          <a:ln/>
        </p:spPr>
        <p:txBody>
          <a:bodyPr wrap="square" lIns="0" tIns="0" rIns="0" bIns="0" rtlCol="0"/>
          <a:lstStyle/>
          <a:p>
            <a:pPr marL="0" indent="0">
              <a:buNone/>
            </a:pPr>
            <a:r>
              <a:rPr lang="ja-JP" sz="1050" dirty="0">
                <a:solidFill>
                  <a:srgbClr val="D9D1E8"/>
                </a:solidFill>
                <a:latin typeface="Noto Sans JP"/>
                <a:ea typeface="Noto Sans JP"/>
                <a:cs typeface="Noto Sans JP"/>
              </a:rPr>
              <a:t>育成プログラム</a:t>
            </a:r>
          </a:p>
        </p:txBody>
      </p:sp>
      <p:sp>
        <p:nvSpPr>
          <p:cNvPr id="120" name="p_s_2"/>
          <p:cNvSpPr/>
          <p:nvPr/>
        </p:nvSpPr>
        <p:spPr>
          <a:xfrm>
            <a:off x="6300216" y="3611880"/>
            <a:ext cx="2249424" cy="0"/>
          </a:xfrm>
          <a:prstGeom prst="line">
            <a:avLst/>
          </a:prstGeom>
          <a:noFill/>
          <a:ln w="6350">
            <a:solidFill>
              <a:srgbClr val="D9D1E8"/>
            </a:solidFill>
            <a:prstDash val="solid"/>
          </a:ln>
        </p:spPr>
        <p:txBody>
          <a:bodyPr/>
          <a:lstStyle/>
          <a:p>
            <a:endParaRPr lang="ja-JP" altLang="en-US"/>
          </a:p>
        </p:txBody>
      </p:sp>
      <p:sp>
        <p:nvSpPr>
          <p:cNvPr id="121" name="p_pe_2"/>
          <p:cNvSpPr/>
          <p:nvPr/>
        </p:nvSpPr>
        <p:spPr>
          <a:xfrm>
            <a:off x="6300216" y="3703320"/>
            <a:ext cx="2249424" cy="182880"/>
          </a:xfrm>
          <a:prstGeom prst="rect">
            <a:avLst/>
          </a:prstGeom>
          <a:noFill/>
          <a:ln/>
        </p:spPr>
        <p:txBody>
          <a:bodyPr wrap="square" lIns="0" tIns="0" rIns="0" bIns="0" rtlCol="0"/>
          <a:lstStyle/>
          <a:p>
            <a:pPr marL="0" indent="0">
              <a:buNone/>
            </a:pPr>
            <a:r>
              <a:rPr lang="ja-JP" sz="900" dirty="0">
                <a:solidFill>
                  <a:srgbClr val="D9D1E8"/>
                </a:solidFill>
                <a:latin typeface="Consolas"/>
                <a:ea typeface="Consolas"/>
                <a:cs typeface="Consolas"/>
              </a:rPr>
              <a:t>6ヶ月  /  216h</a:t>
            </a:r>
          </a:p>
        </p:txBody>
      </p:sp>
      <p:sp>
        <p:nvSpPr>
          <p:cNvPr id="122" name="p_c_2"/>
          <p:cNvSpPr/>
          <p:nvPr/>
        </p:nvSpPr>
        <p:spPr>
          <a:xfrm>
            <a:off x="6300216" y="3904488"/>
            <a:ext cx="2249424" cy="274320"/>
          </a:xfrm>
          <a:prstGeom prst="rect">
            <a:avLst/>
          </a:prstGeom>
          <a:noFill/>
          <a:ln/>
        </p:spPr>
        <p:txBody>
          <a:bodyPr wrap="square" lIns="0" tIns="0" rIns="0" bIns="0" rtlCol="0"/>
          <a:lstStyle/>
          <a:p>
            <a:pPr marL="0" indent="0">
              <a:buNone/>
            </a:pPr>
            <a:r>
              <a:rPr lang="ja-JP" sz="1500" b="1" dirty="0">
                <a:solidFill>
                  <a:srgbClr val="FFFFFF"/>
                </a:solidFill>
                <a:latin typeface="Consolas"/>
                <a:ea typeface="Consolas"/>
                <a:cs typeface="Consolas"/>
              </a:rPr>
              <a:t>¥2,160,000</a:t>
            </a:r>
          </a:p>
        </p:txBody>
      </p:sp>
      <p:sp>
        <p:nvSpPr>
          <p:cNvPr id="123" name="tot_bg"/>
          <p:cNvSpPr/>
          <p:nvPr/>
        </p:nvSpPr>
        <p:spPr>
          <a:xfrm>
            <a:off x="365760" y="4343400"/>
            <a:ext cx="8412480" cy="502920"/>
          </a:xfrm>
          <a:prstGeom prst="rect">
            <a:avLst/>
          </a:prstGeom>
          <a:solidFill>
            <a:srgbClr val="6B5C96"/>
          </a:solidFill>
          <a:ln/>
        </p:spPr>
        <p:txBody>
          <a:bodyPr/>
          <a:lstStyle/>
          <a:p>
            <a:endParaRPr lang="ja-JP" altLang="en-US"/>
          </a:p>
        </p:txBody>
      </p:sp>
      <p:sp>
        <p:nvSpPr>
          <p:cNvPr id="124" name="tot_l"/>
          <p:cNvSpPr/>
          <p:nvPr/>
        </p:nvSpPr>
        <p:spPr>
          <a:xfrm>
            <a:off x="731520" y="4343400"/>
            <a:ext cx="3657600" cy="502920"/>
          </a:xfrm>
          <a:prstGeom prst="rect">
            <a:avLst/>
          </a:prstGeom>
          <a:noFill/>
          <a:ln/>
        </p:spPr>
        <p:txBody>
          <a:bodyPr wrap="square" lIns="0" tIns="0" rIns="0" bIns="0" rtlCol="0" anchor="ctr"/>
          <a:lstStyle/>
          <a:p>
            <a:pPr marL="0" indent="0">
              <a:buNone/>
            </a:pPr>
            <a:r>
              <a:rPr lang="ja-JP" sz="1100" b="1" dirty="0">
                <a:solidFill>
                  <a:srgbClr val="FFFFFF"/>
                </a:solidFill>
                <a:latin typeface="Noto Sans JP"/>
                <a:ea typeface="Noto Sans JP"/>
                <a:cs typeface="Noto Sans JP"/>
              </a:rPr>
              <a:t>プロジェクト 3本 合計</a:t>
            </a:r>
          </a:p>
        </p:txBody>
      </p:sp>
      <p:sp>
        <p:nvSpPr>
          <p:cNvPr id="125" name="tot_h"/>
          <p:cNvSpPr/>
          <p:nvPr/>
        </p:nvSpPr>
        <p:spPr>
          <a:xfrm>
            <a:off x="5029200" y="4343400"/>
            <a:ext cx="1828800" cy="502920"/>
          </a:xfrm>
          <a:prstGeom prst="rect">
            <a:avLst/>
          </a:prstGeom>
          <a:noFill/>
          <a:ln/>
        </p:spPr>
        <p:txBody>
          <a:bodyPr wrap="square" lIns="0" tIns="0" rIns="0" bIns="0" rtlCol="0" anchor="ctr"/>
          <a:lstStyle/>
          <a:p>
            <a:pPr marL="0" indent="0" algn="r">
              <a:buNone/>
            </a:pPr>
            <a:r>
              <a:rPr lang="ja-JP" sz="1400" b="1" dirty="0">
                <a:solidFill>
                  <a:srgbClr val="FFFFFF"/>
                </a:solidFill>
                <a:latin typeface="Consolas"/>
                <a:ea typeface="Consolas"/>
                <a:cs typeface="Consolas"/>
              </a:rPr>
              <a:t>583 h</a:t>
            </a:r>
          </a:p>
        </p:txBody>
      </p:sp>
      <p:sp>
        <p:nvSpPr>
          <p:cNvPr id="126" name="tot_v"/>
          <p:cNvSpPr/>
          <p:nvPr/>
        </p:nvSpPr>
        <p:spPr>
          <a:xfrm>
            <a:off x="6858000" y="4343400"/>
            <a:ext cx="1828800" cy="502920"/>
          </a:xfrm>
          <a:prstGeom prst="rect">
            <a:avLst/>
          </a:prstGeom>
          <a:noFill/>
          <a:ln/>
        </p:spPr>
        <p:txBody>
          <a:bodyPr wrap="square" lIns="0" tIns="0" rIns="0" bIns="0" rtlCol="0" anchor="ctr"/>
          <a:lstStyle/>
          <a:p>
            <a:pPr marL="0" indent="0" algn="r">
              <a:buNone/>
            </a:pPr>
            <a:r>
              <a:rPr lang="ja-JP" sz="1700" b="1" dirty="0">
                <a:solidFill>
                  <a:srgbClr val="FFFFFF"/>
                </a:solidFill>
                <a:latin typeface="Consolas"/>
                <a:ea typeface="Consolas"/>
                <a:cs typeface="Consolas"/>
              </a:rPr>
              <a:t>¥5,830,000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marL="0" indent="0">
              <a:buNone/>
            </a:pPr>
            <a:r>
              <a:rPr lang="en-US" sz="800" kern="0" spc="200" dirty="0">
                <a:solidFill>
                  <a:srgbClr val="9B98A6"/>
                </a:solidFill>
                <a:latin typeface="Consolas" pitchFamily="34" charset="0"/>
                <a:ea typeface="Consolas" pitchFamily="34" charset="-122"/>
                <a:cs typeface="Consolas" pitchFamily="34" charset="-120"/>
              </a:rPr>
              <a:t>CONTENT ／ 09</a:t>
            </a:r>
            <a:endParaRPr lang="en-US" sz="800" dirty="0"/>
          </a:p>
        </p:txBody>
      </p:sp>
      <p:sp>
        <p:nvSpPr>
          <p:cNvPr id="3" name="Shape 1"/>
          <p:cNvSpPr/>
          <p:nvPr/>
        </p:nvSpPr>
        <p:spPr>
          <a:xfrm>
            <a:off x="228600" y="320040"/>
            <a:ext cx="64008" cy="64008"/>
          </a:xfrm>
          <a:prstGeom prst="ellipse">
            <a:avLst/>
          </a:prstGeom>
          <a:solidFill>
            <a:srgbClr val="8B7AB8"/>
          </a:solidFill>
          <a:ln/>
        </p:spPr>
        <p:txBody>
          <a:bodyPr/>
          <a:lstStyle/>
          <a:p>
            <a:endParaRPr lang="ja-JP" altLang="en-US"/>
          </a:p>
        </p:txBody>
      </p:sp>
      <p:pic>
        <p:nvPicPr>
          <p:cNvPr id="4" name="Image 0" descr="logo-horizontal.png"/>
          <p:cNvPicPr>
            <a:picLocks noChangeAspect="1"/>
          </p:cNvPicPr>
          <p:nvPr/>
        </p:nvPicPr>
        <p:blipFill>
          <a:blip r:embed="rId2"/>
          <a:stretch>
            <a:fillRect/>
          </a:stretch>
        </p:blipFill>
        <p:spPr>
          <a:xfrm>
            <a:off x="6492240" y="274320"/>
            <a:ext cx="2286000" cy="603504"/>
          </a:xfrm>
          <a:prstGeom prst="rect">
            <a:avLst/>
          </a:prstGeom>
        </p:spPr>
      </p:pic>
      <p:sp>
        <p:nvSpPr>
          <p:cNvPr id="5" name="Text 2"/>
          <p:cNvSpPr/>
          <p:nvPr/>
        </p:nvSpPr>
        <p:spPr>
          <a:xfrm>
            <a:off x="365760" y="960120"/>
            <a:ext cx="1097280" cy="365760"/>
          </a:xfrm>
          <a:prstGeom prst="rect">
            <a:avLst/>
          </a:prstGeom>
          <a:noFill/>
          <a:ln/>
        </p:spPr>
        <p:txBody>
          <a:bodyPr wrap="square" lIns="0" tIns="0" rIns="0" bIns="0" rtlCol="0" anchor="ctr"/>
          <a:lstStyle/>
          <a:p>
            <a:pPr marL="0" indent="0">
              <a:buNone/>
            </a:pPr>
            <a:r>
              <a:rPr lang="en-US" sz="900" kern="0" spc="400" dirty="0">
                <a:solidFill>
                  <a:srgbClr val="8B7AB8"/>
                </a:solidFill>
                <a:latin typeface="Consolas" pitchFamily="34" charset="0"/>
                <a:ea typeface="Consolas" pitchFamily="34" charset="-122"/>
                <a:cs typeface="Consolas" pitchFamily="34" charset="-120"/>
              </a:rPr>
              <a:t>09 / COST</a:t>
            </a:r>
            <a:endParaRPr lang="en-US" sz="900" dirty="0"/>
          </a:p>
        </p:txBody>
      </p:sp>
      <p:sp>
        <p:nvSpPr>
          <p:cNvPr id="6" name="Text 3"/>
          <p:cNvSpPr/>
          <p:nvPr/>
        </p:nvSpPr>
        <p:spPr>
          <a:xfrm>
            <a:off x="1463040" y="914400"/>
            <a:ext cx="7315200" cy="457200"/>
          </a:xfrm>
          <a:prstGeom prst="rect">
            <a:avLst/>
          </a:prstGeom>
          <a:noFill/>
          <a:ln/>
        </p:spPr>
        <p:txBody>
          <a:bodyPr wrap="square" lIns="0" tIns="0" rIns="0" bIns="0" rtlCol="0" anchor="ctr"/>
          <a:lstStyle/>
          <a:p>
            <a:pPr marL="0" indent="0">
              <a:buNone/>
            </a:pPr>
            <a:r>
              <a:rPr lang="en-US" sz="2200" b="1" dirty="0">
                <a:solidFill>
                  <a:srgbClr val="3A3A42"/>
                </a:solidFill>
                <a:latin typeface="Noto Sans JP" pitchFamily="34" charset="0"/>
                <a:ea typeface="Noto Sans JP" pitchFamily="34" charset="-122"/>
                <a:cs typeface="Noto Sans JP" pitchFamily="34" charset="-120"/>
              </a:rPr>
              <a:t>12ヶ月トータル費用（標準シナリオ）</a:t>
            </a:r>
            <a:endParaRPr lang="en-US" sz="2200" dirty="0"/>
          </a:p>
        </p:txBody>
      </p:sp>
      <p:sp>
        <p:nvSpPr>
          <p:cNvPr id="7" name="Shape 4"/>
          <p:cNvSpPr/>
          <p:nvPr/>
        </p:nvSpPr>
        <p:spPr>
          <a:xfrm>
            <a:off x="365760" y="1417320"/>
            <a:ext cx="8412480" cy="0"/>
          </a:xfrm>
          <a:prstGeom prst="line">
            <a:avLst/>
          </a:prstGeom>
          <a:noFill/>
          <a:ln w="6350">
            <a:solidFill>
              <a:srgbClr val="E8E6EC"/>
            </a:solidFill>
            <a:prstDash val="solid"/>
          </a:ln>
        </p:spPr>
        <p:txBody>
          <a:bodyPr/>
          <a:lstStyle/>
          <a:p>
            <a:endParaRPr lang="ja-JP" altLang="en-US"/>
          </a:p>
        </p:txBody>
      </p:sp>
      <p:sp>
        <p:nvSpPr>
          <p:cNvPr id="10" name="Text 7"/>
          <p:cNvSpPr/>
          <p:nvPr/>
        </p:nvSpPr>
        <p:spPr>
          <a:xfrm>
            <a:off x="7955280" y="4846320"/>
            <a:ext cx="914400" cy="182880"/>
          </a:xfrm>
          <a:prstGeom prst="rect">
            <a:avLst/>
          </a:prstGeom>
          <a:noFill/>
          <a:ln/>
        </p:spPr>
        <p:txBody>
          <a:bodyPr wrap="square" lIns="0" tIns="0" rIns="0" bIns="0" rtlCol="0" anchor="ctr"/>
          <a:lstStyle/>
          <a:p>
            <a:pPr marL="0" indent="0" algn="r">
              <a:buNone/>
            </a:pPr>
            <a:r>
              <a:rPr lang="en-US" sz="800" dirty="0">
                <a:solidFill>
                  <a:srgbClr val="9B98A6"/>
                </a:solidFill>
                <a:latin typeface="Consolas" pitchFamily="34" charset="0"/>
                <a:ea typeface="Consolas" pitchFamily="34" charset="-122"/>
                <a:cs typeface="Consolas" pitchFamily="34" charset="-120"/>
              </a:rPr>
              <a:t>15 / 18</a:t>
            </a:r>
            <a:endParaRPr lang="en-US" sz="800" dirty="0"/>
          </a:p>
        </p:txBody>
      </p:sp>
      <p:sp>
        <p:nvSpPr>
          <p:cNvPr id="100" name="l_t"/>
          <p:cNvSpPr/>
          <p:nvPr/>
        </p:nvSpPr>
        <p:spPr>
          <a:xfrm>
            <a:off x="365760" y="1600200"/>
            <a:ext cx="5303520" cy="274320"/>
          </a:xfrm>
          <a:prstGeom prst="rect">
            <a:avLst/>
          </a:prstGeom>
          <a:noFill/>
          <a:ln/>
        </p:spPr>
        <p:txBody>
          <a:bodyPr wrap="square" lIns="0" tIns="0" rIns="0" bIns="0" rtlCol="0"/>
          <a:lstStyle/>
          <a:p>
            <a:pPr marL="0" indent="0">
              <a:buNone/>
            </a:pPr>
            <a:r>
              <a:rPr lang="ja-JP" sz="1100" b="1" dirty="0">
                <a:solidFill>
                  <a:srgbClr val="3A3A42"/>
                </a:solidFill>
                <a:latin typeface="Noto Sans JP"/>
                <a:ea typeface="Noto Sans JP"/>
                <a:cs typeface="Noto Sans JP"/>
              </a:rPr>
              <a:t>費用内訳</a:t>
            </a:r>
          </a:p>
        </p:txBody>
      </p:sp>
      <p:sp>
        <p:nvSpPr>
          <p:cNvPr id="101" name="l_ln"/>
          <p:cNvSpPr/>
          <p:nvPr/>
        </p:nvSpPr>
        <p:spPr>
          <a:xfrm>
            <a:off x="365760" y="1947672"/>
            <a:ext cx="5303520" cy="0"/>
          </a:xfrm>
          <a:prstGeom prst="line">
            <a:avLst/>
          </a:prstGeom>
          <a:noFill/>
          <a:ln w="19050">
            <a:solidFill>
              <a:srgbClr val="8B7AB8"/>
            </a:solidFill>
            <a:prstDash val="solid"/>
          </a:ln>
        </p:spPr>
        <p:txBody>
          <a:bodyPr/>
          <a:lstStyle/>
          <a:p>
            <a:endParaRPr lang="ja-JP" altLang="en-US"/>
          </a:p>
        </p:txBody>
      </p:sp>
      <p:sp>
        <p:nvSpPr>
          <p:cNvPr id="102" name="m_sec_bg"/>
          <p:cNvSpPr/>
          <p:nvPr/>
        </p:nvSpPr>
        <p:spPr>
          <a:xfrm>
            <a:off x="365760" y="2103120"/>
            <a:ext cx="5303520" cy="274320"/>
          </a:xfrm>
          <a:prstGeom prst="rect">
            <a:avLst/>
          </a:prstGeom>
          <a:solidFill>
            <a:srgbClr val="FAFAFB"/>
          </a:solidFill>
          <a:ln/>
        </p:spPr>
        <p:txBody>
          <a:bodyPr/>
          <a:lstStyle/>
          <a:p>
            <a:endParaRPr lang="ja-JP" altLang="en-US"/>
          </a:p>
        </p:txBody>
      </p:sp>
      <p:sp>
        <p:nvSpPr>
          <p:cNvPr id="103" name="m_sec_l"/>
          <p:cNvSpPr/>
          <p:nvPr/>
        </p:nvSpPr>
        <p:spPr>
          <a:xfrm>
            <a:off x="548640" y="2103120"/>
            <a:ext cx="3657600" cy="274320"/>
          </a:xfrm>
          <a:prstGeom prst="rect">
            <a:avLst/>
          </a:prstGeom>
          <a:noFill/>
          <a:ln/>
        </p:spPr>
        <p:txBody>
          <a:bodyPr wrap="square" lIns="0" tIns="0" rIns="0" bIns="0" rtlCol="0" anchor="ctr"/>
          <a:lstStyle/>
          <a:p>
            <a:pPr marL="0" indent="0">
              <a:buNone/>
            </a:pPr>
            <a:r>
              <a:rPr lang="ja-JP" sz="900" b="1" kern="0" spc="100" dirty="0">
                <a:solidFill>
                  <a:srgbClr val="8B7AB8"/>
                </a:solidFill>
                <a:latin typeface="Consolas"/>
                <a:ea typeface="Consolas"/>
                <a:cs typeface="Consolas"/>
              </a:rPr>
              <a:t>月額顧問  （フェーズ別切替）</a:t>
            </a:r>
          </a:p>
        </p:txBody>
      </p:sp>
      <p:sp>
        <p:nvSpPr>
          <p:cNvPr id="104" name="m_sec_v"/>
          <p:cNvSpPr/>
          <p:nvPr/>
        </p:nvSpPr>
        <p:spPr>
          <a:xfrm>
            <a:off x="4206240" y="2103120"/>
            <a:ext cx="1371600" cy="274320"/>
          </a:xfrm>
          <a:prstGeom prst="rect">
            <a:avLst/>
          </a:prstGeom>
          <a:noFill/>
          <a:ln/>
        </p:spPr>
        <p:txBody>
          <a:bodyPr wrap="square" lIns="0" tIns="0" rIns="0" bIns="0" rtlCol="0" anchor="ctr"/>
          <a:lstStyle/>
          <a:p>
            <a:pPr marL="0" indent="0" algn="r">
              <a:buNone/>
            </a:pPr>
            <a:r>
              <a:rPr lang="ja-JP" sz="1000" b="1" dirty="0">
                <a:solidFill>
                  <a:srgbClr val="3A3A42"/>
                </a:solidFill>
                <a:latin typeface="Consolas"/>
                <a:ea typeface="Consolas"/>
                <a:cs typeface="Consolas"/>
              </a:rPr>
              <a:t>¥6,000,000</a:t>
            </a:r>
          </a:p>
        </p:txBody>
      </p:sp>
      <p:sp>
        <p:nvSpPr>
          <p:cNvPr id="105" name="rr_p_0"/>
          <p:cNvSpPr/>
          <p:nvPr/>
        </p:nvSpPr>
        <p:spPr>
          <a:xfrm>
            <a:off x="548640" y="2423160"/>
            <a:ext cx="1463040" cy="274320"/>
          </a:xfrm>
          <a:prstGeom prst="rect">
            <a:avLst/>
          </a:prstGeom>
          <a:noFill/>
          <a:ln/>
        </p:spPr>
        <p:txBody>
          <a:bodyPr wrap="square" lIns="0" tIns="0" rIns="0" bIns="0" rtlCol="0" anchor="ctr"/>
          <a:lstStyle/>
          <a:p>
            <a:pPr marL="0" indent="0">
              <a:buNone/>
            </a:pPr>
            <a:r>
              <a:rPr lang="ja-JP" sz="900" dirty="0">
                <a:solidFill>
                  <a:srgbClr val="3A3A42"/>
                </a:solidFill>
                <a:latin typeface="Noto Sans JP"/>
                <a:ea typeface="Noto Sans JP"/>
                <a:cs typeface="Noto Sans JP"/>
              </a:rPr>
              <a:t>立ち上げ</a:t>
            </a:r>
          </a:p>
        </p:txBody>
      </p:sp>
      <p:sp>
        <p:nvSpPr>
          <p:cNvPr id="106" name="rr_m_0"/>
          <p:cNvSpPr/>
          <p:nvPr/>
        </p:nvSpPr>
        <p:spPr>
          <a:xfrm>
            <a:off x="2011680" y="2423160"/>
            <a:ext cx="822960" cy="274320"/>
          </a:xfrm>
          <a:prstGeom prst="rect">
            <a:avLst/>
          </a:prstGeom>
          <a:noFill/>
          <a:ln/>
        </p:spPr>
        <p:txBody>
          <a:bodyPr wrap="square" lIns="0" tIns="0" rIns="0" bIns="0" rtlCol="0" anchor="ctr"/>
          <a:lstStyle/>
          <a:p>
            <a:pPr marL="0" indent="0">
              <a:buNone/>
            </a:pPr>
            <a:r>
              <a:rPr lang="ja-JP" sz="850" dirty="0">
                <a:solidFill>
                  <a:srgbClr val="9B98A6"/>
                </a:solidFill>
                <a:latin typeface="Consolas"/>
                <a:ea typeface="Consolas"/>
                <a:cs typeface="Consolas"/>
              </a:rPr>
              <a:t>M1〜M3</a:t>
            </a:r>
          </a:p>
        </p:txBody>
      </p:sp>
      <p:sp>
        <p:nvSpPr>
          <p:cNvPr id="107" name="rr_n_0"/>
          <p:cNvSpPr/>
          <p:nvPr/>
        </p:nvSpPr>
        <p:spPr>
          <a:xfrm>
            <a:off x="2834640" y="2423160"/>
            <a:ext cx="1554480" cy="274320"/>
          </a:xfrm>
          <a:prstGeom prst="rect">
            <a:avLst/>
          </a:prstGeom>
          <a:noFill/>
          <a:ln/>
        </p:spPr>
        <p:txBody>
          <a:bodyPr wrap="square" lIns="0" tIns="0" rIns="0" bIns="0" rtlCol="0" anchor="ctr"/>
          <a:lstStyle/>
          <a:p>
            <a:pPr marL="0" indent="0">
              <a:buNone/>
            </a:pPr>
            <a:r>
              <a:rPr lang="ja-JP" sz="850" dirty="0">
                <a:solidFill>
                  <a:srgbClr val="5E5C6A"/>
                </a:solidFill>
                <a:latin typeface="Noto Sans JP"/>
                <a:ea typeface="Noto Sans JP"/>
                <a:cs typeface="Noto Sans JP"/>
              </a:rPr>
              <a:t>スタンダードカスタム</a:t>
            </a:r>
          </a:p>
        </p:txBody>
      </p:sp>
      <p:sp>
        <p:nvSpPr>
          <p:cNvPr id="108" name="rr_c_0"/>
          <p:cNvSpPr/>
          <p:nvPr/>
        </p:nvSpPr>
        <p:spPr>
          <a:xfrm>
            <a:off x="4206240" y="2423160"/>
            <a:ext cx="1371600" cy="274320"/>
          </a:xfrm>
          <a:prstGeom prst="rect">
            <a:avLst/>
          </a:prstGeom>
          <a:noFill/>
          <a:ln/>
        </p:spPr>
        <p:txBody>
          <a:bodyPr wrap="square" lIns="0" tIns="0" rIns="0" bIns="0" rtlCol="0" anchor="ctr"/>
          <a:lstStyle/>
          <a:p>
            <a:pPr marL="0" indent="0" algn="r">
              <a:buNone/>
            </a:pPr>
            <a:r>
              <a:rPr lang="ja-JP" sz="950" dirty="0">
                <a:solidFill>
                  <a:srgbClr val="3A3A42"/>
                </a:solidFill>
                <a:latin typeface="Consolas"/>
                <a:ea typeface="Consolas"/>
                <a:cs typeface="Consolas"/>
              </a:rPr>
              <a:t>¥1,680,000</a:t>
            </a:r>
          </a:p>
        </p:txBody>
      </p:sp>
      <p:sp>
        <p:nvSpPr>
          <p:cNvPr id="109" name="rr_p_1"/>
          <p:cNvSpPr/>
          <p:nvPr/>
        </p:nvSpPr>
        <p:spPr>
          <a:xfrm>
            <a:off x="548640" y="2715768"/>
            <a:ext cx="1463040" cy="274320"/>
          </a:xfrm>
          <a:prstGeom prst="rect">
            <a:avLst/>
          </a:prstGeom>
          <a:noFill/>
          <a:ln/>
        </p:spPr>
        <p:txBody>
          <a:bodyPr wrap="square" lIns="0" tIns="0" rIns="0" bIns="0" rtlCol="0" anchor="ctr"/>
          <a:lstStyle/>
          <a:p>
            <a:pPr marL="0" indent="0">
              <a:buNone/>
            </a:pPr>
            <a:r>
              <a:rPr lang="ja-JP" sz="900" dirty="0">
                <a:solidFill>
                  <a:srgbClr val="3A3A42"/>
                </a:solidFill>
                <a:latin typeface="Noto Sans JP"/>
                <a:ea typeface="Noto Sans JP"/>
                <a:cs typeface="Noto Sans JP"/>
              </a:rPr>
              <a:t>要件定義並走期</a:t>
            </a:r>
          </a:p>
        </p:txBody>
      </p:sp>
      <p:sp>
        <p:nvSpPr>
          <p:cNvPr id="110" name="rr_m_1"/>
          <p:cNvSpPr/>
          <p:nvPr/>
        </p:nvSpPr>
        <p:spPr>
          <a:xfrm>
            <a:off x="2011680" y="2715768"/>
            <a:ext cx="822960" cy="274320"/>
          </a:xfrm>
          <a:prstGeom prst="rect">
            <a:avLst/>
          </a:prstGeom>
          <a:noFill/>
          <a:ln/>
        </p:spPr>
        <p:txBody>
          <a:bodyPr wrap="square" lIns="0" tIns="0" rIns="0" bIns="0" rtlCol="0" anchor="ctr"/>
          <a:lstStyle/>
          <a:p>
            <a:pPr marL="0" indent="0">
              <a:buNone/>
            </a:pPr>
            <a:r>
              <a:rPr lang="ja-JP" sz="850" dirty="0">
                <a:solidFill>
                  <a:srgbClr val="9B98A6"/>
                </a:solidFill>
                <a:latin typeface="Consolas"/>
                <a:ea typeface="Consolas"/>
                <a:cs typeface="Consolas"/>
              </a:rPr>
              <a:t>M4〜M9</a:t>
            </a:r>
          </a:p>
        </p:txBody>
      </p:sp>
      <p:sp>
        <p:nvSpPr>
          <p:cNvPr id="111" name="rr_n_1"/>
          <p:cNvSpPr/>
          <p:nvPr/>
        </p:nvSpPr>
        <p:spPr>
          <a:xfrm>
            <a:off x="2834640" y="2715768"/>
            <a:ext cx="1554480" cy="274320"/>
          </a:xfrm>
          <a:prstGeom prst="rect">
            <a:avLst/>
          </a:prstGeom>
          <a:noFill/>
          <a:ln/>
        </p:spPr>
        <p:txBody>
          <a:bodyPr wrap="square" lIns="0" tIns="0" rIns="0" bIns="0" rtlCol="0" anchor="ctr"/>
          <a:lstStyle/>
          <a:p>
            <a:pPr marL="0" indent="0">
              <a:buNone/>
            </a:pPr>
            <a:r>
              <a:rPr lang="ja-JP" sz="850" dirty="0">
                <a:solidFill>
                  <a:srgbClr val="5E5C6A"/>
                </a:solidFill>
                <a:latin typeface="Noto Sans JP"/>
                <a:ea typeface="Noto Sans JP"/>
                <a:cs typeface="Noto Sans JP"/>
              </a:rPr>
              <a:t>スタンダードカスタム</a:t>
            </a:r>
          </a:p>
        </p:txBody>
      </p:sp>
      <p:sp>
        <p:nvSpPr>
          <p:cNvPr id="112" name="rr_c_1"/>
          <p:cNvSpPr/>
          <p:nvPr/>
        </p:nvSpPr>
        <p:spPr>
          <a:xfrm>
            <a:off x="4206240" y="2715768"/>
            <a:ext cx="1371600" cy="274320"/>
          </a:xfrm>
          <a:prstGeom prst="rect">
            <a:avLst/>
          </a:prstGeom>
          <a:noFill/>
          <a:ln/>
        </p:spPr>
        <p:txBody>
          <a:bodyPr wrap="square" lIns="0" tIns="0" rIns="0" bIns="0" rtlCol="0" anchor="ctr"/>
          <a:lstStyle/>
          <a:p>
            <a:pPr marL="0" indent="0" algn="r">
              <a:buNone/>
            </a:pPr>
            <a:r>
              <a:rPr lang="ja-JP" sz="950" dirty="0">
                <a:solidFill>
                  <a:srgbClr val="3A3A42"/>
                </a:solidFill>
                <a:latin typeface="Consolas"/>
                <a:ea typeface="Consolas"/>
                <a:cs typeface="Consolas"/>
              </a:rPr>
              <a:t>¥3,360,000</a:t>
            </a:r>
          </a:p>
        </p:txBody>
      </p:sp>
      <p:sp>
        <p:nvSpPr>
          <p:cNvPr id="113" name="rr_p_2"/>
          <p:cNvSpPr/>
          <p:nvPr/>
        </p:nvSpPr>
        <p:spPr>
          <a:xfrm>
            <a:off x="548640" y="3008376"/>
            <a:ext cx="1463040" cy="274320"/>
          </a:xfrm>
          <a:prstGeom prst="rect">
            <a:avLst/>
          </a:prstGeom>
          <a:noFill/>
          <a:ln/>
        </p:spPr>
        <p:txBody>
          <a:bodyPr wrap="square" lIns="0" tIns="0" rIns="0" bIns="0" rtlCol="0" anchor="ctr"/>
          <a:lstStyle/>
          <a:p>
            <a:pPr marL="0" indent="0">
              <a:buNone/>
            </a:pPr>
            <a:r>
              <a:rPr lang="ja-JP" sz="900" dirty="0">
                <a:solidFill>
                  <a:srgbClr val="3A3A42"/>
                </a:solidFill>
                <a:latin typeface="Noto Sans JP"/>
                <a:ea typeface="Noto Sans JP"/>
                <a:cs typeface="Noto Sans JP"/>
              </a:rPr>
              <a:t>運用移行期</a:t>
            </a:r>
          </a:p>
        </p:txBody>
      </p:sp>
      <p:sp>
        <p:nvSpPr>
          <p:cNvPr id="114" name="rr_m_2"/>
          <p:cNvSpPr/>
          <p:nvPr/>
        </p:nvSpPr>
        <p:spPr>
          <a:xfrm>
            <a:off x="2011680" y="3008376"/>
            <a:ext cx="822960" cy="274320"/>
          </a:xfrm>
          <a:prstGeom prst="rect">
            <a:avLst/>
          </a:prstGeom>
          <a:noFill/>
          <a:ln/>
        </p:spPr>
        <p:txBody>
          <a:bodyPr wrap="square" lIns="0" tIns="0" rIns="0" bIns="0" rtlCol="0" anchor="ctr"/>
          <a:lstStyle/>
          <a:p>
            <a:pPr marL="0" indent="0">
              <a:buNone/>
            </a:pPr>
            <a:r>
              <a:rPr lang="ja-JP" sz="850" dirty="0">
                <a:solidFill>
                  <a:srgbClr val="9B98A6"/>
                </a:solidFill>
                <a:latin typeface="Consolas"/>
                <a:ea typeface="Consolas"/>
                <a:cs typeface="Consolas"/>
              </a:rPr>
              <a:t>M10〜M12</a:t>
            </a:r>
          </a:p>
        </p:txBody>
      </p:sp>
      <p:sp>
        <p:nvSpPr>
          <p:cNvPr id="115" name="rr_n_2"/>
          <p:cNvSpPr/>
          <p:nvPr/>
        </p:nvSpPr>
        <p:spPr>
          <a:xfrm>
            <a:off x="2834640" y="3008376"/>
            <a:ext cx="1554480" cy="274320"/>
          </a:xfrm>
          <a:prstGeom prst="rect">
            <a:avLst/>
          </a:prstGeom>
          <a:noFill/>
          <a:ln/>
        </p:spPr>
        <p:txBody>
          <a:bodyPr wrap="square" lIns="0" tIns="0" rIns="0" bIns="0" rtlCol="0" anchor="ctr"/>
          <a:lstStyle/>
          <a:p>
            <a:pPr marL="0" indent="0">
              <a:buNone/>
            </a:pPr>
            <a:r>
              <a:rPr lang="ja-JP" sz="850" dirty="0">
                <a:solidFill>
                  <a:srgbClr val="5E5C6A"/>
                </a:solidFill>
                <a:latin typeface="Noto Sans JP"/>
                <a:ea typeface="Noto Sans JP"/>
                <a:cs typeface="Noto Sans JP"/>
              </a:rPr>
              <a:t>ライトカスタム</a:t>
            </a:r>
          </a:p>
        </p:txBody>
      </p:sp>
      <p:sp>
        <p:nvSpPr>
          <p:cNvPr id="116" name="rr_c_2"/>
          <p:cNvSpPr/>
          <p:nvPr/>
        </p:nvSpPr>
        <p:spPr>
          <a:xfrm>
            <a:off x="4206240" y="3008376"/>
            <a:ext cx="1371600" cy="274320"/>
          </a:xfrm>
          <a:prstGeom prst="rect">
            <a:avLst/>
          </a:prstGeom>
          <a:noFill/>
          <a:ln/>
        </p:spPr>
        <p:txBody>
          <a:bodyPr wrap="square" lIns="0" tIns="0" rIns="0" bIns="0" rtlCol="0" anchor="ctr"/>
          <a:lstStyle/>
          <a:p>
            <a:pPr marL="0" indent="0" algn="r">
              <a:buNone/>
            </a:pPr>
            <a:r>
              <a:rPr lang="ja-JP" sz="950" dirty="0">
                <a:solidFill>
                  <a:srgbClr val="3A3A42"/>
                </a:solidFill>
                <a:latin typeface="Consolas"/>
                <a:ea typeface="Consolas"/>
                <a:cs typeface="Consolas"/>
              </a:rPr>
              <a:t>¥960,000</a:t>
            </a:r>
          </a:p>
        </p:txBody>
      </p:sp>
      <p:sp>
        <p:nvSpPr>
          <p:cNvPr id="117" name="p_sec_bg"/>
          <p:cNvSpPr/>
          <p:nvPr/>
        </p:nvSpPr>
        <p:spPr>
          <a:xfrm>
            <a:off x="365760" y="3383280"/>
            <a:ext cx="5303520" cy="274320"/>
          </a:xfrm>
          <a:prstGeom prst="rect">
            <a:avLst/>
          </a:prstGeom>
          <a:solidFill>
            <a:srgbClr val="FAFAFB"/>
          </a:solidFill>
          <a:ln/>
        </p:spPr>
        <p:txBody>
          <a:bodyPr/>
          <a:lstStyle/>
          <a:p>
            <a:endParaRPr lang="ja-JP" altLang="en-US"/>
          </a:p>
        </p:txBody>
      </p:sp>
      <p:sp>
        <p:nvSpPr>
          <p:cNvPr id="118" name="p_sec_l"/>
          <p:cNvSpPr/>
          <p:nvPr/>
        </p:nvSpPr>
        <p:spPr>
          <a:xfrm>
            <a:off x="548640" y="3383280"/>
            <a:ext cx="3657600" cy="274320"/>
          </a:xfrm>
          <a:prstGeom prst="rect">
            <a:avLst/>
          </a:prstGeom>
          <a:noFill/>
          <a:ln/>
        </p:spPr>
        <p:txBody>
          <a:bodyPr wrap="square" lIns="0" tIns="0" rIns="0" bIns="0" rtlCol="0" anchor="ctr"/>
          <a:lstStyle/>
          <a:p>
            <a:pPr marL="0" indent="0">
              <a:buNone/>
            </a:pPr>
            <a:r>
              <a:rPr lang="ja-JP" sz="900" b="1" kern="0" spc="100" dirty="0">
                <a:solidFill>
                  <a:srgbClr val="8B7AB8"/>
                </a:solidFill>
                <a:latin typeface="Consolas"/>
                <a:ea typeface="Consolas"/>
                <a:cs typeface="Consolas"/>
              </a:rPr>
              <a:t>プロジェクト型  （単発成果物）</a:t>
            </a:r>
          </a:p>
        </p:txBody>
      </p:sp>
      <p:sp>
        <p:nvSpPr>
          <p:cNvPr id="119" name="p_sec_v"/>
          <p:cNvSpPr/>
          <p:nvPr/>
        </p:nvSpPr>
        <p:spPr>
          <a:xfrm>
            <a:off x="4206240" y="3383280"/>
            <a:ext cx="1371600" cy="274320"/>
          </a:xfrm>
          <a:prstGeom prst="rect">
            <a:avLst/>
          </a:prstGeom>
          <a:noFill/>
          <a:ln/>
        </p:spPr>
        <p:txBody>
          <a:bodyPr wrap="square" lIns="0" tIns="0" rIns="0" bIns="0" rtlCol="0" anchor="ctr"/>
          <a:lstStyle/>
          <a:p>
            <a:pPr marL="0" indent="0" algn="r">
              <a:buNone/>
            </a:pPr>
            <a:r>
              <a:rPr lang="ja-JP" sz="1000" b="1" dirty="0">
                <a:solidFill>
                  <a:srgbClr val="3A3A42"/>
                </a:solidFill>
                <a:latin typeface="Consolas"/>
                <a:ea typeface="Consolas"/>
                <a:cs typeface="Consolas"/>
              </a:rPr>
              <a:t>¥5,830,000</a:t>
            </a:r>
          </a:p>
        </p:txBody>
      </p:sp>
      <p:sp>
        <p:nvSpPr>
          <p:cNvPr id="120" name="pt_t_0"/>
          <p:cNvSpPr/>
          <p:nvPr/>
        </p:nvSpPr>
        <p:spPr>
          <a:xfrm>
            <a:off x="548640" y="3749040"/>
            <a:ext cx="274320" cy="182880"/>
          </a:xfrm>
          <a:prstGeom prst="rect">
            <a:avLst/>
          </a:prstGeom>
          <a:solidFill>
            <a:srgbClr val="C4A05C"/>
          </a:solidFill>
          <a:ln/>
        </p:spPr>
        <p:txBody>
          <a:bodyPr/>
          <a:lstStyle/>
          <a:p>
            <a:endParaRPr lang="ja-JP" altLang="en-US"/>
          </a:p>
        </p:txBody>
      </p:sp>
      <p:sp>
        <p:nvSpPr>
          <p:cNvPr id="121" name="pt_tx_0"/>
          <p:cNvSpPr/>
          <p:nvPr/>
        </p:nvSpPr>
        <p:spPr>
          <a:xfrm>
            <a:off x="548640" y="3749040"/>
            <a:ext cx="274320" cy="182880"/>
          </a:xfrm>
          <a:prstGeom prst="rect">
            <a:avLst/>
          </a:prstGeom>
          <a:noFill/>
          <a:ln/>
        </p:spPr>
        <p:txBody>
          <a:bodyPr wrap="square" lIns="0" tIns="0" rIns="0" bIns="0" rtlCol="0" anchor="ctr"/>
          <a:lstStyle/>
          <a:p>
            <a:pPr marL="0" indent="0" algn="ctr">
              <a:buNone/>
            </a:pPr>
            <a:r>
              <a:rPr lang="ja-JP" sz="800" b="1" dirty="0">
                <a:solidFill>
                  <a:srgbClr val="FFFFFF"/>
                </a:solidFill>
                <a:latin typeface="Consolas"/>
                <a:ea typeface="Consolas"/>
                <a:cs typeface="Consolas"/>
              </a:rPr>
              <a:t>A</a:t>
            </a:r>
          </a:p>
        </p:txBody>
      </p:sp>
      <p:sp>
        <p:nvSpPr>
          <p:cNvPr id="122" name="pt_n_0"/>
          <p:cNvSpPr/>
          <p:nvPr/>
        </p:nvSpPr>
        <p:spPr>
          <a:xfrm>
            <a:off x="914400" y="3703320"/>
            <a:ext cx="3200400" cy="274320"/>
          </a:xfrm>
          <a:prstGeom prst="rect">
            <a:avLst/>
          </a:prstGeom>
          <a:noFill/>
          <a:ln/>
        </p:spPr>
        <p:txBody>
          <a:bodyPr wrap="square" lIns="0" tIns="0" rIns="0" bIns="0" rtlCol="0" anchor="ctr"/>
          <a:lstStyle/>
          <a:p>
            <a:pPr marL="0" indent="0">
              <a:buNone/>
            </a:pPr>
            <a:r>
              <a:rPr lang="ja-JP" sz="900" dirty="0">
                <a:solidFill>
                  <a:srgbClr val="3A3A42"/>
                </a:solidFill>
                <a:latin typeface="Noto Sans JP"/>
                <a:ea typeface="Noto Sans JP"/>
                <a:cs typeface="Noto Sans JP"/>
              </a:rPr>
              <a:t>統合DB設計 ＋ 共通マスタ</a:t>
            </a:r>
          </a:p>
        </p:txBody>
      </p:sp>
      <p:sp>
        <p:nvSpPr>
          <p:cNvPr id="123" name="pt_c_0"/>
          <p:cNvSpPr/>
          <p:nvPr/>
        </p:nvSpPr>
        <p:spPr>
          <a:xfrm>
            <a:off x="4206240" y="3703320"/>
            <a:ext cx="1371600" cy="274320"/>
          </a:xfrm>
          <a:prstGeom prst="rect">
            <a:avLst/>
          </a:prstGeom>
          <a:noFill/>
          <a:ln/>
        </p:spPr>
        <p:txBody>
          <a:bodyPr wrap="square" lIns="0" tIns="0" rIns="0" bIns="0" rtlCol="0" anchor="ctr"/>
          <a:lstStyle/>
          <a:p>
            <a:pPr marL="0" indent="0" algn="r">
              <a:buNone/>
            </a:pPr>
            <a:r>
              <a:rPr lang="ja-JP" sz="950" dirty="0">
                <a:solidFill>
                  <a:srgbClr val="3A3A42"/>
                </a:solidFill>
                <a:latin typeface="Consolas"/>
                <a:ea typeface="Consolas"/>
                <a:cs typeface="Consolas"/>
              </a:rPr>
              <a:t>¥2,440,000</a:t>
            </a:r>
          </a:p>
        </p:txBody>
      </p:sp>
      <p:sp>
        <p:nvSpPr>
          <p:cNvPr id="124" name="pt_t_1"/>
          <p:cNvSpPr/>
          <p:nvPr/>
        </p:nvSpPr>
        <p:spPr>
          <a:xfrm>
            <a:off x="548640" y="4041648"/>
            <a:ext cx="274320" cy="182880"/>
          </a:xfrm>
          <a:prstGeom prst="rect">
            <a:avLst/>
          </a:prstGeom>
          <a:solidFill>
            <a:srgbClr val="C4A05C"/>
          </a:solidFill>
          <a:ln/>
        </p:spPr>
        <p:txBody>
          <a:bodyPr/>
          <a:lstStyle/>
          <a:p>
            <a:endParaRPr lang="ja-JP" altLang="en-US"/>
          </a:p>
        </p:txBody>
      </p:sp>
      <p:sp>
        <p:nvSpPr>
          <p:cNvPr id="125" name="pt_tx_1"/>
          <p:cNvSpPr/>
          <p:nvPr/>
        </p:nvSpPr>
        <p:spPr>
          <a:xfrm>
            <a:off x="548640" y="4041648"/>
            <a:ext cx="274320" cy="182880"/>
          </a:xfrm>
          <a:prstGeom prst="rect">
            <a:avLst/>
          </a:prstGeom>
          <a:noFill/>
          <a:ln/>
        </p:spPr>
        <p:txBody>
          <a:bodyPr wrap="square" lIns="0" tIns="0" rIns="0" bIns="0" rtlCol="0" anchor="ctr"/>
          <a:lstStyle/>
          <a:p>
            <a:pPr marL="0" indent="0" algn="ctr">
              <a:buNone/>
            </a:pPr>
            <a:r>
              <a:rPr lang="ja-JP" sz="800" b="1" dirty="0">
                <a:solidFill>
                  <a:srgbClr val="FFFFFF"/>
                </a:solidFill>
                <a:latin typeface="Consolas"/>
                <a:ea typeface="Consolas"/>
                <a:cs typeface="Consolas"/>
              </a:rPr>
              <a:t>B</a:t>
            </a:r>
          </a:p>
        </p:txBody>
      </p:sp>
      <p:sp>
        <p:nvSpPr>
          <p:cNvPr id="126" name="pt_n_1"/>
          <p:cNvSpPr/>
          <p:nvPr/>
        </p:nvSpPr>
        <p:spPr>
          <a:xfrm>
            <a:off x="914400" y="3995928"/>
            <a:ext cx="3200400" cy="274320"/>
          </a:xfrm>
          <a:prstGeom prst="rect">
            <a:avLst/>
          </a:prstGeom>
          <a:noFill/>
          <a:ln/>
        </p:spPr>
        <p:txBody>
          <a:bodyPr wrap="square" lIns="0" tIns="0" rIns="0" bIns="0" rtlCol="0" anchor="ctr"/>
          <a:lstStyle/>
          <a:p>
            <a:pPr marL="0" indent="0">
              <a:buNone/>
            </a:pPr>
            <a:r>
              <a:rPr lang="ja-JP" sz="900" dirty="0">
                <a:solidFill>
                  <a:srgbClr val="3A3A42"/>
                </a:solidFill>
                <a:latin typeface="Noto Sans JP"/>
                <a:ea typeface="Noto Sans JP"/>
                <a:cs typeface="Noto Sans JP"/>
              </a:rPr>
              <a:t>生成AI利用ガイドライン</a:t>
            </a:r>
          </a:p>
        </p:txBody>
      </p:sp>
      <p:sp>
        <p:nvSpPr>
          <p:cNvPr id="127" name="pt_c_1"/>
          <p:cNvSpPr/>
          <p:nvPr/>
        </p:nvSpPr>
        <p:spPr>
          <a:xfrm>
            <a:off x="4206240" y="3995928"/>
            <a:ext cx="1371600" cy="274320"/>
          </a:xfrm>
          <a:prstGeom prst="rect">
            <a:avLst/>
          </a:prstGeom>
          <a:noFill/>
          <a:ln/>
        </p:spPr>
        <p:txBody>
          <a:bodyPr wrap="square" lIns="0" tIns="0" rIns="0" bIns="0" rtlCol="0" anchor="ctr"/>
          <a:lstStyle/>
          <a:p>
            <a:pPr marL="0" indent="0" algn="r">
              <a:buNone/>
            </a:pPr>
            <a:r>
              <a:rPr lang="ja-JP" sz="950" dirty="0">
                <a:solidFill>
                  <a:srgbClr val="3A3A42"/>
                </a:solidFill>
                <a:latin typeface="Consolas"/>
                <a:ea typeface="Consolas"/>
                <a:cs typeface="Consolas"/>
              </a:rPr>
              <a:t>¥1,230,000</a:t>
            </a:r>
          </a:p>
        </p:txBody>
      </p:sp>
      <p:sp>
        <p:nvSpPr>
          <p:cNvPr id="128" name="pt_t_2"/>
          <p:cNvSpPr/>
          <p:nvPr/>
        </p:nvSpPr>
        <p:spPr>
          <a:xfrm>
            <a:off x="548640" y="4334256"/>
            <a:ext cx="274320" cy="182880"/>
          </a:xfrm>
          <a:prstGeom prst="rect">
            <a:avLst/>
          </a:prstGeom>
          <a:solidFill>
            <a:srgbClr val="C4A05C"/>
          </a:solidFill>
          <a:ln/>
        </p:spPr>
        <p:txBody>
          <a:bodyPr/>
          <a:lstStyle/>
          <a:p>
            <a:endParaRPr lang="ja-JP" altLang="en-US"/>
          </a:p>
        </p:txBody>
      </p:sp>
      <p:sp>
        <p:nvSpPr>
          <p:cNvPr id="129" name="pt_tx_2"/>
          <p:cNvSpPr/>
          <p:nvPr/>
        </p:nvSpPr>
        <p:spPr>
          <a:xfrm>
            <a:off x="548640" y="4334256"/>
            <a:ext cx="274320" cy="182880"/>
          </a:xfrm>
          <a:prstGeom prst="rect">
            <a:avLst/>
          </a:prstGeom>
          <a:noFill/>
          <a:ln/>
        </p:spPr>
        <p:txBody>
          <a:bodyPr wrap="square" lIns="0" tIns="0" rIns="0" bIns="0" rtlCol="0" anchor="ctr"/>
          <a:lstStyle/>
          <a:p>
            <a:pPr marL="0" indent="0" algn="ctr">
              <a:buNone/>
            </a:pPr>
            <a:r>
              <a:rPr lang="ja-JP" sz="800" b="1" dirty="0">
                <a:solidFill>
                  <a:srgbClr val="FFFFFF"/>
                </a:solidFill>
                <a:latin typeface="Consolas"/>
                <a:ea typeface="Consolas"/>
                <a:cs typeface="Consolas"/>
              </a:rPr>
              <a:t>C</a:t>
            </a:r>
          </a:p>
        </p:txBody>
      </p:sp>
      <p:sp>
        <p:nvSpPr>
          <p:cNvPr id="130" name="pt_n_2"/>
          <p:cNvSpPr/>
          <p:nvPr/>
        </p:nvSpPr>
        <p:spPr>
          <a:xfrm>
            <a:off x="914400" y="4288536"/>
            <a:ext cx="3200400" cy="274320"/>
          </a:xfrm>
          <a:prstGeom prst="rect">
            <a:avLst/>
          </a:prstGeom>
          <a:noFill/>
          <a:ln/>
        </p:spPr>
        <p:txBody>
          <a:bodyPr wrap="square" lIns="0" tIns="0" rIns="0" bIns="0" rtlCol="0" anchor="ctr"/>
          <a:lstStyle/>
          <a:p>
            <a:pPr marL="0" indent="0">
              <a:buNone/>
            </a:pPr>
            <a:r>
              <a:rPr lang="ja-JP" sz="900" dirty="0">
                <a:solidFill>
                  <a:srgbClr val="3A3A42"/>
                </a:solidFill>
                <a:latin typeface="Noto Sans JP"/>
                <a:ea typeface="Noto Sans JP"/>
                <a:cs typeface="Noto Sans JP"/>
              </a:rPr>
              <a:t>AI推進担当者育成</a:t>
            </a:r>
          </a:p>
        </p:txBody>
      </p:sp>
      <p:sp>
        <p:nvSpPr>
          <p:cNvPr id="131" name="pt_c_2"/>
          <p:cNvSpPr/>
          <p:nvPr/>
        </p:nvSpPr>
        <p:spPr>
          <a:xfrm>
            <a:off x="4206240" y="4288536"/>
            <a:ext cx="1371600" cy="274320"/>
          </a:xfrm>
          <a:prstGeom prst="rect">
            <a:avLst/>
          </a:prstGeom>
          <a:noFill/>
          <a:ln/>
        </p:spPr>
        <p:txBody>
          <a:bodyPr wrap="square" lIns="0" tIns="0" rIns="0" bIns="0" rtlCol="0" anchor="ctr"/>
          <a:lstStyle/>
          <a:p>
            <a:pPr marL="0" indent="0" algn="r">
              <a:buNone/>
            </a:pPr>
            <a:r>
              <a:rPr lang="ja-JP" sz="950" dirty="0">
                <a:solidFill>
                  <a:srgbClr val="3A3A42"/>
                </a:solidFill>
                <a:latin typeface="Consolas"/>
                <a:ea typeface="Consolas"/>
                <a:cs typeface="Consolas"/>
              </a:rPr>
              <a:t>¥2,160,000</a:t>
            </a:r>
          </a:p>
        </p:txBody>
      </p:sp>
      <p:sp>
        <p:nvSpPr>
          <p:cNvPr id="132" name="gt_bg"/>
          <p:cNvSpPr/>
          <p:nvPr/>
        </p:nvSpPr>
        <p:spPr>
          <a:xfrm>
            <a:off x="365760" y="4617720"/>
            <a:ext cx="5303520" cy="502920"/>
          </a:xfrm>
          <a:prstGeom prst="rect">
            <a:avLst/>
          </a:prstGeom>
          <a:solidFill>
            <a:srgbClr val="8B7AB8"/>
          </a:solidFill>
          <a:ln/>
        </p:spPr>
        <p:txBody>
          <a:bodyPr/>
          <a:lstStyle/>
          <a:p>
            <a:endParaRPr lang="ja-JP" altLang="en-US"/>
          </a:p>
        </p:txBody>
      </p:sp>
      <p:sp>
        <p:nvSpPr>
          <p:cNvPr id="133" name="gt_l"/>
          <p:cNvSpPr/>
          <p:nvPr/>
        </p:nvSpPr>
        <p:spPr>
          <a:xfrm>
            <a:off x="548640" y="4617720"/>
            <a:ext cx="2743200" cy="502920"/>
          </a:xfrm>
          <a:prstGeom prst="rect">
            <a:avLst/>
          </a:prstGeom>
          <a:noFill/>
          <a:ln/>
        </p:spPr>
        <p:txBody>
          <a:bodyPr wrap="square" lIns="0" tIns="0" rIns="0" bIns="0" rtlCol="0" anchor="ctr"/>
          <a:lstStyle/>
          <a:p>
            <a:pPr marL="0" indent="0">
              <a:buNone/>
            </a:pPr>
            <a:r>
              <a:rPr lang="ja-JP" sz="1000" b="1" dirty="0">
                <a:solidFill>
                  <a:srgbClr val="FFFFFF"/>
                </a:solidFill>
                <a:latin typeface="Noto Sans JP"/>
                <a:ea typeface="Noto Sans JP"/>
                <a:cs typeface="Noto Sans JP"/>
              </a:rPr>
              <a:t>12ヶ月 トータル（標準）</a:t>
            </a:r>
          </a:p>
        </p:txBody>
      </p:sp>
      <p:sp>
        <p:nvSpPr>
          <p:cNvPr id="134" name="gt_v"/>
          <p:cNvSpPr/>
          <p:nvPr/>
        </p:nvSpPr>
        <p:spPr>
          <a:xfrm>
            <a:off x="3566160" y="4617720"/>
            <a:ext cx="1920240" cy="502920"/>
          </a:xfrm>
          <a:prstGeom prst="rect">
            <a:avLst/>
          </a:prstGeom>
          <a:noFill/>
          <a:ln/>
        </p:spPr>
        <p:txBody>
          <a:bodyPr wrap="square" lIns="0" tIns="0" rIns="0" bIns="0" rtlCol="0" anchor="ctr"/>
          <a:lstStyle/>
          <a:p>
            <a:pPr marL="0" indent="0" algn="r">
              <a:buNone/>
            </a:pPr>
            <a:r>
              <a:rPr lang="ja-JP" sz="1900" b="1" dirty="0">
                <a:solidFill>
                  <a:srgbClr val="FFFFFF"/>
                </a:solidFill>
                <a:latin typeface="Consolas"/>
                <a:ea typeface="Consolas"/>
                <a:cs typeface="Consolas"/>
              </a:rPr>
              <a:t>¥11,830,000</a:t>
            </a:r>
          </a:p>
        </p:txBody>
      </p:sp>
      <p:sp>
        <p:nvSpPr>
          <p:cNvPr id="135" name="r_t"/>
          <p:cNvSpPr/>
          <p:nvPr/>
        </p:nvSpPr>
        <p:spPr>
          <a:xfrm>
            <a:off x="5852160" y="1600200"/>
            <a:ext cx="2926080" cy="274320"/>
          </a:xfrm>
          <a:prstGeom prst="rect">
            <a:avLst/>
          </a:prstGeom>
          <a:noFill/>
          <a:ln/>
        </p:spPr>
        <p:txBody>
          <a:bodyPr wrap="square" lIns="0" tIns="0" rIns="0" bIns="0" rtlCol="0"/>
          <a:lstStyle/>
          <a:p>
            <a:pPr marL="0" indent="0">
              <a:buNone/>
            </a:pPr>
            <a:r>
              <a:rPr lang="ja-JP" sz="1100" b="1" dirty="0">
                <a:solidFill>
                  <a:srgbClr val="3A3A42"/>
                </a:solidFill>
                <a:latin typeface="Noto Sans JP"/>
                <a:ea typeface="Noto Sans JP"/>
                <a:cs typeface="Noto Sans JP"/>
              </a:rPr>
              <a:t>シナリオ別 レンジ</a:t>
            </a:r>
          </a:p>
        </p:txBody>
      </p:sp>
      <p:sp>
        <p:nvSpPr>
          <p:cNvPr id="136" name="r_ln"/>
          <p:cNvSpPr/>
          <p:nvPr/>
        </p:nvSpPr>
        <p:spPr>
          <a:xfrm>
            <a:off x="5852160" y="1947672"/>
            <a:ext cx="2926080" cy="0"/>
          </a:xfrm>
          <a:prstGeom prst="line">
            <a:avLst/>
          </a:prstGeom>
          <a:noFill/>
          <a:ln w="19050">
            <a:solidFill>
              <a:srgbClr val="8B7AB8"/>
            </a:solidFill>
            <a:prstDash val="solid"/>
          </a:ln>
        </p:spPr>
        <p:txBody>
          <a:bodyPr/>
          <a:lstStyle/>
          <a:p>
            <a:endParaRPr lang="ja-JP" altLang="en-US"/>
          </a:p>
        </p:txBody>
      </p:sp>
      <p:sp>
        <p:nvSpPr>
          <p:cNvPr id="137" name="sc_bg_0"/>
          <p:cNvSpPr/>
          <p:nvPr/>
        </p:nvSpPr>
        <p:spPr>
          <a:xfrm>
            <a:off x="5852160" y="2103120"/>
            <a:ext cx="2926080" cy="658368"/>
          </a:xfrm>
          <a:prstGeom prst="rect">
            <a:avLst/>
          </a:prstGeom>
          <a:solidFill>
            <a:srgbClr val="FAFAFB"/>
          </a:solidFill>
          <a:ln/>
        </p:spPr>
        <p:txBody>
          <a:bodyPr/>
          <a:lstStyle/>
          <a:p>
            <a:endParaRPr lang="ja-JP" altLang="en-US"/>
          </a:p>
        </p:txBody>
      </p:sp>
      <p:sp>
        <p:nvSpPr>
          <p:cNvPr id="138" name="sc_l_0"/>
          <p:cNvSpPr/>
          <p:nvPr/>
        </p:nvSpPr>
        <p:spPr>
          <a:xfrm>
            <a:off x="6035040" y="2176272"/>
            <a:ext cx="2560320" cy="201168"/>
          </a:xfrm>
          <a:prstGeom prst="rect">
            <a:avLst/>
          </a:prstGeom>
          <a:noFill/>
          <a:ln/>
        </p:spPr>
        <p:txBody>
          <a:bodyPr wrap="square" lIns="0" tIns="0" rIns="0" bIns="0" rtlCol="0"/>
          <a:lstStyle/>
          <a:p>
            <a:pPr marL="0" indent="0">
              <a:buNone/>
            </a:pPr>
            <a:r>
              <a:rPr lang="ja-JP" sz="900" b="1" kern="0" spc="100" dirty="0">
                <a:solidFill>
                  <a:srgbClr val="9B98A6"/>
                </a:solidFill>
                <a:latin typeface="Consolas"/>
                <a:ea typeface="Consolas"/>
                <a:cs typeface="Consolas"/>
              </a:rPr>
              <a:t>控えめ</a:t>
            </a:r>
          </a:p>
        </p:txBody>
      </p:sp>
      <p:sp>
        <p:nvSpPr>
          <p:cNvPr id="139" name="sc_v_0"/>
          <p:cNvSpPr/>
          <p:nvPr/>
        </p:nvSpPr>
        <p:spPr>
          <a:xfrm>
            <a:off x="6035040" y="2377440"/>
            <a:ext cx="2560320" cy="365760"/>
          </a:xfrm>
          <a:prstGeom prst="rect">
            <a:avLst/>
          </a:prstGeom>
          <a:noFill/>
          <a:ln/>
        </p:spPr>
        <p:txBody>
          <a:bodyPr wrap="square" lIns="0" tIns="0" rIns="0" bIns="0" rtlCol="0"/>
          <a:lstStyle/>
          <a:p>
            <a:pPr marL="0" indent="0">
              <a:buNone/>
            </a:pPr>
            <a:r>
              <a:rPr lang="ja-JP" sz="1600" b="1" dirty="0">
                <a:solidFill>
                  <a:srgbClr val="3A3A42"/>
                </a:solidFill>
                <a:latin typeface="Consolas"/>
                <a:ea typeface="Consolas"/>
                <a:cs typeface="Consolas"/>
              </a:rPr>
              <a:t>¥7,130,000</a:t>
            </a:r>
          </a:p>
        </p:txBody>
      </p:sp>
      <p:sp>
        <p:nvSpPr>
          <p:cNvPr id="140" name="sc_bg_1"/>
          <p:cNvSpPr/>
          <p:nvPr/>
        </p:nvSpPr>
        <p:spPr>
          <a:xfrm>
            <a:off x="5852160" y="2880360"/>
            <a:ext cx="2926080" cy="658368"/>
          </a:xfrm>
          <a:prstGeom prst="rect">
            <a:avLst/>
          </a:prstGeom>
          <a:solidFill>
            <a:srgbClr val="8B7AB8"/>
          </a:solidFill>
          <a:ln/>
        </p:spPr>
        <p:txBody>
          <a:bodyPr/>
          <a:lstStyle/>
          <a:p>
            <a:endParaRPr lang="ja-JP" altLang="en-US"/>
          </a:p>
        </p:txBody>
      </p:sp>
      <p:sp>
        <p:nvSpPr>
          <p:cNvPr id="141" name="sc_l_1"/>
          <p:cNvSpPr/>
          <p:nvPr/>
        </p:nvSpPr>
        <p:spPr>
          <a:xfrm>
            <a:off x="6035040" y="2953512"/>
            <a:ext cx="2560320" cy="201168"/>
          </a:xfrm>
          <a:prstGeom prst="rect">
            <a:avLst/>
          </a:prstGeom>
          <a:noFill/>
          <a:ln/>
        </p:spPr>
        <p:txBody>
          <a:bodyPr wrap="square" lIns="0" tIns="0" rIns="0" bIns="0" rtlCol="0"/>
          <a:lstStyle/>
          <a:p>
            <a:pPr marL="0" indent="0">
              <a:buNone/>
            </a:pPr>
            <a:r>
              <a:rPr lang="ja-JP" sz="900" b="1" kern="0" spc="100" dirty="0">
                <a:solidFill>
                  <a:srgbClr val="D9D1E8"/>
                </a:solidFill>
                <a:latin typeface="Consolas"/>
                <a:ea typeface="Consolas"/>
                <a:cs typeface="Consolas"/>
              </a:rPr>
              <a:t>標準（推奨）</a:t>
            </a:r>
          </a:p>
        </p:txBody>
      </p:sp>
      <p:sp>
        <p:nvSpPr>
          <p:cNvPr id="142" name="sc_v_1"/>
          <p:cNvSpPr/>
          <p:nvPr/>
        </p:nvSpPr>
        <p:spPr>
          <a:xfrm>
            <a:off x="6035040" y="3154680"/>
            <a:ext cx="2560320" cy="365760"/>
          </a:xfrm>
          <a:prstGeom prst="rect">
            <a:avLst/>
          </a:prstGeom>
          <a:noFill/>
          <a:ln/>
        </p:spPr>
        <p:txBody>
          <a:bodyPr wrap="square" lIns="0" tIns="0" rIns="0" bIns="0" rtlCol="0"/>
          <a:lstStyle/>
          <a:p>
            <a:pPr marL="0" indent="0">
              <a:buNone/>
            </a:pPr>
            <a:r>
              <a:rPr lang="ja-JP" sz="1600" b="1" dirty="0">
                <a:solidFill>
                  <a:srgbClr val="FFFFFF"/>
                </a:solidFill>
                <a:latin typeface="Consolas"/>
                <a:ea typeface="Consolas"/>
                <a:cs typeface="Consolas"/>
              </a:rPr>
              <a:t>¥11,830,000</a:t>
            </a:r>
          </a:p>
        </p:txBody>
      </p:sp>
      <p:sp>
        <p:nvSpPr>
          <p:cNvPr id="143" name="sc_bg_2"/>
          <p:cNvSpPr/>
          <p:nvPr/>
        </p:nvSpPr>
        <p:spPr>
          <a:xfrm>
            <a:off x="5852160" y="3657600"/>
            <a:ext cx="2926080" cy="658368"/>
          </a:xfrm>
          <a:prstGeom prst="rect">
            <a:avLst/>
          </a:prstGeom>
          <a:solidFill>
            <a:srgbClr val="FAFAFB"/>
          </a:solidFill>
          <a:ln/>
        </p:spPr>
        <p:txBody>
          <a:bodyPr/>
          <a:lstStyle/>
          <a:p>
            <a:endParaRPr lang="ja-JP" altLang="en-US"/>
          </a:p>
        </p:txBody>
      </p:sp>
      <p:sp>
        <p:nvSpPr>
          <p:cNvPr id="144" name="sc_l_2"/>
          <p:cNvSpPr/>
          <p:nvPr/>
        </p:nvSpPr>
        <p:spPr>
          <a:xfrm>
            <a:off x="6035040" y="3730752"/>
            <a:ext cx="2560320" cy="201168"/>
          </a:xfrm>
          <a:prstGeom prst="rect">
            <a:avLst/>
          </a:prstGeom>
          <a:noFill/>
          <a:ln/>
        </p:spPr>
        <p:txBody>
          <a:bodyPr wrap="square" lIns="0" tIns="0" rIns="0" bIns="0" rtlCol="0"/>
          <a:lstStyle/>
          <a:p>
            <a:pPr marL="0" indent="0">
              <a:buNone/>
            </a:pPr>
            <a:r>
              <a:rPr lang="ja-JP" sz="900" b="1" kern="0" spc="100" dirty="0">
                <a:solidFill>
                  <a:srgbClr val="9B98A6"/>
                </a:solidFill>
                <a:latin typeface="Consolas"/>
                <a:ea typeface="Consolas"/>
                <a:cs typeface="Consolas"/>
              </a:rPr>
              <a:t>手厚い</a:t>
            </a:r>
          </a:p>
        </p:txBody>
      </p:sp>
      <p:sp>
        <p:nvSpPr>
          <p:cNvPr id="145" name="sc_v_2"/>
          <p:cNvSpPr/>
          <p:nvPr/>
        </p:nvSpPr>
        <p:spPr>
          <a:xfrm>
            <a:off x="6035040" y="3931920"/>
            <a:ext cx="2560320" cy="365760"/>
          </a:xfrm>
          <a:prstGeom prst="rect">
            <a:avLst/>
          </a:prstGeom>
          <a:noFill/>
          <a:ln/>
        </p:spPr>
        <p:txBody>
          <a:bodyPr wrap="square" lIns="0" tIns="0" rIns="0" bIns="0" rtlCol="0"/>
          <a:lstStyle/>
          <a:p>
            <a:pPr marL="0" indent="0">
              <a:buNone/>
            </a:pPr>
            <a:r>
              <a:rPr lang="ja-JP" sz="1600" b="1" dirty="0">
                <a:solidFill>
                  <a:srgbClr val="3A3A42"/>
                </a:solidFill>
                <a:latin typeface="Consolas"/>
                <a:ea typeface="Consolas"/>
                <a:cs typeface="Consolas"/>
              </a:rPr>
              <a:t>¥17,420,000</a:t>
            </a:r>
          </a:p>
        </p:txBody>
      </p:sp>
      <p:sp>
        <p:nvSpPr>
          <p:cNvPr id="146" name="note"/>
          <p:cNvSpPr/>
          <p:nvPr/>
        </p:nvSpPr>
        <p:spPr>
          <a:xfrm>
            <a:off x="5852160" y="4663440"/>
            <a:ext cx="2926080" cy="365760"/>
          </a:xfrm>
          <a:prstGeom prst="rect">
            <a:avLst/>
          </a:prstGeom>
          <a:noFill/>
          <a:ln/>
        </p:spPr>
        <p:txBody>
          <a:bodyPr wrap="square" lIns="0" tIns="0" rIns="0" bIns="0" rtlCol="0"/>
          <a:lstStyle/>
          <a:p>
            <a:pPr marL="0" indent="0">
              <a:lnSpc>
                <a:spcPct val="130000"/>
              </a:lnSpc>
              <a:buNone/>
            </a:pPr>
            <a:r>
              <a:rPr lang="ja-JP" sz="700" dirty="0">
                <a:solidFill>
                  <a:srgbClr val="9B98A6"/>
                </a:solidFill>
                <a:latin typeface="Noto Sans JP"/>
                <a:ea typeface="Noto Sans JP"/>
                <a:cs typeface="Noto Sans JP"/>
              </a:rPr>
              <a:t>※ 月額顧問契約者にはプロジェクト費用の割引を適用。</a:t>
            </a:r>
          </a:p>
          <a:p>
            <a:pPr marL="0" indent="0">
              <a:lnSpc>
                <a:spcPct val="130000"/>
              </a:lnSpc>
              <a:buNone/>
            </a:pPr>
            <a:r>
              <a:rPr lang="ja-JP" sz="700" dirty="0">
                <a:solidFill>
                  <a:srgbClr val="9B98A6"/>
                </a:solidFill>
                <a:latin typeface="Noto Sans JP"/>
                <a:ea typeface="Noto Sans JP"/>
                <a:cs typeface="Noto Sans JP"/>
              </a:rPr>
              <a:t>IT導入補助金・助成金の活用支援も対応します。</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marL="0" indent="0">
              <a:buNone/>
            </a:pPr>
            <a:r>
              <a:rPr lang="en-US" sz="800" kern="0" spc="200" dirty="0">
                <a:solidFill>
                  <a:srgbClr val="9B98A6"/>
                </a:solidFill>
                <a:latin typeface="Consolas" pitchFamily="34" charset="0"/>
                <a:ea typeface="Consolas" pitchFamily="34" charset="-122"/>
                <a:cs typeface="Consolas" pitchFamily="34" charset="-120"/>
              </a:rPr>
              <a:t>CONTENT ／ 10</a:t>
            </a:r>
            <a:endParaRPr lang="en-US" sz="800" dirty="0"/>
          </a:p>
        </p:txBody>
      </p:sp>
      <p:sp>
        <p:nvSpPr>
          <p:cNvPr id="3" name="Shape 1"/>
          <p:cNvSpPr/>
          <p:nvPr/>
        </p:nvSpPr>
        <p:spPr>
          <a:xfrm>
            <a:off x="228600" y="320040"/>
            <a:ext cx="64008" cy="64008"/>
          </a:xfrm>
          <a:prstGeom prst="ellipse">
            <a:avLst/>
          </a:prstGeom>
          <a:solidFill>
            <a:srgbClr val="8B7AB8"/>
          </a:solidFill>
          <a:ln/>
        </p:spPr>
        <p:txBody>
          <a:bodyPr/>
          <a:lstStyle/>
          <a:p>
            <a:endParaRPr lang="ja-JP" altLang="en-US"/>
          </a:p>
        </p:txBody>
      </p:sp>
      <p:pic>
        <p:nvPicPr>
          <p:cNvPr id="4" name="Image 0" descr="logo-horizontal.png"/>
          <p:cNvPicPr>
            <a:picLocks noChangeAspect="1"/>
          </p:cNvPicPr>
          <p:nvPr/>
        </p:nvPicPr>
        <p:blipFill>
          <a:blip r:embed="rId3"/>
          <a:stretch>
            <a:fillRect/>
          </a:stretch>
        </p:blipFill>
        <p:spPr>
          <a:xfrm>
            <a:off x="6492240" y="274320"/>
            <a:ext cx="2286000" cy="603504"/>
          </a:xfrm>
          <a:prstGeom prst="rect">
            <a:avLst/>
          </a:prstGeom>
        </p:spPr>
      </p:pic>
      <p:sp>
        <p:nvSpPr>
          <p:cNvPr id="5" name="Text 2"/>
          <p:cNvSpPr/>
          <p:nvPr/>
        </p:nvSpPr>
        <p:spPr>
          <a:xfrm>
            <a:off x="365760" y="960120"/>
            <a:ext cx="1097280" cy="365760"/>
          </a:xfrm>
          <a:prstGeom prst="rect">
            <a:avLst/>
          </a:prstGeom>
          <a:noFill/>
          <a:ln/>
        </p:spPr>
        <p:txBody>
          <a:bodyPr wrap="square" lIns="0" tIns="0" rIns="0" bIns="0" rtlCol="0" anchor="ctr"/>
          <a:lstStyle/>
          <a:p>
            <a:pPr marL="0" indent="0">
              <a:buNone/>
            </a:pPr>
            <a:r>
              <a:rPr lang="en-US" sz="900" kern="0" spc="400" dirty="0">
                <a:solidFill>
                  <a:srgbClr val="8B7AB8"/>
                </a:solidFill>
                <a:latin typeface="Consolas" pitchFamily="34" charset="0"/>
                <a:ea typeface="Consolas" pitchFamily="34" charset="-122"/>
                <a:cs typeface="Consolas" pitchFamily="34" charset="-120"/>
              </a:rPr>
              <a:t>10 / NEXT</a:t>
            </a:r>
            <a:endParaRPr lang="en-US" sz="900" dirty="0"/>
          </a:p>
        </p:txBody>
      </p:sp>
      <p:sp>
        <p:nvSpPr>
          <p:cNvPr id="6" name="Text 3"/>
          <p:cNvSpPr/>
          <p:nvPr/>
        </p:nvSpPr>
        <p:spPr>
          <a:xfrm>
            <a:off x="1463040" y="914400"/>
            <a:ext cx="7315200" cy="457200"/>
          </a:xfrm>
          <a:prstGeom prst="rect">
            <a:avLst/>
          </a:prstGeom>
          <a:noFill/>
          <a:ln/>
        </p:spPr>
        <p:txBody>
          <a:bodyPr wrap="square" lIns="0" tIns="0" rIns="0" bIns="0" rtlCol="0" anchor="ctr"/>
          <a:lstStyle/>
          <a:p>
            <a:pPr marL="0" indent="0">
              <a:buNone/>
            </a:pPr>
            <a:r>
              <a:rPr lang="en-US" sz="2200" b="1" dirty="0">
                <a:solidFill>
                  <a:srgbClr val="3A3A42"/>
                </a:solidFill>
                <a:latin typeface="Noto Sans JP" pitchFamily="34" charset="0"/>
                <a:ea typeface="Noto Sans JP" pitchFamily="34" charset="-122"/>
                <a:cs typeface="Noto Sans JP" pitchFamily="34" charset="-120"/>
              </a:rPr>
              <a:t>次のステップ</a:t>
            </a:r>
            <a:endParaRPr lang="en-US" sz="2200" dirty="0"/>
          </a:p>
        </p:txBody>
      </p:sp>
      <p:sp>
        <p:nvSpPr>
          <p:cNvPr id="7" name="Shape 4"/>
          <p:cNvSpPr/>
          <p:nvPr/>
        </p:nvSpPr>
        <p:spPr>
          <a:xfrm>
            <a:off x="365760" y="1417320"/>
            <a:ext cx="8412480" cy="0"/>
          </a:xfrm>
          <a:prstGeom prst="line">
            <a:avLst/>
          </a:prstGeom>
          <a:noFill/>
          <a:ln w="6350">
            <a:solidFill>
              <a:srgbClr val="E8E6EC"/>
            </a:solidFill>
            <a:prstDash val="solid"/>
          </a:ln>
        </p:spPr>
        <p:txBody>
          <a:bodyPr/>
          <a:lstStyle/>
          <a:p>
            <a:endParaRPr lang="ja-JP" altLang="en-US"/>
          </a:p>
        </p:txBody>
      </p:sp>
      <p:sp>
        <p:nvSpPr>
          <p:cNvPr id="10" name="Text 7"/>
          <p:cNvSpPr/>
          <p:nvPr/>
        </p:nvSpPr>
        <p:spPr>
          <a:xfrm>
            <a:off x="7955280" y="4846320"/>
            <a:ext cx="914400" cy="182880"/>
          </a:xfrm>
          <a:prstGeom prst="rect">
            <a:avLst/>
          </a:prstGeom>
          <a:noFill/>
          <a:ln/>
        </p:spPr>
        <p:txBody>
          <a:bodyPr wrap="square" lIns="0" tIns="0" rIns="0" bIns="0" rtlCol="0" anchor="ctr"/>
          <a:lstStyle/>
          <a:p>
            <a:pPr marL="0" indent="0" algn="r">
              <a:buNone/>
            </a:pPr>
            <a:r>
              <a:rPr lang="en-US" sz="800" dirty="0">
                <a:solidFill>
                  <a:srgbClr val="9B98A6"/>
                </a:solidFill>
                <a:latin typeface="Consolas" pitchFamily="34" charset="0"/>
                <a:ea typeface="Consolas" pitchFamily="34" charset="-122"/>
                <a:cs typeface="Consolas" pitchFamily="34" charset="-120"/>
              </a:rPr>
              <a:t>16 / 18</a:t>
            </a:r>
            <a:endParaRPr lang="en-US" sz="800" dirty="0"/>
          </a:p>
        </p:txBody>
      </p:sp>
      <p:sp>
        <p:nvSpPr>
          <p:cNvPr id="100" name="intro"/>
          <p:cNvSpPr/>
          <p:nvPr/>
        </p:nvSpPr>
        <p:spPr>
          <a:xfrm>
            <a:off x="365760" y="1600200"/>
            <a:ext cx="8412480" cy="320040"/>
          </a:xfrm>
          <a:prstGeom prst="rect">
            <a:avLst/>
          </a:prstGeom>
          <a:noFill/>
          <a:ln/>
        </p:spPr>
        <p:txBody>
          <a:bodyPr wrap="square" lIns="0" tIns="0" rIns="0" bIns="0" rtlCol="0"/>
          <a:lstStyle/>
          <a:p>
            <a:pPr marL="0" indent="0">
              <a:buNone/>
            </a:pPr>
            <a:r>
              <a:rPr lang="ja-JP" sz="1000" dirty="0">
                <a:solidFill>
                  <a:srgbClr val="5E5C6A"/>
                </a:solidFill>
                <a:latin typeface="Noto Sans JP"/>
                <a:ea typeface="Noto Sans JP"/>
                <a:cs typeface="Noto Sans JP"/>
              </a:rPr>
              <a:t>本ご提案に基づき、以下のステップで支援開始までを進めさせていただければと考えております。</a:t>
            </a:r>
          </a:p>
        </p:txBody>
      </p:sp>
      <p:sp>
        <p:nvSpPr>
          <p:cNvPr id="101" name="ln"/>
          <p:cNvSpPr/>
          <p:nvPr/>
        </p:nvSpPr>
        <p:spPr>
          <a:xfrm>
            <a:off x="365760" y="2103120"/>
            <a:ext cx="8412480" cy="0"/>
          </a:xfrm>
          <a:prstGeom prst="line">
            <a:avLst/>
          </a:prstGeom>
          <a:noFill/>
          <a:ln w="6350">
            <a:solidFill>
              <a:srgbClr val="E8E6EC"/>
            </a:solidFill>
            <a:prstDash val="solid"/>
          </a:ln>
        </p:spPr>
        <p:txBody>
          <a:bodyPr/>
          <a:lstStyle/>
          <a:p>
            <a:endParaRPr lang="ja-JP" altLang="en-US"/>
          </a:p>
        </p:txBody>
      </p:sp>
      <p:sp>
        <p:nvSpPr>
          <p:cNvPr id="102" name="s_n_bg_0"/>
          <p:cNvSpPr/>
          <p:nvPr/>
        </p:nvSpPr>
        <p:spPr>
          <a:xfrm>
            <a:off x="365760" y="2240280"/>
            <a:ext cx="640080" cy="438912"/>
          </a:xfrm>
          <a:prstGeom prst="rect">
            <a:avLst/>
          </a:prstGeom>
          <a:solidFill>
            <a:srgbClr val="8B7AB8"/>
          </a:solidFill>
          <a:ln/>
        </p:spPr>
        <p:txBody>
          <a:bodyPr/>
          <a:lstStyle/>
          <a:p>
            <a:endParaRPr lang="ja-JP" altLang="en-US"/>
          </a:p>
        </p:txBody>
      </p:sp>
      <p:sp>
        <p:nvSpPr>
          <p:cNvPr id="103" name="s_n_0"/>
          <p:cNvSpPr/>
          <p:nvPr/>
        </p:nvSpPr>
        <p:spPr>
          <a:xfrm>
            <a:off x="365760" y="2240280"/>
            <a:ext cx="640080" cy="438912"/>
          </a:xfrm>
          <a:prstGeom prst="rect">
            <a:avLst/>
          </a:prstGeom>
          <a:noFill/>
          <a:ln/>
        </p:spPr>
        <p:txBody>
          <a:bodyPr wrap="square" lIns="0" tIns="0" rIns="0" bIns="0" rtlCol="0" anchor="ctr"/>
          <a:lstStyle/>
          <a:p>
            <a:pPr marL="0" indent="0" algn="ctr">
              <a:buNone/>
            </a:pPr>
            <a:r>
              <a:rPr lang="ja-JP" sz="1800" b="1" dirty="0">
                <a:solidFill>
                  <a:srgbClr val="FFFFFF"/>
                </a:solidFill>
                <a:latin typeface="Georgia"/>
                <a:ea typeface="Georgia"/>
                <a:cs typeface="Georgia"/>
              </a:rPr>
              <a:t>01</a:t>
            </a:r>
          </a:p>
        </p:txBody>
      </p:sp>
      <p:sp>
        <p:nvSpPr>
          <p:cNvPr id="104" name="s_c_bg_0"/>
          <p:cNvSpPr/>
          <p:nvPr/>
        </p:nvSpPr>
        <p:spPr>
          <a:xfrm>
            <a:off x="1005840" y="2240280"/>
            <a:ext cx="7772400" cy="438912"/>
          </a:xfrm>
          <a:prstGeom prst="rect">
            <a:avLst/>
          </a:prstGeom>
          <a:solidFill>
            <a:srgbClr val="FAFAFB"/>
          </a:solidFill>
          <a:ln/>
        </p:spPr>
        <p:txBody>
          <a:bodyPr/>
          <a:lstStyle/>
          <a:p>
            <a:endParaRPr lang="ja-JP" altLang="en-US"/>
          </a:p>
        </p:txBody>
      </p:sp>
      <p:sp>
        <p:nvSpPr>
          <p:cNvPr id="105" name="s_h_0"/>
          <p:cNvSpPr/>
          <p:nvPr/>
        </p:nvSpPr>
        <p:spPr>
          <a:xfrm>
            <a:off x="1280160" y="2295144"/>
            <a:ext cx="7498080" cy="201168"/>
          </a:xfrm>
          <a:prstGeom prst="rect">
            <a:avLst/>
          </a:prstGeom>
          <a:noFill/>
          <a:ln/>
        </p:spPr>
        <p:txBody>
          <a:bodyPr wrap="square" lIns="0" tIns="0" rIns="0" bIns="0" rtlCol="0"/>
          <a:lstStyle/>
          <a:p>
            <a:pPr marL="0" indent="0">
              <a:buNone/>
            </a:pPr>
            <a:r>
              <a:rPr lang="ja-JP" sz="1050" b="1" dirty="0">
                <a:solidFill>
                  <a:srgbClr val="3A3A42"/>
                </a:solidFill>
                <a:latin typeface="Noto Sans JP"/>
                <a:ea typeface="Noto Sans JP"/>
                <a:cs typeface="Noto Sans JP"/>
              </a:rPr>
              <a:t>本提案書のご確認・論点共有</a:t>
            </a:r>
          </a:p>
        </p:txBody>
      </p:sp>
      <p:sp>
        <p:nvSpPr>
          <p:cNvPr id="106" name="s_d_0"/>
          <p:cNvSpPr/>
          <p:nvPr/>
        </p:nvSpPr>
        <p:spPr>
          <a:xfrm>
            <a:off x="1280160" y="2478024"/>
            <a:ext cx="7498080" cy="182880"/>
          </a:xfrm>
          <a:prstGeom prst="rect">
            <a:avLst/>
          </a:prstGeom>
          <a:noFill/>
          <a:ln/>
        </p:spPr>
        <p:txBody>
          <a:bodyPr wrap="square" lIns="0" tIns="0" rIns="0" bIns="0" rtlCol="0"/>
          <a:lstStyle/>
          <a:p>
            <a:pPr marL="0" indent="0">
              <a:buNone/>
            </a:pPr>
            <a:r>
              <a:rPr lang="ja-JP" sz="850" dirty="0">
                <a:solidFill>
                  <a:srgbClr val="5E5C6A"/>
                </a:solidFill>
                <a:latin typeface="Noto Sans JP"/>
                <a:ea typeface="Noto Sans JP"/>
                <a:cs typeface="Noto Sans JP"/>
              </a:rPr>
              <a:t>オンラインMTG 60分  ／  論点・修正要望のすり合わせ</a:t>
            </a:r>
          </a:p>
        </p:txBody>
      </p:sp>
      <p:sp>
        <p:nvSpPr>
          <p:cNvPr id="107" name="s_n_bg_1"/>
          <p:cNvSpPr/>
          <p:nvPr/>
        </p:nvSpPr>
        <p:spPr>
          <a:xfrm>
            <a:off x="365760" y="2715768"/>
            <a:ext cx="640080" cy="438912"/>
          </a:xfrm>
          <a:prstGeom prst="rect">
            <a:avLst/>
          </a:prstGeom>
          <a:solidFill>
            <a:srgbClr val="8B7AB8"/>
          </a:solidFill>
          <a:ln/>
        </p:spPr>
        <p:txBody>
          <a:bodyPr/>
          <a:lstStyle/>
          <a:p>
            <a:endParaRPr lang="ja-JP" altLang="en-US"/>
          </a:p>
        </p:txBody>
      </p:sp>
      <p:sp>
        <p:nvSpPr>
          <p:cNvPr id="108" name="s_n_1"/>
          <p:cNvSpPr/>
          <p:nvPr/>
        </p:nvSpPr>
        <p:spPr>
          <a:xfrm>
            <a:off x="365760" y="2715768"/>
            <a:ext cx="640080" cy="438912"/>
          </a:xfrm>
          <a:prstGeom prst="rect">
            <a:avLst/>
          </a:prstGeom>
          <a:noFill/>
          <a:ln/>
        </p:spPr>
        <p:txBody>
          <a:bodyPr wrap="square" lIns="0" tIns="0" rIns="0" bIns="0" rtlCol="0" anchor="ctr"/>
          <a:lstStyle/>
          <a:p>
            <a:pPr marL="0" indent="0" algn="ctr">
              <a:buNone/>
            </a:pPr>
            <a:r>
              <a:rPr lang="ja-JP" sz="1800" b="1" dirty="0">
                <a:solidFill>
                  <a:srgbClr val="FFFFFF"/>
                </a:solidFill>
                <a:latin typeface="Georgia"/>
                <a:ea typeface="Georgia"/>
                <a:cs typeface="Georgia"/>
              </a:rPr>
              <a:t>02</a:t>
            </a:r>
          </a:p>
        </p:txBody>
      </p:sp>
      <p:sp>
        <p:nvSpPr>
          <p:cNvPr id="109" name="s_c_bg_1"/>
          <p:cNvSpPr/>
          <p:nvPr/>
        </p:nvSpPr>
        <p:spPr>
          <a:xfrm>
            <a:off x="1005840" y="2715768"/>
            <a:ext cx="7772400" cy="438912"/>
          </a:xfrm>
          <a:prstGeom prst="rect">
            <a:avLst/>
          </a:prstGeom>
          <a:solidFill>
            <a:srgbClr val="FAFAFB"/>
          </a:solidFill>
          <a:ln/>
        </p:spPr>
        <p:txBody>
          <a:bodyPr/>
          <a:lstStyle/>
          <a:p>
            <a:endParaRPr lang="ja-JP" altLang="en-US"/>
          </a:p>
        </p:txBody>
      </p:sp>
      <p:sp>
        <p:nvSpPr>
          <p:cNvPr id="110" name="s_h_1"/>
          <p:cNvSpPr/>
          <p:nvPr/>
        </p:nvSpPr>
        <p:spPr>
          <a:xfrm>
            <a:off x="1280160" y="2770632"/>
            <a:ext cx="7498080" cy="201168"/>
          </a:xfrm>
          <a:prstGeom prst="rect">
            <a:avLst/>
          </a:prstGeom>
          <a:noFill/>
          <a:ln/>
        </p:spPr>
        <p:txBody>
          <a:bodyPr wrap="square" lIns="0" tIns="0" rIns="0" bIns="0" rtlCol="0"/>
          <a:lstStyle/>
          <a:p>
            <a:pPr marL="0" indent="0">
              <a:buNone/>
            </a:pPr>
            <a:r>
              <a:rPr lang="ja-JP" sz="1050" b="1" dirty="0">
                <a:solidFill>
                  <a:srgbClr val="3A3A42"/>
                </a:solidFill>
                <a:latin typeface="Noto Sans JP"/>
                <a:ea typeface="Noto Sans JP"/>
                <a:cs typeface="Noto Sans JP"/>
              </a:rPr>
              <a:t>キックオフヒアリング</a:t>
            </a:r>
          </a:p>
        </p:txBody>
      </p:sp>
      <p:sp>
        <p:nvSpPr>
          <p:cNvPr id="111" name="s_d_1"/>
          <p:cNvSpPr/>
          <p:nvPr/>
        </p:nvSpPr>
        <p:spPr>
          <a:xfrm>
            <a:off x="1280160" y="2953512"/>
            <a:ext cx="7498080" cy="182880"/>
          </a:xfrm>
          <a:prstGeom prst="rect">
            <a:avLst/>
          </a:prstGeom>
          <a:noFill/>
          <a:ln/>
        </p:spPr>
        <p:txBody>
          <a:bodyPr wrap="square" lIns="0" tIns="0" rIns="0" bIns="0" rtlCol="0"/>
          <a:lstStyle/>
          <a:p>
            <a:pPr marL="0" indent="0">
              <a:buNone/>
            </a:pPr>
            <a:r>
              <a:rPr lang="ja-JP" sz="850" dirty="0">
                <a:solidFill>
                  <a:srgbClr val="5E5C6A"/>
                </a:solidFill>
                <a:latin typeface="Noto Sans JP"/>
                <a:ea typeface="Noto Sans JP"/>
                <a:cs typeface="Noto Sans JP"/>
              </a:rPr>
              <a:t>各支援テーマの現状確認  ／  優先順位付け</a:t>
            </a:r>
          </a:p>
        </p:txBody>
      </p:sp>
      <p:sp>
        <p:nvSpPr>
          <p:cNvPr id="112" name="s_n_bg_2"/>
          <p:cNvSpPr/>
          <p:nvPr/>
        </p:nvSpPr>
        <p:spPr>
          <a:xfrm>
            <a:off x="365760" y="3191256"/>
            <a:ext cx="640080" cy="438912"/>
          </a:xfrm>
          <a:prstGeom prst="rect">
            <a:avLst/>
          </a:prstGeom>
          <a:solidFill>
            <a:srgbClr val="8B7AB8"/>
          </a:solidFill>
          <a:ln/>
        </p:spPr>
        <p:txBody>
          <a:bodyPr/>
          <a:lstStyle/>
          <a:p>
            <a:endParaRPr lang="ja-JP" altLang="en-US"/>
          </a:p>
        </p:txBody>
      </p:sp>
      <p:sp>
        <p:nvSpPr>
          <p:cNvPr id="113" name="s_n_2"/>
          <p:cNvSpPr/>
          <p:nvPr/>
        </p:nvSpPr>
        <p:spPr>
          <a:xfrm>
            <a:off x="365760" y="3191256"/>
            <a:ext cx="640080" cy="438912"/>
          </a:xfrm>
          <a:prstGeom prst="rect">
            <a:avLst/>
          </a:prstGeom>
          <a:noFill/>
          <a:ln/>
        </p:spPr>
        <p:txBody>
          <a:bodyPr wrap="square" lIns="0" tIns="0" rIns="0" bIns="0" rtlCol="0" anchor="ctr"/>
          <a:lstStyle/>
          <a:p>
            <a:pPr marL="0" indent="0" algn="ctr">
              <a:buNone/>
            </a:pPr>
            <a:r>
              <a:rPr lang="ja-JP" sz="1800" b="1" dirty="0">
                <a:solidFill>
                  <a:srgbClr val="FFFFFF"/>
                </a:solidFill>
                <a:latin typeface="Georgia"/>
                <a:ea typeface="Georgia"/>
                <a:cs typeface="Georgia"/>
              </a:rPr>
              <a:t>03</a:t>
            </a:r>
          </a:p>
        </p:txBody>
      </p:sp>
      <p:sp>
        <p:nvSpPr>
          <p:cNvPr id="114" name="s_c_bg_2"/>
          <p:cNvSpPr/>
          <p:nvPr/>
        </p:nvSpPr>
        <p:spPr>
          <a:xfrm>
            <a:off x="1005840" y="3191256"/>
            <a:ext cx="7772400" cy="438912"/>
          </a:xfrm>
          <a:prstGeom prst="rect">
            <a:avLst/>
          </a:prstGeom>
          <a:solidFill>
            <a:srgbClr val="FAFAFB"/>
          </a:solidFill>
          <a:ln/>
        </p:spPr>
        <p:txBody>
          <a:bodyPr/>
          <a:lstStyle/>
          <a:p>
            <a:endParaRPr lang="ja-JP" altLang="en-US"/>
          </a:p>
        </p:txBody>
      </p:sp>
      <p:sp>
        <p:nvSpPr>
          <p:cNvPr id="115" name="s_h_2"/>
          <p:cNvSpPr/>
          <p:nvPr/>
        </p:nvSpPr>
        <p:spPr>
          <a:xfrm>
            <a:off x="1280160" y="3246120"/>
            <a:ext cx="7498080" cy="201168"/>
          </a:xfrm>
          <a:prstGeom prst="rect">
            <a:avLst/>
          </a:prstGeom>
          <a:noFill/>
          <a:ln/>
        </p:spPr>
        <p:txBody>
          <a:bodyPr wrap="square" lIns="0" tIns="0" rIns="0" bIns="0" rtlCol="0"/>
          <a:lstStyle/>
          <a:p>
            <a:pPr marL="0" indent="0">
              <a:buNone/>
            </a:pPr>
            <a:r>
              <a:rPr lang="ja-JP" sz="1050" b="1" dirty="0">
                <a:solidFill>
                  <a:srgbClr val="3A3A42"/>
                </a:solidFill>
                <a:latin typeface="Noto Sans JP"/>
                <a:ea typeface="Noto Sans JP"/>
                <a:cs typeface="Noto Sans JP"/>
              </a:rPr>
              <a:t>詳細提案書のご提示</a:t>
            </a:r>
          </a:p>
        </p:txBody>
      </p:sp>
      <p:sp>
        <p:nvSpPr>
          <p:cNvPr id="116" name="s_d_2"/>
          <p:cNvSpPr/>
          <p:nvPr/>
        </p:nvSpPr>
        <p:spPr>
          <a:xfrm>
            <a:off x="1280160" y="3429000"/>
            <a:ext cx="7498080" cy="182880"/>
          </a:xfrm>
          <a:prstGeom prst="rect">
            <a:avLst/>
          </a:prstGeom>
          <a:noFill/>
          <a:ln/>
        </p:spPr>
        <p:txBody>
          <a:bodyPr wrap="square" lIns="0" tIns="0" rIns="0" bIns="0" rtlCol="0"/>
          <a:lstStyle/>
          <a:p>
            <a:pPr marL="0" indent="0">
              <a:buNone/>
            </a:pPr>
            <a:r>
              <a:rPr lang="ja-JP" sz="850" dirty="0">
                <a:solidFill>
                  <a:srgbClr val="5E5C6A"/>
                </a:solidFill>
                <a:latin typeface="Noto Sans JP"/>
                <a:ea typeface="Noto Sans JP"/>
                <a:cs typeface="Noto Sans JP"/>
              </a:rPr>
              <a:t>スコープ・体制・金額確定版  ／  契約条件の調整</a:t>
            </a:r>
          </a:p>
        </p:txBody>
      </p:sp>
      <p:sp>
        <p:nvSpPr>
          <p:cNvPr id="117" name="s_n_bg_3"/>
          <p:cNvSpPr/>
          <p:nvPr/>
        </p:nvSpPr>
        <p:spPr>
          <a:xfrm>
            <a:off x="365760" y="3666744"/>
            <a:ext cx="640080" cy="438912"/>
          </a:xfrm>
          <a:prstGeom prst="rect">
            <a:avLst/>
          </a:prstGeom>
          <a:solidFill>
            <a:srgbClr val="8B7AB8"/>
          </a:solidFill>
          <a:ln/>
        </p:spPr>
        <p:txBody>
          <a:bodyPr/>
          <a:lstStyle/>
          <a:p>
            <a:endParaRPr lang="ja-JP" altLang="en-US"/>
          </a:p>
        </p:txBody>
      </p:sp>
      <p:sp>
        <p:nvSpPr>
          <p:cNvPr id="118" name="s_n_3"/>
          <p:cNvSpPr/>
          <p:nvPr/>
        </p:nvSpPr>
        <p:spPr>
          <a:xfrm>
            <a:off x="365760" y="3666744"/>
            <a:ext cx="640080" cy="438912"/>
          </a:xfrm>
          <a:prstGeom prst="rect">
            <a:avLst/>
          </a:prstGeom>
          <a:noFill/>
          <a:ln/>
        </p:spPr>
        <p:txBody>
          <a:bodyPr wrap="square" lIns="0" tIns="0" rIns="0" bIns="0" rtlCol="0" anchor="ctr"/>
          <a:lstStyle/>
          <a:p>
            <a:pPr marL="0" indent="0" algn="ctr">
              <a:buNone/>
            </a:pPr>
            <a:r>
              <a:rPr lang="ja-JP" sz="1800" b="1" dirty="0">
                <a:solidFill>
                  <a:srgbClr val="FFFFFF"/>
                </a:solidFill>
                <a:latin typeface="Georgia"/>
                <a:ea typeface="Georgia"/>
                <a:cs typeface="Georgia"/>
              </a:rPr>
              <a:t>04</a:t>
            </a:r>
          </a:p>
        </p:txBody>
      </p:sp>
      <p:sp>
        <p:nvSpPr>
          <p:cNvPr id="119" name="s_c_bg_3"/>
          <p:cNvSpPr/>
          <p:nvPr/>
        </p:nvSpPr>
        <p:spPr>
          <a:xfrm>
            <a:off x="1005840" y="3666744"/>
            <a:ext cx="7772400" cy="438912"/>
          </a:xfrm>
          <a:prstGeom prst="rect">
            <a:avLst/>
          </a:prstGeom>
          <a:solidFill>
            <a:srgbClr val="FAFAFB"/>
          </a:solidFill>
          <a:ln/>
        </p:spPr>
        <p:txBody>
          <a:bodyPr/>
          <a:lstStyle/>
          <a:p>
            <a:endParaRPr lang="ja-JP" altLang="en-US"/>
          </a:p>
        </p:txBody>
      </p:sp>
      <p:sp>
        <p:nvSpPr>
          <p:cNvPr id="120" name="s_h_3"/>
          <p:cNvSpPr/>
          <p:nvPr/>
        </p:nvSpPr>
        <p:spPr>
          <a:xfrm>
            <a:off x="1280160" y="3721608"/>
            <a:ext cx="7498080" cy="201168"/>
          </a:xfrm>
          <a:prstGeom prst="rect">
            <a:avLst/>
          </a:prstGeom>
          <a:noFill/>
          <a:ln/>
        </p:spPr>
        <p:txBody>
          <a:bodyPr wrap="square" lIns="0" tIns="0" rIns="0" bIns="0" rtlCol="0"/>
          <a:lstStyle/>
          <a:p>
            <a:pPr marL="0" indent="0">
              <a:buNone/>
            </a:pPr>
            <a:r>
              <a:rPr lang="ja-JP" sz="1050" b="1" dirty="0">
                <a:solidFill>
                  <a:srgbClr val="3A3A42"/>
                </a:solidFill>
                <a:latin typeface="Noto Sans JP"/>
                <a:ea typeface="Noto Sans JP"/>
                <a:cs typeface="Noto Sans JP"/>
              </a:rPr>
              <a:t>月額顧問契約の締結</a:t>
            </a:r>
          </a:p>
        </p:txBody>
      </p:sp>
      <p:sp>
        <p:nvSpPr>
          <p:cNvPr id="121" name="s_d_3"/>
          <p:cNvSpPr/>
          <p:nvPr/>
        </p:nvSpPr>
        <p:spPr>
          <a:xfrm>
            <a:off x="1280160" y="3904488"/>
            <a:ext cx="7498080" cy="182880"/>
          </a:xfrm>
          <a:prstGeom prst="rect">
            <a:avLst/>
          </a:prstGeom>
          <a:noFill/>
          <a:ln/>
        </p:spPr>
        <p:txBody>
          <a:bodyPr wrap="square" lIns="0" tIns="0" rIns="0" bIns="0" rtlCol="0"/>
          <a:lstStyle/>
          <a:p>
            <a:pPr marL="0" indent="0">
              <a:buNone/>
            </a:pPr>
            <a:r>
              <a:rPr lang="ja-JP" sz="850" dirty="0">
                <a:solidFill>
                  <a:srgbClr val="5E5C6A"/>
                </a:solidFill>
                <a:latin typeface="Noto Sans JP"/>
                <a:ea typeface="Noto Sans JP"/>
                <a:cs typeface="Noto Sans JP"/>
              </a:rPr>
              <a:t>支援開始  ／  初回定例MTGのセッティング</a:t>
            </a:r>
          </a:p>
        </p:txBody>
      </p:sp>
      <p:sp>
        <p:nvSpPr>
          <p:cNvPr id="122" name="s_n_bg_4"/>
          <p:cNvSpPr/>
          <p:nvPr/>
        </p:nvSpPr>
        <p:spPr>
          <a:xfrm>
            <a:off x="365760" y="4142232"/>
            <a:ext cx="640080" cy="438912"/>
          </a:xfrm>
          <a:prstGeom prst="rect">
            <a:avLst/>
          </a:prstGeom>
          <a:solidFill>
            <a:srgbClr val="8B7AB8"/>
          </a:solidFill>
          <a:ln/>
        </p:spPr>
        <p:txBody>
          <a:bodyPr/>
          <a:lstStyle/>
          <a:p>
            <a:endParaRPr lang="ja-JP" altLang="en-US"/>
          </a:p>
        </p:txBody>
      </p:sp>
      <p:sp>
        <p:nvSpPr>
          <p:cNvPr id="123" name="s_n_4"/>
          <p:cNvSpPr/>
          <p:nvPr/>
        </p:nvSpPr>
        <p:spPr>
          <a:xfrm>
            <a:off x="365760" y="4142232"/>
            <a:ext cx="640080" cy="438912"/>
          </a:xfrm>
          <a:prstGeom prst="rect">
            <a:avLst/>
          </a:prstGeom>
          <a:noFill/>
          <a:ln/>
        </p:spPr>
        <p:txBody>
          <a:bodyPr wrap="square" lIns="0" tIns="0" rIns="0" bIns="0" rtlCol="0" anchor="ctr"/>
          <a:lstStyle/>
          <a:p>
            <a:pPr marL="0" indent="0" algn="ctr">
              <a:buNone/>
            </a:pPr>
            <a:r>
              <a:rPr lang="ja-JP" sz="1800" b="1" dirty="0">
                <a:solidFill>
                  <a:srgbClr val="FFFFFF"/>
                </a:solidFill>
                <a:latin typeface="Georgia"/>
                <a:ea typeface="Georgia"/>
                <a:cs typeface="Georgia"/>
              </a:rPr>
              <a:t>05</a:t>
            </a:r>
          </a:p>
        </p:txBody>
      </p:sp>
      <p:sp>
        <p:nvSpPr>
          <p:cNvPr id="124" name="s_c_bg_4"/>
          <p:cNvSpPr/>
          <p:nvPr/>
        </p:nvSpPr>
        <p:spPr>
          <a:xfrm>
            <a:off x="1005840" y="4142232"/>
            <a:ext cx="7772400" cy="438912"/>
          </a:xfrm>
          <a:prstGeom prst="rect">
            <a:avLst/>
          </a:prstGeom>
          <a:solidFill>
            <a:srgbClr val="FAFAFB"/>
          </a:solidFill>
          <a:ln/>
        </p:spPr>
        <p:txBody>
          <a:bodyPr/>
          <a:lstStyle/>
          <a:p>
            <a:endParaRPr lang="ja-JP" altLang="en-US"/>
          </a:p>
        </p:txBody>
      </p:sp>
      <p:sp>
        <p:nvSpPr>
          <p:cNvPr id="125" name="s_h_4"/>
          <p:cNvSpPr/>
          <p:nvPr/>
        </p:nvSpPr>
        <p:spPr>
          <a:xfrm>
            <a:off x="1280160" y="4197096"/>
            <a:ext cx="7498080" cy="201168"/>
          </a:xfrm>
          <a:prstGeom prst="rect">
            <a:avLst/>
          </a:prstGeom>
          <a:noFill/>
          <a:ln/>
        </p:spPr>
        <p:txBody>
          <a:bodyPr wrap="square" lIns="0" tIns="0" rIns="0" bIns="0" rtlCol="0"/>
          <a:lstStyle/>
          <a:p>
            <a:pPr marL="0" indent="0">
              <a:buNone/>
            </a:pPr>
            <a:r>
              <a:rPr lang="ja-JP" sz="1050" b="1" dirty="0">
                <a:solidFill>
                  <a:srgbClr val="3A3A42"/>
                </a:solidFill>
                <a:latin typeface="Noto Sans JP"/>
                <a:ea typeface="Noto Sans JP"/>
                <a:cs typeface="Noto Sans JP"/>
              </a:rPr>
              <a:t>プロジェクト型案件の順次着手</a:t>
            </a:r>
          </a:p>
        </p:txBody>
      </p:sp>
      <p:sp>
        <p:nvSpPr>
          <p:cNvPr id="126" name="s_d_4"/>
          <p:cNvSpPr/>
          <p:nvPr/>
        </p:nvSpPr>
        <p:spPr>
          <a:xfrm>
            <a:off x="1280160" y="4379976"/>
            <a:ext cx="7498080" cy="182880"/>
          </a:xfrm>
          <a:prstGeom prst="rect">
            <a:avLst/>
          </a:prstGeom>
          <a:noFill/>
          <a:ln/>
        </p:spPr>
        <p:txBody>
          <a:bodyPr wrap="square" lIns="0" tIns="0" rIns="0" bIns="0" rtlCol="0"/>
          <a:lstStyle/>
          <a:p>
            <a:pPr marL="0" indent="0">
              <a:buNone/>
            </a:pPr>
            <a:r>
              <a:rPr lang="ja-JP" sz="850" dirty="0">
                <a:solidFill>
                  <a:srgbClr val="5E5C6A"/>
                </a:solidFill>
                <a:latin typeface="Noto Sans JP"/>
                <a:ea typeface="Noto Sans JP"/>
                <a:cs typeface="Noto Sans JP"/>
              </a:rPr>
              <a:t>月額顧問開始後のタイミング調整で順次スタート</a:t>
            </a:r>
          </a:p>
        </p:txBody>
      </p:sp>
      <p:sp>
        <p:nvSpPr>
          <p:cNvPr id="127" name="note"/>
          <p:cNvSpPr/>
          <p:nvPr/>
        </p:nvSpPr>
        <p:spPr>
          <a:xfrm>
            <a:off x="365760" y="4709160"/>
            <a:ext cx="8412480" cy="274320"/>
          </a:xfrm>
          <a:prstGeom prst="rect">
            <a:avLst/>
          </a:prstGeom>
          <a:noFill/>
          <a:ln/>
        </p:spPr>
        <p:txBody>
          <a:bodyPr wrap="square" lIns="0" tIns="0" rIns="0" bIns="0" rtlCol="0"/>
          <a:lstStyle/>
          <a:p>
            <a:pPr marL="0" indent="0">
              <a:buNone/>
            </a:pPr>
            <a:r>
              <a:rPr lang="ja-JP" sz="900" i="1" dirty="0">
                <a:solidFill>
                  <a:srgbClr val="8B7AB8"/>
                </a:solidFill>
                <a:latin typeface="Noto Sans JP"/>
                <a:ea typeface="Noto Sans JP"/>
                <a:cs typeface="Noto Sans JP"/>
              </a:rPr>
              <a:t>— ご質問・論点のご指摘はいつでもお気軽にお申し付けください。</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marL="0" indent="0">
              <a:buNone/>
            </a:pPr>
            <a:r>
              <a:rPr lang="en-US" sz="800" kern="0" spc="200" dirty="0">
                <a:solidFill>
                  <a:srgbClr val="9B98A6"/>
                </a:solidFill>
                <a:latin typeface="Consolas" pitchFamily="34" charset="0"/>
                <a:ea typeface="Consolas" pitchFamily="34" charset="-122"/>
                <a:cs typeface="Consolas" pitchFamily="34" charset="-120"/>
              </a:rPr>
              <a:t>COMPANY PROFILE</a:t>
            </a:r>
            <a:endParaRPr lang="en-US" sz="800" dirty="0"/>
          </a:p>
        </p:txBody>
      </p:sp>
      <p:sp>
        <p:nvSpPr>
          <p:cNvPr id="3" name="Shape 1"/>
          <p:cNvSpPr/>
          <p:nvPr/>
        </p:nvSpPr>
        <p:spPr>
          <a:xfrm>
            <a:off x="228600" y="320040"/>
            <a:ext cx="64008" cy="64008"/>
          </a:xfrm>
          <a:prstGeom prst="ellipse">
            <a:avLst/>
          </a:prstGeom>
          <a:solidFill>
            <a:srgbClr val="8B7AB8"/>
          </a:solidFill>
          <a:ln/>
        </p:spPr>
        <p:txBody>
          <a:bodyPr/>
          <a:lstStyle/>
          <a:p>
            <a:endParaRPr lang="ja-JP" altLang="en-US"/>
          </a:p>
        </p:txBody>
      </p:sp>
      <p:pic>
        <p:nvPicPr>
          <p:cNvPr id="4" name="Image 0" descr="logo-horizontal.png"/>
          <p:cNvPicPr>
            <a:picLocks noChangeAspect="1"/>
          </p:cNvPicPr>
          <p:nvPr/>
        </p:nvPicPr>
        <p:blipFill>
          <a:blip r:embed="rId3"/>
          <a:stretch>
            <a:fillRect/>
          </a:stretch>
        </p:blipFill>
        <p:spPr>
          <a:xfrm>
            <a:off x="6492240" y="274320"/>
            <a:ext cx="2286000" cy="603504"/>
          </a:xfrm>
          <a:prstGeom prst="rect">
            <a:avLst/>
          </a:prstGeom>
        </p:spPr>
      </p:pic>
      <p:sp>
        <p:nvSpPr>
          <p:cNvPr id="5" name="Text 2"/>
          <p:cNvSpPr/>
          <p:nvPr/>
        </p:nvSpPr>
        <p:spPr>
          <a:xfrm>
            <a:off x="365760" y="914400"/>
            <a:ext cx="3657600" cy="320040"/>
          </a:xfrm>
          <a:prstGeom prst="rect">
            <a:avLst/>
          </a:prstGeom>
          <a:noFill/>
          <a:ln/>
        </p:spPr>
        <p:txBody>
          <a:bodyPr wrap="square" lIns="0" tIns="0" rIns="0" bIns="0" rtlCol="0" anchor="ctr"/>
          <a:lstStyle/>
          <a:p>
            <a:pPr marL="0" indent="0">
              <a:buNone/>
            </a:pPr>
            <a:r>
              <a:rPr lang="en-US" sz="1100" kern="0" spc="300" dirty="0">
                <a:solidFill>
                  <a:srgbClr val="8B7AB8"/>
                </a:solidFill>
                <a:latin typeface="Consolas" pitchFamily="34" charset="0"/>
                <a:ea typeface="Consolas" pitchFamily="34" charset="-122"/>
                <a:cs typeface="Consolas" pitchFamily="34" charset="-120"/>
              </a:rPr>
              <a:t>Company</a:t>
            </a:r>
            <a:endParaRPr lang="en-US" sz="1100" dirty="0"/>
          </a:p>
        </p:txBody>
      </p:sp>
      <p:sp>
        <p:nvSpPr>
          <p:cNvPr id="6" name="Text 3"/>
          <p:cNvSpPr/>
          <p:nvPr/>
        </p:nvSpPr>
        <p:spPr>
          <a:xfrm>
            <a:off x="365760" y="1188720"/>
            <a:ext cx="3657600" cy="822960"/>
          </a:xfrm>
          <a:prstGeom prst="rect">
            <a:avLst/>
          </a:prstGeom>
          <a:noFill/>
          <a:ln/>
        </p:spPr>
        <p:txBody>
          <a:bodyPr wrap="square" lIns="0" tIns="0" rIns="0" bIns="0" rtlCol="0" anchor="ctr"/>
          <a:lstStyle/>
          <a:p>
            <a:pPr marL="0" indent="0">
              <a:buNone/>
            </a:pPr>
            <a:r>
              <a:rPr lang="en-US" sz="3800" b="1" dirty="0">
                <a:solidFill>
                  <a:srgbClr val="3A3A42"/>
                </a:solidFill>
                <a:latin typeface="Noto Sans JP" pitchFamily="34" charset="0"/>
                <a:ea typeface="Noto Sans JP" pitchFamily="34" charset="-122"/>
                <a:cs typeface="Noto Sans JP" pitchFamily="34" charset="-120"/>
              </a:rPr>
              <a:t>会社概要</a:t>
            </a:r>
            <a:endParaRPr lang="en-US" sz="3800" dirty="0"/>
          </a:p>
        </p:txBody>
      </p:sp>
      <p:pic>
        <p:nvPicPr>
          <p:cNvPr id="7" name="Image 1" descr="logo-vertical.png"/>
          <p:cNvPicPr>
            <a:picLocks noChangeAspect="1"/>
          </p:cNvPicPr>
          <p:nvPr/>
        </p:nvPicPr>
        <p:blipFill>
          <a:blip r:embed="rId4"/>
          <a:stretch>
            <a:fillRect/>
          </a:stretch>
        </p:blipFill>
        <p:spPr>
          <a:xfrm>
            <a:off x="457200" y="2468880"/>
            <a:ext cx="2194560" cy="2194560"/>
          </a:xfrm>
          <a:prstGeom prst="rect">
            <a:avLst/>
          </a:prstGeom>
        </p:spPr>
      </p:pic>
      <p:sp>
        <p:nvSpPr>
          <p:cNvPr id="8" name="Text 4"/>
          <p:cNvSpPr/>
          <p:nvPr/>
        </p:nvSpPr>
        <p:spPr>
          <a:xfrm>
            <a:off x="3520440" y="1078992"/>
            <a:ext cx="320040" cy="182880"/>
          </a:xfrm>
          <a:prstGeom prst="rect">
            <a:avLst/>
          </a:prstGeom>
          <a:noFill/>
          <a:ln/>
        </p:spPr>
        <p:txBody>
          <a:bodyPr wrap="square" lIns="0" tIns="0" rIns="0" bIns="0" rtlCol="0" anchor="ctr"/>
          <a:lstStyle/>
          <a:p>
            <a:pPr marL="0" indent="0">
              <a:buNone/>
            </a:pPr>
            <a:r>
              <a:rPr lang="en-US" sz="800" dirty="0">
                <a:solidFill>
                  <a:srgbClr val="8B7AB8"/>
                </a:solidFill>
                <a:latin typeface="Consolas" pitchFamily="34" charset="0"/>
                <a:ea typeface="Consolas" pitchFamily="34" charset="-122"/>
                <a:cs typeface="Consolas" pitchFamily="34" charset="-120"/>
              </a:rPr>
              <a:t>01</a:t>
            </a:r>
            <a:endParaRPr lang="en-US" sz="800" dirty="0"/>
          </a:p>
        </p:txBody>
      </p:sp>
      <p:sp>
        <p:nvSpPr>
          <p:cNvPr id="9" name="Text 5"/>
          <p:cNvSpPr/>
          <p:nvPr/>
        </p:nvSpPr>
        <p:spPr>
          <a:xfrm>
            <a:off x="3520440" y="1280160"/>
            <a:ext cx="1188720" cy="182880"/>
          </a:xfrm>
          <a:prstGeom prst="rect">
            <a:avLst/>
          </a:prstGeom>
          <a:noFill/>
          <a:ln/>
        </p:spPr>
        <p:txBody>
          <a:bodyPr wrap="square" lIns="0" tIns="0" rIns="0" bIns="0" rtlCol="0" anchor="ctr"/>
          <a:lstStyle/>
          <a:p>
            <a:pPr marL="0" indent="0">
              <a:buNone/>
            </a:pPr>
            <a:r>
              <a:rPr lang="en-US" sz="700" kern="0" spc="200" dirty="0">
                <a:solidFill>
                  <a:srgbClr val="9B98A6"/>
                </a:solidFill>
                <a:latin typeface="Consolas" pitchFamily="34" charset="0"/>
                <a:ea typeface="Consolas" pitchFamily="34" charset="-122"/>
                <a:cs typeface="Consolas" pitchFamily="34" charset="-120"/>
              </a:rPr>
              <a:t>COMPANY</a:t>
            </a:r>
            <a:endParaRPr lang="en-US" sz="700" dirty="0"/>
          </a:p>
        </p:txBody>
      </p:sp>
      <p:sp>
        <p:nvSpPr>
          <p:cNvPr id="10" name="Text 6"/>
          <p:cNvSpPr/>
          <p:nvPr/>
        </p:nvSpPr>
        <p:spPr>
          <a:xfrm>
            <a:off x="3931920" y="1078992"/>
            <a:ext cx="1188720" cy="228600"/>
          </a:xfrm>
          <a:prstGeom prst="rect">
            <a:avLst/>
          </a:prstGeom>
          <a:noFill/>
          <a:ln/>
        </p:spPr>
        <p:txBody>
          <a:bodyPr wrap="square" lIns="0" tIns="0" rIns="0" bIns="0" rtlCol="0" anchor="ctr"/>
          <a:lstStyle/>
          <a:p>
            <a:pPr marL="0" indent="0">
              <a:buNone/>
            </a:pPr>
            <a:r>
              <a:rPr lang="en-US" sz="1000" b="1" dirty="0">
                <a:solidFill>
                  <a:srgbClr val="3A3A42"/>
                </a:solidFill>
                <a:latin typeface="Noto Sans JP" pitchFamily="34" charset="0"/>
                <a:ea typeface="Noto Sans JP" pitchFamily="34" charset="-122"/>
                <a:cs typeface="Noto Sans JP" pitchFamily="34" charset="-120"/>
              </a:rPr>
              <a:t>商号</a:t>
            </a:r>
            <a:endParaRPr lang="en-US" sz="1000" dirty="0"/>
          </a:p>
        </p:txBody>
      </p:sp>
      <p:sp>
        <p:nvSpPr>
          <p:cNvPr id="11" name="Text 7"/>
          <p:cNvSpPr/>
          <p:nvPr/>
        </p:nvSpPr>
        <p:spPr>
          <a:xfrm>
            <a:off x="5166360" y="1078992"/>
            <a:ext cx="3657600" cy="457200"/>
          </a:xfrm>
          <a:prstGeom prst="rect">
            <a:avLst/>
          </a:prstGeom>
          <a:noFill/>
          <a:ln/>
        </p:spPr>
        <p:txBody>
          <a:bodyPr wrap="square" lIns="0" tIns="0" rIns="0" bIns="0" rtlCol="0" anchor="ctr"/>
          <a:lstStyle/>
          <a:p>
            <a:pPr marL="0" indent="0">
              <a:buNone/>
            </a:pPr>
            <a:r>
              <a:rPr lang="en-US" sz="1050" dirty="0">
                <a:solidFill>
                  <a:srgbClr val="3A3A42"/>
                </a:solidFill>
                <a:latin typeface="Noto Sans JP" pitchFamily="34" charset="0"/>
                <a:ea typeface="Noto Sans JP" pitchFamily="34" charset="-122"/>
                <a:cs typeface="Noto Sans JP" pitchFamily="34" charset="-120"/>
              </a:rPr>
              <a:t>DXデザインシステム株式会社</a:t>
            </a:r>
            <a:endParaRPr lang="en-US" sz="1050" dirty="0"/>
          </a:p>
        </p:txBody>
      </p:sp>
      <p:sp>
        <p:nvSpPr>
          <p:cNvPr id="12" name="Shape 8"/>
          <p:cNvSpPr/>
          <p:nvPr/>
        </p:nvSpPr>
        <p:spPr>
          <a:xfrm>
            <a:off x="3520440" y="1554480"/>
            <a:ext cx="5257800" cy="0"/>
          </a:xfrm>
          <a:prstGeom prst="line">
            <a:avLst/>
          </a:prstGeom>
          <a:noFill/>
          <a:ln w="6350">
            <a:solidFill>
              <a:srgbClr val="F2F0F5"/>
            </a:solidFill>
            <a:prstDash val="solid"/>
          </a:ln>
        </p:spPr>
        <p:txBody>
          <a:bodyPr/>
          <a:lstStyle/>
          <a:p>
            <a:endParaRPr lang="ja-JP" altLang="en-US"/>
          </a:p>
        </p:txBody>
      </p:sp>
      <p:sp>
        <p:nvSpPr>
          <p:cNvPr id="13" name="Text 9"/>
          <p:cNvSpPr/>
          <p:nvPr/>
        </p:nvSpPr>
        <p:spPr>
          <a:xfrm>
            <a:off x="3520440" y="1655064"/>
            <a:ext cx="320040" cy="182880"/>
          </a:xfrm>
          <a:prstGeom prst="rect">
            <a:avLst/>
          </a:prstGeom>
          <a:noFill/>
          <a:ln/>
        </p:spPr>
        <p:txBody>
          <a:bodyPr wrap="square" lIns="0" tIns="0" rIns="0" bIns="0" rtlCol="0" anchor="ctr"/>
          <a:lstStyle/>
          <a:p>
            <a:pPr marL="0" indent="0">
              <a:buNone/>
            </a:pPr>
            <a:r>
              <a:rPr lang="en-US" sz="800" dirty="0">
                <a:solidFill>
                  <a:srgbClr val="8B7AB8"/>
                </a:solidFill>
                <a:latin typeface="Consolas" pitchFamily="34" charset="0"/>
                <a:ea typeface="Consolas" pitchFamily="34" charset="-122"/>
                <a:cs typeface="Consolas" pitchFamily="34" charset="-120"/>
              </a:rPr>
              <a:t>02</a:t>
            </a:r>
            <a:endParaRPr lang="en-US" sz="800" dirty="0"/>
          </a:p>
        </p:txBody>
      </p:sp>
      <p:sp>
        <p:nvSpPr>
          <p:cNvPr id="14" name="Text 10"/>
          <p:cNvSpPr/>
          <p:nvPr/>
        </p:nvSpPr>
        <p:spPr>
          <a:xfrm>
            <a:off x="3520440" y="1856232"/>
            <a:ext cx="1188720" cy="182880"/>
          </a:xfrm>
          <a:prstGeom prst="rect">
            <a:avLst/>
          </a:prstGeom>
          <a:noFill/>
          <a:ln/>
        </p:spPr>
        <p:txBody>
          <a:bodyPr wrap="square" lIns="0" tIns="0" rIns="0" bIns="0" rtlCol="0" anchor="ctr"/>
          <a:lstStyle/>
          <a:p>
            <a:pPr marL="0" indent="0">
              <a:buNone/>
            </a:pPr>
            <a:r>
              <a:rPr lang="en-US" sz="700" kern="0" spc="200" dirty="0">
                <a:solidFill>
                  <a:srgbClr val="9B98A6"/>
                </a:solidFill>
                <a:latin typeface="Consolas" pitchFamily="34" charset="0"/>
                <a:ea typeface="Consolas" pitchFamily="34" charset="-122"/>
                <a:cs typeface="Consolas" pitchFamily="34" charset="-120"/>
              </a:rPr>
              <a:t>REPRESENTATIVE</a:t>
            </a:r>
            <a:endParaRPr lang="en-US" sz="700" dirty="0"/>
          </a:p>
        </p:txBody>
      </p:sp>
      <p:sp>
        <p:nvSpPr>
          <p:cNvPr id="15" name="Text 11"/>
          <p:cNvSpPr/>
          <p:nvPr/>
        </p:nvSpPr>
        <p:spPr>
          <a:xfrm>
            <a:off x="3931920" y="1655064"/>
            <a:ext cx="1188720" cy="228600"/>
          </a:xfrm>
          <a:prstGeom prst="rect">
            <a:avLst/>
          </a:prstGeom>
          <a:noFill/>
          <a:ln/>
        </p:spPr>
        <p:txBody>
          <a:bodyPr wrap="square" lIns="0" tIns="0" rIns="0" bIns="0" rtlCol="0" anchor="ctr"/>
          <a:lstStyle/>
          <a:p>
            <a:pPr marL="0" indent="0">
              <a:buNone/>
            </a:pPr>
            <a:r>
              <a:rPr lang="en-US" sz="1000" b="1" dirty="0">
                <a:solidFill>
                  <a:srgbClr val="3A3A42"/>
                </a:solidFill>
                <a:latin typeface="Noto Sans JP" pitchFamily="34" charset="0"/>
                <a:ea typeface="Noto Sans JP" pitchFamily="34" charset="-122"/>
                <a:cs typeface="Noto Sans JP" pitchFamily="34" charset="-120"/>
              </a:rPr>
              <a:t>代表者</a:t>
            </a:r>
            <a:endParaRPr lang="en-US" sz="1000" dirty="0"/>
          </a:p>
        </p:txBody>
      </p:sp>
      <p:sp>
        <p:nvSpPr>
          <p:cNvPr id="16" name="Text 12"/>
          <p:cNvSpPr/>
          <p:nvPr/>
        </p:nvSpPr>
        <p:spPr>
          <a:xfrm>
            <a:off x="5166360" y="1655064"/>
            <a:ext cx="3657600" cy="457200"/>
          </a:xfrm>
          <a:prstGeom prst="rect">
            <a:avLst/>
          </a:prstGeom>
          <a:noFill/>
          <a:ln/>
        </p:spPr>
        <p:txBody>
          <a:bodyPr wrap="square" lIns="0" tIns="0" rIns="0" bIns="0" rtlCol="0" anchor="ctr"/>
          <a:lstStyle/>
          <a:p>
            <a:pPr marL="0" indent="0">
              <a:buNone/>
            </a:pPr>
            <a:r>
              <a:rPr lang="en-US" sz="1050" dirty="0">
                <a:solidFill>
                  <a:srgbClr val="3A3A42"/>
                </a:solidFill>
                <a:latin typeface="Noto Sans JP" pitchFamily="34" charset="0"/>
                <a:ea typeface="Noto Sans JP" pitchFamily="34" charset="-122"/>
                <a:cs typeface="Noto Sans JP" pitchFamily="34" charset="-120"/>
              </a:rPr>
              <a:t>代表取締役　佐々木 拓</a:t>
            </a:r>
            <a:endParaRPr lang="en-US" sz="1050" dirty="0"/>
          </a:p>
        </p:txBody>
      </p:sp>
      <p:sp>
        <p:nvSpPr>
          <p:cNvPr id="17" name="Shape 13"/>
          <p:cNvSpPr/>
          <p:nvPr/>
        </p:nvSpPr>
        <p:spPr>
          <a:xfrm>
            <a:off x="3520440" y="2130552"/>
            <a:ext cx="5257800" cy="0"/>
          </a:xfrm>
          <a:prstGeom prst="line">
            <a:avLst/>
          </a:prstGeom>
          <a:noFill/>
          <a:ln w="6350">
            <a:solidFill>
              <a:srgbClr val="F2F0F5"/>
            </a:solidFill>
            <a:prstDash val="solid"/>
          </a:ln>
        </p:spPr>
        <p:txBody>
          <a:bodyPr/>
          <a:lstStyle/>
          <a:p>
            <a:endParaRPr lang="ja-JP" altLang="en-US"/>
          </a:p>
        </p:txBody>
      </p:sp>
      <p:sp>
        <p:nvSpPr>
          <p:cNvPr id="18" name="Text 14"/>
          <p:cNvSpPr/>
          <p:nvPr/>
        </p:nvSpPr>
        <p:spPr>
          <a:xfrm>
            <a:off x="3520440" y="2231136"/>
            <a:ext cx="320040" cy="182880"/>
          </a:xfrm>
          <a:prstGeom prst="rect">
            <a:avLst/>
          </a:prstGeom>
          <a:noFill/>
          <a:ln/>
        </p:spPr>
        <p:txBody>
          <a:bodyPr wrap="square" lIns="0" tIns="0" rIns="0" bIns="0" rtlCol="0" anchor="ctr"/>
          <a:lstStyle/>
          <a:p>
            <a:pPr marL="0" indent="0">
              <a:buNone/>
            </a:pPr>
            <a:r>
              <a:rPr lang="en-US" sz="800" dirty="0">
                <a:solidFill>
                  <a:srgbClr val="8B7AB8"/>
                </a:solidFill>
                <a:latin typeface="Consolas" pitchFamily="34" charset="0"/>
                <a:ea typeface="Consolas" pitchFamily="34" charset="-122"/>
                <a:cs typeface="Consolas" pitchFamily="34" charset="-120"/>
              </a:rPr>
              <a:t>03</a:t>
            </a:r>
            <a:endParaRPr lang="en-US" sz="800" dirty="0"/>
          </a:p>
        </p:txBody>
      </p:sp>
      <p:sp>
        <p:nvSpPr>
          <p:cNvPr id="19" name="Text 15"/>
          <p:cNvSpPr/>
          <p:nvPr/>
        </p:nvSpPr>
        <p:spPr>
          <a:xfrm>
            <a:off x="3520440" y="2432304"/>
            <a:ext cx="1188720" cy="182880"/>
          </a:xfrm>
          <a:prstGeom prst="rect">
            <a:avLst/>
          </a:prstGeom>
          <a:noFill/>
          <a:ln/>
        </p:spPr>
        <p:txBody>
          <a:bodyPr wrap="square" lIns="0" tIns="0" rIns="0" bIns="0" rtlCol="0" anchor="ctr"/>
          <a:lstStyle/>
          <a:p>
            <a:pPr marL="0" indent="0">
              <a:buNone/>
            </a:pPr>
            <a:r>
              <a:rPr lang="en-US" sz="700" kern="0" spc="200" dirty="0">
                <a:solidFill>
                  <a:srgbClr val="9B98A6"/>
                </a:solidFill>
                <a:latin typeface="Consolas" pitchFamily="34" charset="0"/>
                <a:ea typeface="Consolas" pitchFamily="34" charset="-122"/>
                <a:cs typeface="Consolas" pitchFamily="34" charset="-120"/>
              </a:rPr>
              <a:t>ADDRESS</a:t>
            </a:r>
            <a:endParaRPr lang="en-US" sz="700" dirty="0"/>
          </a:p>
        </p:txBody>
      </p:sp>
      <p:sp>
        <p:nvSpPr>
          <p:cNvPr id="20" name="Text 16"/>
          <p:cNvSpPr/>
          <p:nvPr/>
        </p:nvSpPr>
        <p:spPr>
          <a:xfrm>
            <a:off x="3931920" y="2231136"/>
            <a:ext cx="1188720" cy="228600"/>
          </a:xfrm>
          <a:prstGeom prst="rect">
            <a:avLst/>
          </a:prstGeom>
          <a:noFill/>
          <a:ln/>
        </p:spPr>
        <p:txBody>
          <a:bodyPr wrap="square" lIns="0" tIns="0" rIns="0" bIns="0" rtlCol="0" anchor="ctr"/>
          <a:lstStyle/>
          <a:p>
            <a:pPr marL="0" indent="0">
              <a:buNone/>
            </a:pPr>
            <a:r>
              <a:rPr lang="en-US" sz="1000" b="1" dirty="0">
                <a:solidFill>
                  <a:srgbClr val="3A3A42"/>
                </a:solidFill>
                <a:latin typeface="Noto Sans JP" pitchFamily="34" charset="0"/>
                <a:ea typeface="Noto Sans JP" pitchFamily="34" charset="-122"/>
                <a:cs typeface="Noto Sans JP" pitchFamily="34" charset="-120"/>
              </a:rPr>
              <a:t>所在地</a:t>
            </a:r>
            <a:endParaRPr lang="en-US" sz="1000" dirty="0"/>
          </a:p>
        </p:txBody>
      </p:sp>
      <p:sp>
        <p:nvSpPr>
          <p:cNvPr id="21" name="Text 17"/>
          <p:cNvSpPr/>
          <p:nvPr/>
        </p:nvSpPr>
        <p:spPr>
          <a:xfrm>
            <a:off x="5166360" y="2231136"/>
            <a:ext cx="3657600" cy="457200"/>
          </a:xfrm>
          <a:prstGeom prst="rect">
            <a:avLst/>
          </a:prstGeom>
          <a:noFill/>
          <a:ln/>
        </p:spPr>
        <p:txBody>
          <a:bodyPr wrap="square" lIns="0" tIns="0" rIns="0" bIns="0" rtlCol="0" anchor="ctr"/>
          <a:lstStyle/>
          <a:p>
            <a:pPr marL="0" indent="0">
              <a:buNone/>
            </a:pPr>
            <a:r>
              <a:rPr lang="en-US" sz="1050" dirty="0">
                <a:solidFill>
                  <a:srgbClr val="3A3A42"/>
                </a:solidFill>
                <a:latin typeface="Noto Sans JP" pitchFamily="34" charset="0"/>
                <a:ea typeface="Noto Sans JP" pitchFamily="34" charset="-122"/>
                <a:cs typeface="Noto Sans JP" pitchFamily="34" charset="-120"/>
              </a:rPr>
              <a:t>〒101-0051  東京都千代田区神田神保町2-48  3510ビル202</a:t>
            </a:r>
            <a:endParaRPr lang="en-US" sz="1050" dirty="0"/>
          </a:p>
        </p:txBody>
      </p:sp>
      <p:sp>
        <p:nvSpPr>
          <p:cNvPr id="22" name="Shape 18"/>
          <p:cNvSpPr/>
          <p:nvPr/>
        </p:nvSpPr>
        <p:spPr>
          <a:xfrm>
            <a:off x="3520440" y="2706624"/>
            <a:ext cx="5257800" cy="0"/>
          </a:xfrm>
          <a:prstGeom prst="line">
            <a:avLst/>
          </a:prstGeom>
          <a:noFill/>
          <a:ln w="6350">
            <a:solidFill>
              <a:srgbClr val="F2F0F5"/>
            </a:solidFill>
            <a:prstDash val="solid"/>
          </a:ln>
        </p:spPr>
        <p:txBody>
          <a:bodyPr/>
          <a:lstStyle/>
          <a:p>
            <a:endParaRPr lang="ja-JP" altLang="en-US"/>
          </a:p>
        </p:txBody>
      </p:sp>
      <p:sp>
        <p:nvSpPr>
          <p:cNvPr id="23" name="Text 19"/>
          <p:cNvSpPr/>
          <p:nvPr/>
        </p:nvSpPr>
        <p:spPr>
          <a:xfrm>
            <a:off x="3520440" y="2807208"/>
            <a:ext cx="320040" cy="182880"/>
          </a:xfrm>
          <a:prstGeom prst="rect">
            <a:avLst/>
          </a:prstGeom>
          <a:noFill/>
          <a:ln/>
        </p:spPr>
        <p:txBody>
          <a:bodyPr wrap="square" lIns="0" tIns="0" rIns="0" bIns="0" rtlCol="0" anchor="ctr"/>
          <a:lstStyle/>
          <a:p>
            <a:pPr marL="0" indent="0">
              <a:buNone/>
            </a:pPr>
            <a:r>
              <a:rPr lang="en-US" sz="800" dirty="0">
                <a:solidFill>
                  <a:srgbClr val="8B7AB8"/>
                </a:solidFill>
                <a:latin typeface="Consolas" pitchFamily="34" charset="0"/>
                <a:ea typeface="Consolas" pitchFamily="34" charset="-122"/>
                <a:cs typeface="Consolas" pitchFamily="34" charset="-120"/>
              </a:rPr>
              <a:t>04</a:t>
            </a:r>
            <a:endParaRPr lang="en-US" sz="800" dirty="0"/>
          </a:p>
        </p:txBody>
      </p:sp>
      <p:sp>
        <p:nvSpPr>
          <p:cNvPr id="24" name="Text 20"/>
          <p:cNvSpPr/>
          <p:nvPr/>
        </p:nvSpPr>
        <p:spPr>
          <a:xfrm>
            <a:off x="3520440" y="3008376"/>
            <a:ext cx="1188720" cy="182880"/>
          </a:xfrm>
          <a:prstGeom prst="rect">
            <a:avLst/>
          </a:prstGeom>
          <a:noFill/>
          <a:ln/>
        </p:spPr>
        <p:txBody>
          <a:bodyPr wrap="square" lIns="0" tIns="0" rIns="0" bIns="0" rtlCol="0" anchor="ctr"/>
          <a:lstStyle/>
          <a:p>
            <a:pPr marL="0" indent="0">
              <a:buNone/>
            </a:pPr>
            <a:r>
              <a:rPr lang="en-US" sz="700" kern="0" spc="200" dirty="0">
                <a:solidFill>
                  <a:srgbClr val="9B98A6"/>
                </a:solidFill>
                <a:latin typeface="Consolas" pitchFamily="34" charset="0"/>
                <a:ea typeface="Consolas" pitchFamily="34" charset="-122"/>
                <a:cs typeface="Consolas" pitchFamily="34" charset="-120"/>
              </a:rPr>
              <a:t>FOUNDED</a:t>
            </a:r>
            <a:endParaRPr lang="en-US" sz="700" dirty="0"/>
          </a:p>
        </p:txBody>
      </p:sp>
      <p:sp>
        <p:nvSpPr>
          <p:cNvPr id="25" name="Text 21"/>
          <p:cNvSpPr/>
          <p:nvPr/>
        </p:nvSpPr>
        <p:spPr>
          <a:xfrm>
            <a:off x="3931920" y="2807208"/>
            <a:ext cx="1188720" cy="228600"/>
          </a:xfrm>
          <a:prstGeom prst="rect">
            <a:avLst/>
          </a:prstGeom>
          <a:noFill/>
          <a:ln/>
        </p:spPr>
        <p:txBody>
          <a:bodyPr wrap="square" lIns="0" tIns="0" rIns="0" bIns="0" rtlCol="0" anchor="ctr"/>
          <a:lstStyle/>
          <a:p>
            <a:pPr marL="0" indent="0">
              <a:buNone/>
            </a:pPr>
            <a:r>
              <a:rPr lang="en-US" sz="1000" b="1" dirty="0">
                <a:solidFill>
                  <a:srgbClr val="3A3A42"/>
                </a:solidFill>
                <a:latin typeface="Noto Sans JP" pitchFamily="34" charset="0"/>
                <a:ea typeface="Noto Sans JP" pitchFamily="34" charset="-122"/>
                <a:cs typeface="Noto Sans JP" pitchFamily="34" charset="-120"/>
              </a:rPr>
              <a:t>設立</a:t>
            </a:r>
            <a:endParaRPr lang="en-US" sz="1000" dirty="0"/>
          </a:p>
        </p:txBody>
      </p:sp>
      <p:sp>
        <p:nvSpPr>
          <p:cNvPr id="26" name="Text 22"/>
          <p:cNvSpPr/>
          <p:nvPr/>
        </p:nvSpPr>
        <p:spPr>
          <a:xfrm>
            <a:off x="5166360" y="2807208"/>
            <a:ext cx="3657600" cy="457200"/>
          </a:xfrm>
          <a:prstGeom prst="rect">
            <a:avLst/>
          </a:prstGeom>
          <a:noFill/>
          <a:ln/>
        </p:spPr>
        <p:txBody>
          <a:bodyPr wrap="square" lIns="0" tIns="0" rIns="0" bIns="0" rtlCol="0" anchor="ctr"/>
          <a:lstStyle/>
          <a:p>
            <a:pPr marL="0" indent="0">
              <a:buNone/>
            </a:pPr>
            <a:r>
              <a:rPr lang="en-US" sz="1050" dirty="0">
                <a:solidFill>
                  <a:srgbClr val="3A3A42"/>
                </a:solidFill>
                <a:latin typeface="Noto Sans JP" pitchFamily="34" charset="0"/>
                <a:ea typeface="Noto Sans JP" pitchFamily="34" charset="-122"/>
                <a:cs typeface="Noto Sans JP" pitchFamily="34" charset="-120"/>
              </a:rPr>
              <a:t>2024年10月</a:t>
            </a:r>
            <a:endParaRPr lang="en-US" sz="1050" dirty="0"/>
          </a:p>
        </p:txBody>
      </p:sp>
      <p:sp>
        <p:nvSpPr>
          <p:cNvPr id="27" name="Shape 23"/>
          <p:cNvSpPr/>
          <p:nvPr/>
        </p:nvSpPr>
        <p:spPr>
          <a:xfrm>
            <a:off x="3520440" y="3282696"/>
            <a:ext cx="5257800" cy="0"/>
          </a:xfrm>
          <a:prstGeom prst="line">
            <a:avLst/>
          </a:prstGeom>
          <a:noFill/>
          <a:ln w="6350">
            <a:solidFill>
              <a:srgbClr val="F2F0F5"/>
            </a:solidFill>
            <a:prstDash val="solid"/>
          </a:ln>
        </p:spPr>
        <p:txBody>
          <a:bodyPr/>
          <a:lstStyle/>
          <a:p>
            <a:endParaRPr lang="ja-JP" altLang="en-US"/>
          </a:p>
        </p:txBody>
      </p:sp>
      <p:sp>
        <p:nvSpPr>
          <p:cNvPr id="28" name="Text 24"/>
          <p:cNvSpPr/>
          <p:nvPr/>
        </p:nvSpPr>
        <p:spPr>
          <a:xfrm>
            <a:off x="3520440" y="3383280"/>
            <a:ext cx="320040" cy="182880"/>
          </a:xfrm>
          <a:prstGeom prst="rect">
            <a:avLst/>
          </a:prstGeom>
          <a:noFill/>
          <a:ln/>
        </p:spPr>
        <p:txBody>
          <a:bodyPr wrap="square" lIns="0" tIns="0" rIns="0" bIns="0" rtlCol="0" anchor="ctr"/>
          <a:lstStyle/>
          <a:p>
            <a:pPr marL="0" indent="0">
              <a:buNone/>
            </a:pPr>
            <a:r>
              <a:rPr lang="en-US" sz="800" dirty="0">
                <a:solidFill>
                  <a:srgbClr val="8B7AB8"/>
                </a:solidFill>
                <a:latin typeface="Consolas" pitchFamily="34" charset="0"/>
                <a:ea typeface="Consolas" pitchFamily="34" charset="-122"/>
                <a:cs typeface="Consolas" pitchFamily="34" charset="-120"/>
              </a:rPr>
              <a:t>05</a:t>
            </a:r>
            <a:endParaRPr lang="en-US" sz="800" dirty="0"/>
          </a:p>
        </p:txBody>
      </p:sp>
      <p:sp>
        <p:nvSpPr>
          <p:cNvPr id="29" name="Text 25"/>
          <p:cNvSpPr/>
          <p:nvPr/>
        </p:nvSpPr>
        <p:spPr>
          <a:xfrm>
            <a:off x="3520440" y="3584448"/>
            <a:ext cx="1188720" cy="182880"/>
          </a:xfrm>
          <a:prstGeom prst="rect">
            <a:avLst/>
          </a:prstGeom>
          <a:noFill/>
          <a:ln/>
        </p:spPr>
        <p:txBody>
          <a:bodyPr wrap="square" lIns="0" tIns="0" rIns="0" bIns="0" rtlCol="0" anchor="ctr"/>
          <a:lstStyle/>
          <a:p>
            <a:pPr marL="0" indent="0">
              <a:buNone/>
            </a:pPr>
            <a:r>
              <a:rPr lang="en-US" sz="700" kern="0" spc="200" dirty="0">
                <a:solidFill>
                  <a:srgbClr val="9B98A6"/>
                </a:solidFill>
                <a:latin typeface="Consolas" pitchFamily="34" charset="0"/>
                <a:ea typeface="Consolas" pitchFamily="34" charset="-122"/>
                <a:cs typeface="Consolas" pitchFamily="34" charset="-120"/>
              </a:rPr>
              <a:t>SERVICES</a:t>
            </a:r>
            <a:endParaRPr lang="en-US" sz="700" dirty="0"/>
          </a:p>
        </p:txBody>
      </p:sp>
      <p:sp>
        <p:nvSpPr>
          <p:cNvPr id="30" name="Text 26"/>
          <p:cNvSpPr/>
          <p:nvPr/>
        </p:nvSpPr>
        <p:spPr>
          <a:xfrm>
            <a:off x="3931920" y="3383280"/>
            <a:ext cx="1188720" cy="228600"/>
          </a:xfrm>
          <a:prstGeom prst="rect">
            <a:avLst/>
          </a:prstGeom>
          <a:noFill/>
          <a:ln/>
        </p:spPr>
        <p:txBody>
          <a:bodyPr wrap="square" lIns="0" tIns="0" rIns="0" bIns="0" rtlCol="0" anchor="ctr"/>
          <a:lstStyle/>
          <a:p>
            <a:pPr marL="0" indent="0">
              <a:buNone/>
            </a:pPr>
            <a:r>
              <a:rPr lang="en-US" sz="1000" b="1" dirty="0">
                <a:solidFill>
                  <a:srgbClr val="3A3A42"/>
                </a:solidFill>
                <a:latin typeface="Noto Sans JP" pitchFamily="34" charset="0"/>
                <a:ea typeface="Noto Sans JP" pitchFamily="34" charset="-122"/>
                <a:cs typeface="Noto Sans JP" pitchFamily="34" charset="-120"/>
              </a:rPr>
              <a:t>事業内容</a:t>
            </a:r>
            <a:endParaRPr lang="en-US" sz="1000" dirty="0"/>
          </a:p>
        </p:txBody>
      </p:sp>
      <p:sp>
        <p:nvSpPr>
          <p:cNvPr id="31" name="Text 27"/>
          <p:cNvSpPr/>
          <p:nvPr/>
        </p:nvSpPr>
        <p:spPr>
          <a:xfrm>
            <a:off x="5166360" y="3383280"/>
            <a:ext cx="3657600" cy="457200"/>
          </a:xfrm>
          <a:prstGeom prst="rect">
            <a:avLst/>
          </a:prstGeom>
          <a:noFill/>
          <a:ln/>
        </p:spPr>
        <p:txBody>
          <a:bodyPr wrap="square" lIns="0" tIns="0" rIns="0" bIns="0" rtlCol="0" anchor="ctr"/>
          <a:lstStyle/>
          <a:p>
            <a:pPr marL="0" indent="0">
              <a:buNone/>
            </a:pPr>
            <a:r>
              <a:rPr lang="en-US" sz="1050" dirty="0">
                <a:solidFill>
                  <a:srgbClr val="3A3A42"/>
                </a:solidFill>
                <a:latin typeface="Noto Sans JP" pitchFamily="34" charset="0"/>
                <a:ea typeface="Noto Sans JP" pitchFamily="34" charset="-122"/>
                <a:cs typeface="Noto Sans JP" pitchFamily="34" charset="-120"/>
              </a:rPr>
              <a:t>DXコンサルティング／AI教育・人材育成／社内ツール開発</a:t>
            </a:r>
            <a:endParaRPr lang="en-US" sz="1050" dirty="0"/>
          </a:p>
        </p:txBody>
      </p:sp>
      <p:sp>
        <p:nvSpPr>
          <p:cNvPr id="32" name="Shape 28"/>
          <p:cNvSpPr/>
          <p:nvPr/>
        </p:nvSpPr>
        <p:spPr>
          <a:xfrm>
            <a:off x="3520440" y="3858768"/>
            <a:ext cx="5257800" cy="0"/>
          </a:xfrm>
          <a:prstGeom prst="line">
            <a:avLst/>
          </a:prstGeom>
          <a:noFill/>
          <a:ln w="6350">
            <a:solidFill>
              <a:srgbClr val="F2F0F5"/>
            </a:solidFill>
            <a:prstDash val="solid"/>
          </a:ln>
        </p:spPr>
        <p:txBody>
          <a:bodyPr/>
          <a:lstStyle/>
          <a:p>
            <a:endParaRPr lang="ja-JP" altLang="en-US"/>
          </a:p>
        </p:txBody>
      </p:sp>
      <p:sp>
        <p:nvSpPr>
          <p:cNvPr id="33" name="Text 29"/>
          <p:cNvSpPr/>
          <p:nvPr/>
        </p:nvSpPr>
        <p:spPr>
          <a:xfrm>
            <a:off x="3520440" y="3959352"/>
            <a:ext cx="320040" cy="182880"/>
          </a:xfrm>
          <a:prstGeom prst="rect">
            <a:avLst/>
          </a:prstGeom>
          <a:noFill/>
          <a:ln/>
        </p:spPr>
        <p:txBody>
          <a:bodyPr wrap="square" lIns="0" tIns="0" rIns="0" bIns="0" rtlCol="0" anchor="ctr"/>
          <a:lstStyle/>
          <a:p>
            <a:pPr marL="0" indent="0">
              <a:buNone/>
            </a:pPr>
            <a:r>
              <a:rPr lang="en-US" sz="800" dirty="0">
                <a:solidFill>
                  <a:srgbClr val="8B7AB8"/>
                </a:solidFill>
                <a:latin typeface="Consolas" pitchFamily="34" charset="0"/>
                <a:ea typeface="Consolas" pitchFamily="34" charset="-122"/>
                <a:cs typeface="Consolas" pitchFamily="34" charset="-120"/>
              </a:rPr>
              <a:t>06</a:t>
            </a:r>
            <a:endParaRPr lang="en-US" sz="800" dirty="0"/>
          </a:p>
        </p:txBody>
      </p:sp>
      <p:sp>
        <p:nvSpPr>
          <p:cNvPr id="34" name="Text 30"/>
          <p:cNvSpPr/>
          <p:nvPr/>
        </p:nvSpPr>
        <p:spPr>
          <a:xfrm>
            <a:off x="3520440" y="4160520"/>
            <a:ext cx="1188720" cy="182880"/>
          </a:xfrm>
          <a:prstGeom prst="rect">
            <a:avLst/>
          </a:prstGeom>
          <a:noFill/>
          <a:ln/>
        </p:spPr>
        <p:txBody>
          <a:bodyPr wrap="square" lIns="0" tIns="0" rIns="0" bIns="0" rtlCol="0" anchor="ctr"/>
          <a:lstStyle/>
          <a:p>
            <a:pPr marL="0" indent="0">
              <a:buNone/>
            </a:pPr>
            <a:r>
              <a:rPr lang="en-US" sz="700" kern="0" spc="200" dirty="0">
                <a:solidFill>
                  <a:srgbClr val="9B98A6"/>
                </a:solidFill>
                <a:latin typeface="Consolas" pitchFamily="34" charset="0"/>
                <a:ea typeface="Consolas" pitchFamily="34" charset="-122"/>
                <a:cs typeface="Consolas" pitchFamily="34" charset="-120"/>
              </a:rPr>
              <a:t>URL</a:t>
            </a:r>
            <a:endParaRPr lang="en-US" sz="700" dirty="0"/>
          </a:p>
        </p:txBody>
      </p:sp>
      <p:sp>
        <p:nvSpPr>
          <p:cNvPr id="35" name="Text 31"/>
          <p:cNvSpPr/>
          <p:nvPr/>
        </p:nvSpPr>
        <p:spPr>
          <a:xfrm>
            <a:off x="3931920" y="3959352"/>
            <a:ext cx="1188720" cy="228600"/>
          </a:xfrm>
          <a:prstGeom prst="rect">
            <a:avLst/>
          </a:prstGeom>
          <a:noFill/>
          <a:ln/>
        </p:spPr>
        <p:txBody>
          <a:bodyPr wrap="square" lIns="0" tIns="0" rIns="0" bIns="0" rtlCol="0" anchor="ctr"/>
          <a:lstStyle/>
          <a:p>
            <a:pPr marL="0" indent="0">
              <a:buNone/>
            </a:pPr>
            <a:r>
              <a:rPr lang="en-US" sz="1000" b="1" dirty="0">
                <a:solidFill>
                  <a:srgbClr val="3A3A42"/>
                </a:solidFill>
                <a:latin typeface="Noto Sans JP" pitchFamily="34" charset="0"/>
                <a:ea typeface="Noto Sans JP" pitchFamily="34" charset="-122"/>
                <a:cs typeface="Noto Sans JP" pitchFamily="34" charset="-120"/>
              </a:rPr>
              <a:t>Webサイト</a:t>
            </a:r>
            <a:endParaRPr lang="en-US" sz="1000" dirty="0"/>
          </a:p>
        </p:txBody>
      </p:sp>
      <p:sp>
        <p:nvSpPr>
          <p:cNvPr id="36" name="Text 32"/>
          <p:cNvSpPr/>
          <p:nvPr/>
        </p:nvSpPr>
        <p:spPr>
          <a:xfrm>
            <a:off x="5166360" y="3959352"/>
            <a:ext cx="3657600" cy="457200"/>
          </a:xfrm>
          <a:prstGeom prst="rect">
            <a:avLst/>
          </a:prstGeom>
          <a:noFill/>
          <a:ln/>
        </p:spPr>
        <p:txBody>
          <a:bodyPr wrap="square" lIns="0" tIns="0" rIns="0" bIns="0" rtlCol="0" anchor="ctr"/>
          <a:lstStyle/>
          <a:p>
            <a:pPr marL="0" indent="0">
              <a:buNone/>
            </a:pPr>
            <a:r>
              <a:rPr lang="en-US" sz="1050" dirty="0">
                <a:solidFill>
                  <a:srgbClr val="3A3A42"/>
                </a:solidFill>
                <a:latin typeface="Noto Sans JP" pitchFamily="34" charset="0"/>
                <a:ea typeface="Noto Sans JP" pitchFamily="34" charset="-122"/>
                <a:cs typeface="Noto Sans JP" pitchFamily="34" charset="-120"/>
              </a:rPr>
              <a:t>https://sys.dx-design.co.jp/</a:t>
            </a:r>
            <a:endParaRPr lang="en-US" sz="1050" dirty="0"/>
          </a:p>
        </p:txBody>
      </p:sp>
      <p:sp>
        <p:nvSpPr>
          <p:cNvPr id="37" name="Text 33"/>
          <p:cNvSpPr/>
          <p:nvPr/>
        </p:nvSpPr>
        <p:spPr>
          <a:xfrm>
            <a:off x="7955280" y="4846320"/>
            <a:ext cx="914400" cy="182880"/>
          </a:xfrm>
          <a:prstGeom prst="rect">
            <a:avLst/>
          </a:prstGeom>
          <a:noFill/>
          <a:ln/>
        </p:spPr>
        <p:txBody>
          <a:bodyPr wrap="square" lIns="0" tIns="0" rIns="0" bIns="0" rtlCol="0" anchor="ctr"/>
          <a:lstStyle/>
          <a:p>
            <a:pPr marL="0" indent="0" algn="r">
              <a:buNone/>
            </a:pPr>
            <a:r>
              <a:rPr lang="en-US" sz="800" dirty="0">
                <a:solidFill>
                  <a:srgbClr val="9B98A6"/>
                </a:solidFill>
                <a:latin typeface="Consolas" pitchFamily="34" charset="0"/>
                <a:ea typeface="Consolas" pitchFamily="34" charset="-122"/>
                <a:cs typeface="Consolas" pitchFamily="34" charset="-120"/>
              </a:rPr>
              <a:t>17 / 18</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56032"/>
            <a:ext cx="4572000" cy="182880"/>
          </a:xfrm>
          <a:prstGeom prst="rect">
            <a:avLst/>
          </a:prstGeom>
          <a:noFill/>
          <a:ln/>
        </p:spPr>
        <p:txBody>
          <a:bodyPr wrap="square" lIns="0" tIns="0" rIns="0" bIns="0" rtlCol="0" anchor="ctr"/>
          <a:lstStyle/>
          <a:p>
            <a:pPr marL="0" indent="0">
              <a:buNone/>
            </a:pPr>
            <a:r>
              <a:rPr lang="en-US" sz="800" kern="0" spc="200" dirty="0">
                <a:solidFill>
                  <a:srgbClr val="9B98A6"/>
                </a:solidFill>
                <a:latin typeface="Consolas" pitchFamily="34" charset="0"/>
                <a:ea typeface="Consolas" pitchFamily="34" charset="-122"/>
                <a:cs typeface="Consolas" pitchFamily="34" charset="-120"/>
              </a:rPr>
              <a:t>DISCLAIMER</a:t>
            </a:r>
            <a:endParaRPr lang="en-US" sz="800" dirty="0"/>
          </a:p>
        </p:txBody>
      </p:sp>
      <p:sp>
        <p:nvSpPr>
          <p:cNvPr id="3" name="Shape 1"/>
          <p:cNvSpPr/>
          <p:nvPr/>
        </p:nvSpPr>
        <p:spPr>
          <a:xfrm>
            <a:off x="228600" y="320040"/>
            <a:ext cx="64008" cy="64008"/>
          </a:xfrm>
          <a:prstGeom prst="ellipse">
            <a:avLst/>
          </a:prstGeom>
          <a:solidFill>
            <a:srgbClr val="8B7AB8"/>
          </a:solidFill>
          <a:ln/>
        </p:spPr>
        <p:txBody>
          <a:bodyPr/>
          <a:lstStyle/>
          <a:p>
            <a:endParaRPr lang="ja-JP" altLang="en-US"/>
          </a:p>
        </p:txBody>
      </p:sp>
      <p:pic>
        <p:nvPicPr>
          <p:cNvPr id="4" name="Image 0" descr="logo-horizontal.png"/>
          <p:cNvPicPr>
            <a:picLocks noChangeAspect="1"/>
          </p:cNvPicPr>
          <p:nvPr/>
        </p:nvPicPr>
        <p:blipFill>
          <a:blip r:embed="rId3"/>
          <a:stretch>
            <a:fillRect/>
          </a:stretch>
        </p:blipFill>
        <p:spPr>
          <a:xfrm>
            <a:off x="6492240" y="274320"/>
            <a:ext cx="2286000" cy="603504"/>
          </a:xfrm>
          <a:prstGeom prst="rect">
            <a:avLst/>
          </a:prstGeom>
        </p:spPr>
      </p:pic>
      <p:sp>
        <p:nvSpPr>
          <p:cNvPr id="5" name="Text 2"/>
          <p:cNvSpPr/>
          <p:nvPr/>
        </p:nvSpPr>
        <p:spPr>
          <a:xfrm>
            <a:off x="365760" y="914400"/>
            <a:ext cx="3657600" cy="274320"/>
          </a:xfrm>
          <a:prstGeom prst="rect">
            <a:avLst/>
          </a:prstGeom>
          <a:noFill/>
          <a:ln/>
        </p:spPr>
        <p:txBody>
          <a:bodyPr wrap="square" lIns="0" tIns="0" rIns="0" bIns="0" rtlCol="0" anchor="ctr"/>
          <a:lstStyle/>
          <a:p>
            <a:pPr marL="0" indent="0">
              <a:buNone/>
            </a:pPr>
            <a:r>
              <a:rPr lang="en-US" sz="1000" kern="0" spc="300" dirty="0">
                <a:solidFill>
                  <a:srgbClr val="8B7AB8"/>
                </a:solidFill>
                <a:latin typeface="Consolas" pitchFamily="34" charset="0"/>
                <a:ea typeface="Consolas" pitchFamily="34" charset="-122"/>
                <a:cs typeface="Consolas" pitchFamily="34" charset="-120"/>
              </a:rPr>
              <a:t>Disclaimer</a:t>
            </a:r>
            <a:endParaRPr lang="en-US" sz="1000" dirty="0"/>
          </a:p>
        </p:txBody>
      </p:sp>
      <p:sp>
        <p:nvSpPr>
          <p:cNvPr id="6" name="Text 3"/>
          <p:cNvSpPr/>
          <p:nvPr/>
        </p:nvSpPr>
        <p:spPr>
          <a:xfrm>
            <a:off x="365760" y="1188720"/>
            <a:ext cx="4572000" cy="822960"/>
          </a:xfrm>
          <a:prstGeom prst="rect">
            <a:avLst/>
          </a:prstGeom>
          <a:noFill/>
          <a:ln/>
        </p:spPr>
        <p:txBody>
          <a:bodyPr wrap="square" lIns="0" tIns="0" rIns="0" bIns="0" rtlCol="0" anchor="ctr"/>
          <a:lstStyle/>
          <a:p>
            <a:pPr marL="0" indent="0">
              <a:buNone/>
            </a:pPr>
            <a:r>
              <a:rPr lang="en-US" sz="3800" b="1" dirty="0">
                <a:solidFill>
                  <a:srgbClr val="3A3A42"/>
                </a:solidFill>
                <a:latin typeface="Noto Sans JP" pitchFamily="34" charset="0"/>
                <a:ea typeface="Noto Sans JP" pitchFamily="34" charset="-122"/>
                <a:cs typeface="Noto Sans JP" pitchFamily="34" charset="-120"/>
              </a:rPr>
              <a:t>免責事項</a:t>
            </a:r>
            <a:endParaRPr lang="en-US" sz="3800" dirty="0"/>
          </a:p>
        </p:txBody>
      </p:sp>
      <p:sp>
        <p:nvSpPr>
          <p:cNvPr id="7" name="Text 4"/>
          <p:cNvSpPr/>
          <p:nvPr/>
        </p:nvSpPr>
        <p:spPr>
          <a:xfrm>
            <a:off x="365760" y="2423160"/>
            <a:ext cx="731520" cy="228600"/>
          </a:xfrm>
          <a:prstGeom prst="rect">
            <a:avLst/>
          </a:prstGeom>
          <a:noFill/>
          <a:ln/>
        </p:spPr>
        <p:txBody>
          <a:bodyPr wrap="square" lIns="0" tIns="0" rIns="0" bIns="0" rtlCol="0" anchor="ctr"/>
          <a:lstStyle/>
          <a:p>
            <a:pPr marL="0" indent="0">
              <a:buNone/>
            </a:pPr>
            <a:r>
              <a:rPr lang="en-US" sz="1000" b="1" dirty="0">
                <a:solidFill>
                  <a:srgbClr val="8B7AB8"/>
                </a:solidFill>
                <a:latin typeface="Consolas" pitchFamily="34" charset="0"/>
                <a:ea typeface="Consolas" pitchFamily="34" charset="-122"/>
                <a:cs typeface="Consolas" pitchFamily="34" charset="-120"/>
              </a:rPr>
              <a:t>§1</a:t>
            </a:r>
            <a:endParaRPr lang="en-US" sz="1000" dirty="0"/>
          </a:p>
        </p:txBody>
      </p:sp>
      <p:sp>
        <p:nvSpPr>
          <p:cNvPr id="8" name="Text 5"/>
          <p:cNvSpPr/>
          <p:nvPr/>
        </p:nvSpPr>
        <p:spPr>
          <a:xfrm>
            <a:off x="365760" y="2697480"/>
            <a:ext cx="2743200" cy="274320"/>
          </a:xfrm>
          <a:prstGeom prst="rect">
            <a:avLst/>
          </a:prstGeom>
          <a:noFill/>
          <a:ln/>
        </p:spPr>
        <p:txBody>
          <a:bodyPr wrap="square" lIns="0" tIns="0" rIns="0" bIns="0" rtlCol="0" anchor="ctr"/>
          <a:lstStyle/>
          <a:p>
            <a:pPr marL="0" indent="0">
              <a:buNone/>
            </a:pPr>
            <a:r>
              <a:rPr lang="en-US" sz="1200" b="1" dirty="0">
                <a:solidFill>
                  <a:srgbClr val="3A3A42"/>
                </a:solidFill>
                <a:latin typeface="Noto Sans JP" pitchFamily="34" charset="0"/>
                <a:ea typeface="Noto Sans JP" pitchFamily="34" charset="-122"/>
                <a:cs typeface="Noto Sans JP" pitchFamily="34" charset="-120"/>
              </a:rPr>
              <a:t>本資料について</a:t>
            </a:r>
            <a:endParaRPr lang="en-US" sz="1200" dirty="0"/>
          </a:p>
        </p:txBody>
      </p:sp>
      <p:sp>
        <p:nvSpPr>
          <p:cNvPr id="9" name="Text 6"/>
          <p:cNvSpPr/>
          <p:nvPr/>
        </p:nvSpPr>
        <p:spPr>
          <a:xfrm>
            <a:off x="365760" y="3063240"/>
            <a:ext cx="2743200" cy="1554480"/>
          </a:xfrm>
          <a:prstGeom prst="rect">
            <a:avLst/>
          </a:prstGeom>
          <a:noFill/>
          <a:ln/>
        </p:spPr>
        <p:txBody>
          <a:bodyPr wrap="square" lIns="0" tIns="0" rIns="0" bIns="0" rtlCol="0" anchor="ctr"/>
          <a:lstStyle/>
          <a:p>
            <a:pPr marL="0" indent="0">
              <a:spcAft>
                <a:spcPts val="200"/>
              </a:spcAft>
              <a:buNone/>
            </a:pPr>
            <a:r>
              <a:rPr lang="en-US" sz="900" dirty="0">
                <a:solidFill>
                  <a:srgbClr val="5E5C6A"/>
                </a:solidFill>
                <a:latin typeface="Noto Sans JP" pitchFamily="34" charset="0"/>
                <a:ea typeface="Noto Sans JP" pitchFamily="34" charset="-122"/>
                <a:cs typeface="Noto Sans JP" pitchFamily="34" charset="-120"/>
              </a:rPr>
              <a:t>本資料は、DXデザインシステム株式会社（以下「当社」）が情報提供を目的として作成したものです。記載内容は作成時点のものであり、将来予告なく変更される場合があります。</a:t>
            </a:r>
            <a:endParaRPr lang="en-US" sz="900" dirty="0"/>
          </a:p>
        </p:txBody>
      </p:sp>
      <p:sp>
        <p:nvSpPr>
          <p:cNvPr id="10" name="Text 7"/>
          <p:cNvSpPr/>
          <p:nvPr/>
        </p:nvSpPr>
        <p:spPr>
          <a:xfrm>
            <a:off x="3246120" y="2423160"/>
            <a:ext cx="731520" cy="228600"/>
          </a:xfrm>
          <a:prstGeom prst="rect">
            <a:avLst/>
          </a:prstGeom>
          <a:noFill/>
          <a:ln/>
        </p:spPr>
        <p:txBody>
          <a:bodyPr wrap="square" lIns="0" tIns="0" rIns="0" bIns="0" rtlCol="0" anchor="ctr"/>
          <a:lstStyle/>
          <a:p>
            <a:pPr marL="0" indent="0">
              <a:buNone/>
            </a:pPr>
            <a:r>
              <a:rPr lang="en-US" sz="1000" b="1" dirty="0">
                <a:solidFill>
                  <a:srgbClr val="8B7AB8"/>
                </a:solidFill>
                <a:latin typeface="Consolas" pitchFamily="34" charset="0"/>
                <a:ea typeface="Consolas" pitchFamily="34" charset="-122"/>
                <a:cs typeface="Consolas" pitchFamily="34" charset="-120"/>
              </a:rPr>
              <a:t>§2</a:t>
            </a:r>
            <a:endParaRPr lang="en-US" sz="1000" dirty="0"/>
          </a:p>
        </p:txBody>
      </p:sp>
      <p:sp>
        <p:nvSpPr>
          <p:cNvPr id="11" name="Text 8"/>
          <p:cNvSpPr/>
          <p:nvPr/>
        </p:nvSpPr>
        <p:spPr>
          <a:xfrm>
            <a:off x="3246120" y="2697480"/>
            <a:ext cx="2743200" cy="274320"/>
          </a:xfrm>
          <a:prstGeom prst="rect">
            <a:avLst/>
          </a:prstGeom>
          <a:noFill/>
          <a:ln/>
        </p:spPr>
        <p:txBody>
          <a:bodyPr wrap="square" lIns="0" tIns="0" rIns="0" bIns="0" rtlCol="0" anchor="ctr"/>
          <a:lstStyle/>
          <a:p>
            <a:pPr marL="0" indent="0">
              <a:buNone/>
            </a:pPr>
            <a:r>
              <a:rPr lang="en-US" sz="1200" b="1" dirty="0">
                <a:solidFill>
                  <a:srgbClr val="3A3A42"/>
                </a:solidFill>
                <a:latin typeface="Noto Sans JP" pitchFamily="34" charset="0"/>
                <a:ea typeface="Noto Sans JP" pitchFamily="34" charset="-122"/>
                <a:cs typeface="Noto Sans JP" pitchFamily="34" charset="-120"/>
              </a:rPr>
              <a:t>情報の正確性</a:t>
            </a:r>
            <a:endParaRPr lang="en-US" sz="1200" dirty="0"/>
          </a:p>
        </p:txBody>
      </p:sp>
      <p:sp>
        <p:nvSpPr>
          <p:cNvPr id="12" name="Text 9"/>
          <p:cNvSpPr/>
          <p:nvPr/>
        </p:nvSpPr>
        <p:spPr>
          <a:xfrm>
            <a:off x="3246120" y="3063240"/>
            <a:ext cx="2743200" cy="1554480"/>
          </a:xfrm>
          <a:prstGeom prst="rect">
            <a:avLst/>
          </a:prstGeom>
          <a:noFill/>
          <a:ln/>
        </p:spPr>
        <p:txBody>
          <a:bodyPr wrap="square" lIns="0" tIns="0" rIns="0" bIns="0" rtlCol="0" anchor="ctr"/>
          <a:lstStyle/>
          <a:p>
            <a:pPr marL="0" indent="0">
              <a:spcAft>
                <a:spcPts val="200"/>
              </a:spcAft>
              <a:buNone/>
            </a:pPr>
            <a:r>
              <a:rPr lang="en-US" sz="900" dirty="0">
                <a:solidFill>
                  <a:srgbClr val="5E5C6A"/>
                </a:solidFill>
                <a:latin typeface="Noto Sans JP" pitchFamily="34" charset="0"/>
                <a:ea typeface="Noto Sans JP" pitchFamily="34" charset="-122"/>
                <a:cs typeface="Noto Sans JP" pitchFamily="34" charset="-120"/>
              </a:rPr>
              <a:t>本資料に含まれる情報の正確性・完全性について当社は最善を尽くしておりますが、これらを保証するものではありません。本資料の利用により生じたいかなる損害についても、当社は責任を負いかねます。</a:t>
            </a:r>
            <a:endParaRPr lang="en-US" sz="900" dirty="0"/>
          </a:p>
        </p:txBody>
      </p:sp>
      <p:sp>
        <p:nvSpPr>
          <p:cNvPr id="13" name="Text 10"/>
          <p:cNvSpPr/>
          <p:nvPr/>
        </p:nvSpPr>
        <p:spPr>
          <a:xfrm>
            <a:off x="6126480" y="2423160"/>
            <a:ext cx="731520" cy="228600"/>
          </a:xfrm>
          <a:prstGeom prst="rect">
            <a:avLst/>
          </a:prstGeom>
          <a:noFill/>
          <a:ln/>
        </p:spPr>
        <p:txBody>
          <a:bodyPr wrap="square" lIns="0" tIns="0" rIns="0" bIns="0" rtlCol="0" anchor="ctr"/>
          <a:lstStyle/>
          <a:p>
            <a:pPr marL="0" indent="0">
              <a:buNone/>
            </a:pPr>
            <a:r>
              <a:rPr lang="en-US" sz="1000" b="1" dirty="0">
                <a:solidFill>
                  <a:srgbClr val="8B7AB8"/>
                </a:solidFill>
                <a:latin typeface="Consolas" pitchFamily="34" charset="0"/>
                <a:ea typeface="Consolas" pitchFamily="34" charset="-122"/>
                <a:cs typeface="Consolas" pitchFamily="34" charset="-120"/>
              </a:rPr>
              <a:t>§3</a:t>
            </a:r>
            <a:endParaRPr lang="en-US" sz="1000" dirty="0"/>
          </a:p>
        </p:txBody>
      </p:sp>
      <p:sp>
        <p:nvSpPr>
          <p:cNvPr id="14" name="Text 11"/>
          <p:cNvSpPr/>
          <p:nvPr/>
        </p:nvSpPr>
        <p:spPr>
          <a:xfrm>
            <a:off x="6126480" y="2697480"/>
            <a:ext cx="2743200" cy="274320"/>
          </a:xfrm>
          <a:prstGeom prst="rect">
            <a:avLst/>
          </a:prstGeom>
          <a:noFill/>
          <a:ln/>
        </p:spPr>
        <p:txBody>
          <a:bodyPr wrap="square" lIns="0" tIns="0" rIns="0" bIns="0" rtlCol="0" anchor="ctr"/>
          <a:lstStyle/>
          <a:p>
            <a:pPr marL="0" indent="0">
              <a:buNone/>
            </a:pPr>
            <a:r>
              <a:rPr lang="en-US" sz="1200" b="1" dirty="0">
                <a:solidFill>
                  <a:srgbClr val="3A3A42"/>
                </a:solidFill>
                <a:latin typeface="Noto Sans JP" pitchFamily="34" charset="0"/>
                <a:ea typeface="Noto Sans JP" pitchFamily="34" charset="-122"/>
                <a:cs typeface="Noto Sans JP" pitchFamily="34" charset="-120"/>
              </a:rPr>
              <a:t>著作権</a:t>
            </a:r>
            <a:endParaRPr lang="en-US" sz="1200" dirty="0"/>
          </a:p>
        </p:txBody>
      </p:sp>
      <p:sp>
        <p:nvSpPr>
          <p:cNvPr id="15" name="Text 12"/>
          <p:cNvSpPr/>
          <p:nvPr/>
        </p:nvSpPr>
        <p:spPr>
          <a:xfrm>
            <a:off x="6126480" y="3063240"/>
            <a:ext cx="2743200" cy="1554480"/>
          </a:xfrm>
          <a:prstGeom prst="rect">
            <a:avLst/>
          </a:prstGeom>
          <a:noFill/>
          <a:ln/>
        </p:spPr>
        <p:txBody>
          <a:bodyPr wrap="square" lIns="0" tIns="0" rIns="0" bIns="0" rtlCol="0" anchor="ctr"/>
          <a:lstStyle/>
          <a:p>
            <a:pPr marL="0" indent="0">
              <a:spcAft>
                <a:spcPts val="200"/>
              </a:spcAft>
              <a:buNone/>
            </a:pPr>
            <a:r>
              <a:rPr lang="en-US" sz="900" dirty="0">
                <a:solidFill>
                  <a:srgbClr val="5E5C6A"/>
                </a:solidFill>
                <a:latin typeface="Noto Sans JP" pitchFamily="34" charset="0"/>
                <a:ea typeface="Noto Sans JP" pitchFamily="34" charset="-122"/>
                <a:cs typeface="Noto Sans JP" pitchFamily="34" charset="-120"/>
              </a:rPr>
              <a:t>本資料の著作権は当社に帰属します。当社の書面による事前の同意なく、本資料の全部または一部を複製・転載・配布することを禁じます。</a:t>
            </a:r>
            <a:endParaRPr lang="en-US" sz="900" dirty="0"/>
          </a:p>
        </p:txBody>
      </p:sp>
      <p:sp>
        <p:nvSpPr>
          <p:cNvPr id="16" name="Text 13"/>
          <p:cNvSpPr/>
          <p:nvPr/>
        </p:nvSpPr>
        <p:spPr>
          <a:xfrm>
            <a:off x="365760" y="4617720"/>
            <a:ext cx="8412480" cy="228600"/>
          </a:xfrm>
          <a:prstGeom prst="rect">
            <a:avLst/>
          </a:prstGeom>
          <a:noFill/>
          <a:ln/>
        </p:spPr>
        <p:txBody>
          <a:bodyPr wrap="square" lIns="0" tIns="0" rIns="0" bIns="0" rtlCol="0" anchor="ctr"/>
          <a:lstStyle/>
          <a:p>
            <a:pPr marL="0" indent="0" algn="r">
              <a:buNone/>
            </a:pPr>
            <a:r>
              <a:rPr lang="en-US" sz="900" dirty="0">
                <a:solidFill>
                  <a:srgbClr val="9B98A6"/>
                </a:solidFill>
                <a:latin typeface="Consolas" pitchFamily="34" charset="0"/>
                <a:ea typeface="Consolas" pitchFamily="34" charset="-122"/>
                <a:cs typeface="Consolas" pitchFamily="34" charset="-120"/>
              </a:rPr>
              <a:t>contact ／ info@sys.dx-design.co.jp/</a:t>
            </a:r>
            <a:endParaRPr lang="en-US" sz="900" dirty="0"/>
          </a:p>
        </p:txBody>
      </p:sp>
      <p:sp>
        <p:nvSpPr>
          <p:cNvPr id="17" name="Text 14"/>
          <p:cNvSpPr/>
          <p:nvPr/>
        </p:nvSpPr>
        <p:spPr>
          <a:xfrm>
            <a:off x="7955280" y="4846320"/>
            <a:ext cx="914400" cy="182880"/>
          </a:xfrm>
          <a:prstGeom prst="rect">
            <a:avLst/>
          </a:prstGeom>
          <a:noFill/>
          <a:ln/>
        </p:spPr>
        <p:txBody>
          <a:bodyPr wrap="square" lIns="0" tIns="0" rIns="0" bIns="0" rtlCol="0" anchor="ctr"/>
          <a:lstStyle/>
          <a:p>
            <a:pPr marL="0" indent="0" algn="r">
              <a:buNone/>
            </a:pPr>
            <a:r>
              <a:rPr lang="en-US" sz="800" dirty="0">
                <a:solidFill>
                  <a:srgbClr val="9B98A6"/>
                </a:solidFill>
                <a:latin typeface="Consolas" pitchFamily="34" charset="0"/>
                <a:ea typeface="Consolas" pitchFamily="34" charset="-122"/>
                <a:cs typeface="Consolas" pitchFamily="34" charset="-120"/>
              </a:rPr>
              <a:t>18 / 18</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670</TotalTime>
  <Words>1555</Words>
  <Application>Microsoft Office PowerPoint</Application>
  <PresentationFormat>画面に合わせる (16:9)</PresentationFormat>
  <Paragraphs>364</Paragraphs>
  <Slides>18</Slides>
  <Notes>6</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18</vt:i4>
      </vt:variant>
    </vt:vector>
  </HeadingPairs>
  <TitlesOfParts>
    <vt:vector size="23" baseType="lpstr">
      <vt:lpstr>Noto Sans JP</vt:lpstr>
      <vt:lpstr>Arial</vt:lpstr>
      <vt:lpstr>Consolas</vt:lpstr>
      <vt:lpstr>Georgia</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DXデザインシステム株式会社</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DX Design System — Presentation Template</dc:title>
  <dc:subject>PptxGenJS Presentation</dc:subject>
  <dc:creator>DXデザインシステム株式会社</dc:creator>
  <cp:lastModifiedBy>佐々木 拓</cp:lastModifiedBy>
  <cp:revision>5</cp:revision>
  <dcterms:created xsi:type="dcterms:W3CDTF">2026-04-17T14:44:11Z</dcterms:created>
  <dcterms:modified xsi:type="dcterms:W3CDTF">2026-04-24T08:41:15Z</dcterms:modified>
</cp:coreProperties>
</file>