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2" r:id="rId16"/>
    <p:sldId id="263" r:id="rId17"/>
    <p:sldId id="264" r:id="rId13"/>
    <p:sldId id="265" r:id="rId18"/>
    <p:sldId id="266" r:id="rId19"/>
    <p:sldId id="267" r:id="rId14"/>
    <p:sldId id="268" r:id="rId20"/>
    <p:sldId id="269" r:id="rId21"/>
    <p:sldId id="270" r:id="rId15"/>
    <p:sldId id="271" r:id="rId22"/>
    <p:sldId id="272" r:id="rId23"/>
    <p:sldId id="273" r:id="rId2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DX-DESIGN-SYSTEM / DECK / v1</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6492240" y="914400"/>
            <a:ext cx="2286000" cy="182880"/>
          </a:xfrm>
          <a:prstGeom prst="rect">
            <a:avLst/>
          </a:prstGeom>
          <a:noFill/>
          <a:ln/>
        </p:spPr>
        <p:txBody>
          <a:bodyPr wrap="square" lIns="0" tIns="0" rIns="0" bIns="0" rtlCol="0" anchor="ctr"/>
          <a:lstStyle/>
          <a:p>
            <a:pPr algn="r" indent="0" marL="0">
              <a:buNone/>
            </a:pPr>
            <a:r>
              <a:rPr lang="en-US" sz="900" dirty="0">
                <a:solidFill>
                  <a:srgbClr val="9B98A6"/>
                </a:solidFill>
                <a:latin typeface="Consolas" pitchFamily="34" charset="0"/>
                <a:ea typeface="Consolas" pitchFamily="34" charset="-122"/>
                <a:cs typeface="Consolas" pitchFamily="34" charset="-120"/>
              </a:rPr>
              <a:t>2026.04.16</a:t>
            </a:r>
            <a:endParaRPr lang="en-US" sz="900" dirty="0"/>
          </a:p>
        </p:txBody>
      </p:sp>
      <p:sp>
        <p:nvSpPr>
          <p:cNvPr id="6" name="Text 3"/>
          <p:cNvSpPr/>
          <p:nvPr/>
        </p:nvSpPr>
        <p:spPr>
          <a:xfrm>
            <a:off x="365760" y="1828800"/>
            <a:ext cx="5486400" cy="228600"/>
          </a:xfrm>
          <a:prstGeom prst="rect">
            <a:avLst/>
          </a:prstGeom>
          <a:noFill/>
          <a:ln/>
        </p:spPr>
        <p:txBody>
          <a:bodyPr wrap="square" lIns="0" tIns="0" rIns="0" bIns="0" rtlCol="0" anchor="ctr"/>
          <a:lstStyle/>
          <a:p>
            <a:pPr indent="0" marL="0">
              <a:buNone/>
            </a:pPr>
            <a:r>
              <a:rPr lang="en-US" sz="900" spc="300" kern="0" dirty="0">
                <a:solidFill>
                  <a:srgbClr val="8B7AB8"/>
                </a:solidFill>
                <a:latin typeface="Consolas" pitchFamily="34" charset="0"/>
                <a:ea typeface="Consolas" pitchFamily="34" charset="-122"/>
                <a:cs typeface="Consolas" pitchFamily="34" charset="-120"/>
              </a:rPr>
              <a:t>PROPOSAL ／ DX &amp; AI SUPPORT</a:t>
            </a:r>
            <a:endParaRPr lang="en-US" sz="900" dirty="0"/>
          </a:p>
        </p:txBody>
      </p:sp>
      <p:sp>
        <p:nvSpPr>
          <p:cNvPr id="7" name="Text 4"/>
          <p:cNvSpPr/>
          <p:nvPr/>
        </p:nvSpPr>
        <p:spPr>
          <a:xfrm>
            <a:off x="320040" y="2103120"/>
            <a:ext cx="8503920" cy="2194560"/>
          </a:xfrm>
          <a:prstGeom prst="rect">
            <a:avLst/>
          </a:prstGeom>
          <a:noFill/>
          <a:ln/>
        </p:spPr>
        <p:txBody>
          <a:bodyPr wrap="square" lIns="0" tIns="0" rIns="0" bIns="0" rtlCol="0" anchor="ctr"/>
          <a:lstStyle/>
          <a:p>
            <a:pPr indent="0" marL="0">
              <a:buNone/>
            </a:pPr>
            <a:r>
              <a:rPr lang="en-US" sz="6200" b="1" dirty="0">
                <a:solidFill>
                  <a:srgbClr val="3A3A42"/>
                </a:solidFill>
                <a:latin typeface="Noto Sans JP" pitchFamily="34" charset="0"/>
                <a:ea typeface="Noto Sans JP" pitchFamily="34" charset="-122"/>
                <a:cs typeface="Noto Sans JP" pitchFamily="34" charset="-120"/>
              </a:rPr>
              <a:t>DX推進・AI活用</a:t>
            </a:r>
            <a:endParaRPr lang="en-US" sz="6200" dirty="0"/>
          </a:p>
          <a:p>
            <a:pPr indent="0" marL="0">
              <a:buNone/>
            </a:pPr>
            <a:r>
              <a:rPr lang="en-US" sz="6200" b="1" dirty="0">
                <a:solidFill>
                  <a:srgbClr val="3A3A42"/>
                </a:solidFill>
                <a:latin typeface="Noto Sans JP" pitchFamily="34" charset="0"/>
                <a:ea typeface="Noto Sans JP" pitchFamily="34" charset="-122"/>
                <a:cs typeface="Noto Sans JP" pitchFamily="34" charset="-120"/>
              </a:rPr>
              <a:t>ご提案書</a:t>
            </a:r>
            <a:endParaRPr lang="en-US" sz="6200" dirty="0"/>
          </a:p>
        </p:txBody>
      </p:sp>
      <p:sp>
        <p:nvSpPr>
          <p:cNvPr id="8" name="Text 5"/>
          <p:cNvSpPr/>
          <p:nvPr/>
        </p:nvSpPr>
        <p:spPr>
          <a:xfrm>
            <a:off x="4114800" y="4434840"/>
            <a:ext cx="4709160" cy="274320"/>
          </a:xfrm>
          <a:prstGeom prst="rect">
            <a:avLst/>
          </a:prstGeom>
          <a:noFill/>
          <a:ln/>
        </p:spPr>
        <p:txBody>
          <a:bodyPr wrap="square" lIns="0" tIns="0" rIns="0" bIns="0" rtlCol="0" anchor="ctr"/>
          <a:lstStyle/>
          <a:p>
            <a:pPr algn="r" indent="0" marL="0">
              <a:buNone/>
            </a:pPr>
            <a:r>
              <a:rPr lang="en-US" sz="1100" dirty="0">
                <a:solidFill>
                  <a:srgbClr val="5E5C6A"/>
                </a:solidFill>
                <a:latin typeface="Noto Sans JP" pitchFamily="34" charset="0"/>
                <a:ea typeface="Noto Sans JP" pitchFamily="34" charset="-122"/>
                <a:cs typeface="Noto Sans JP" pitchFamily="34" charset="-120"/>
              </a:rPr>
              <a:t>発注者側に立った中立的な伴走支援  ／  学園法人 御中</a:t>
            </a:r>
            <a:endParaRPr lang="en-US" sz="1100" dirty="0"/>
          </a:p>
        </p:txBody>
      </p:sp>
      <p:sp>
        <p:nvSpPr>
          <p:cNvPr id="9" name="Text 6"/>
          <p:cNvSpPr/>
          <p:nvPr/>
        </p:nvSpPr>
        <p:spPr>
          <a:xfrm>
            <a:off x="365760" y="4846320"/>
            <a:ext cx="36576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DXデザインシステム株式会社</a:t>
            </a:r>
            <a:endParaRPr lang="en-US" sz="800" dirty="0"/>
          </a:p>
        </p:txBody>
      </p:sp>
      <p:sp>
        <p:nvSpPr>
          <p:cNvPr id="10" name="Shape 7"/>
          <p:cNvSpPr/>
          <p:nvPr/>
        </p:nvSpPr>
        <p:spPr>
          <a:xfrm>
            <a:off x="228600" y="2148840"/>
            <a:ext cx="36576" cy="2103120"/>
          </a:xfrm>
          <a:prstGeom prst="rect">
            <a:avLst/>
          </a:prstGeom>
          <a:solidFill>
            <a:srgbClr val="8B7AB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INDEX</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1005840"/>
            <a:ext cx="2560320" cy="27432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C O N T E N T S</a:t>
            </a:r>
            <a:endParaRPr lang="en-US" sz="900" dirty="0"/>
          </a:p>
        </p:txBody>
      </p:sp>
      <p:sp>
        <p:nvSpPr>
          <p:cNvPr id="6" name="Text 3"/>
          <p:cNvSpPr/>
          <p:nvPr/>
        </p:nvSpPr>
        <p:spPr>
          <a:xfrm>
            <a:off x="365760" y="1234440"/>
            <a:ext cx="2743200" cy="914400"/>
          </a:xfrm>
          <a:prstGeom prst="rect">
            <a:avLst/>
          </a:prstGeom>
          <a:noFill/>
          <a:ln/>
        </p:spPr>
        <p:txBody>
          <a:bodyPr wrap="square" lIns="0" tIns="0" rIns="0" bIns="0" rtlCol="0" anchor="ctr"/>
          <a:lstStyle/>
          <a:p>
            <a:pPr indent="0" marL="0">
              <a:buNone/>
            </a:pPr>
            <a:r>
              <a:rPr lang="en-US" sz="5600" b="1" dirty="0">
                <a:solidFill>
                  <a:srgbClr val="3A3A42"/>
                </a:solidFill>
                <a:latin typeface="Noto Sans JP" pitchFamily="34" charset="0"/>
                <a:ea typeface="Noto Sans JP" pitchFamily="34" charset="-122"/>
                <a:cs typeface="Noto Sans JP" pitchFamily="34" charset="-120"/>
              </a:rPr>
              <a:t>目次</a:t>
            </a:r>
            <a:endParaRPr lang="en-US" sz="5600" dirty="0"/>
          </a:p>
        </p:txBody>
      </p:sp>
      <p:sp>
        <p:nvSpPr>
          <p:cNvPr id="7" name="Text 4"/>
          <p:cNvSpPr/>
          <p:nvPr/>
        </p:nvSpPr>
        <p:spPr>
          <a:xfrm>
            <a:off x="365760" y="2651760"/>
            <a:ext cx="2743200" cy="457200"/>
          </a:xfrm>
          <a:prstGeom prst="rect">
            <a:avLst/>
          </a:prstGeom>
          <a:noFill/>
          <a:ln/>
        </p:spPr>
        <p:txBody>
          <a:bodyPr wrap="square" lIns="0" tIns="0" rIns="0" bIns="0" rtlCol="0" anchor="ctr"/>
          <a:lstStyle/>
          <a:p>
            <a:pPr indent="0" marL="0">
              <a:buNone/>
            </a:pPr>
            <a:r>
              <a:rPr lang="en-US" sz="1000" dirty="0">
                <a:solidFill>
                  <a:srgbClr val="5E5C6A"/>
                </a:solidFill>
                <a:latin typeface="Noto Sans JP" pitchFamily="34" charset="0"/>
                <a:ea typeface="Noto Sans JP" pitchFamily="34" charset="-122"/>
                <a:cs typeface="Noto Sans JP" pitchFamily="34" charset="-120"/>
              </a:rPr>
              <a:t>本ご提案の構成を以下の順に沿ってご説明します。</a:t>
            </a:r>
            <a:endParaRPr lang="en-US" sz="1000" dirty="0"/>
          </a:p>
        </p:txBody>
      </p:sp>
      <p:sp>
        <p:nvSpPr>
          <p:cNvPr id="8" name="Shape 5"/>
          <p:cNvSpPr/>
          <p:nvPr/>
        </p:nvSpPr>
        <p:spPr>
          <a:xfrm>
            <a:off x="3474720" y="1005840"/>
            <a:ext cx="0" cy="3566160"/>
          </a:xfrm>
          <a:prstGeom prst="line">
            <a:avLst/>
          </a:prstGeom>
          <a:noFill/>
          <a:ln w="6350">
            <a:solidFill>
              <a:srgbClr val="E8E6EC"/>
            </a:solidFill>
            <a:prstDash val="solid"/>
          </a:ln>
        </p:spPr>
      </p:sp>
      <p:sp>
        <p:nvSpPr>
          <p:cNvPr id="9" name="Text 6"/>
          <p:cNvSpPr/>
          <p:nvPr/>
        </p:nvSpPr>
        <p:spPr>
          <a:xfrm>
            <a:off x="3703320" y="1143000"/>
            <a:ext cx="548640" cy="274320"/>
          </a:xfrm>
          <a:prstGeom prst="rect">
            <a:avLst/>
          </a:prstGeom>
          <a:noFill/>
          <a:ln/>
        </p:spPr>
        <p:txBody>
          <a:bodyPr wrap="square" lIns="0" tIns="0" rIns="0" bIns="0" rtlCol="0" anchor="ctr"/>
          <a:lstStyle/>
          <a:p>
            <a:pPr indent="0" marL="0">
              <a:buNone/>
            </a:pPr>
            <a:r>
              <a:rPr lang="en-US" sz="1000" dirty="0">
                <a:solidFill>
                  <a:srgbClr val="8B7AB8"/>
                </a:solidFill>
                <a:latin typeface="Consolas" pitchFamily="34" charset="0"/>
                <a:ea typeface="Consolas" pitchFamily="34" charset="-122"/>
                <a:cs typeface="Consolas" pitchFamily="34" charset="-120"/>
              </a:rPr>
              <a:t>01</a:t>
            </a:r>
            <a:endParaRPr lang="en-US" sz="1000" dirty="0"/>
          </a:p>
        </p:txBody>
      </p:sp>
      <p:sp>
        <p:nvSpPr>
          <p:cNvPr id="10" name="Text 7"/>
          <p:cNvSpPr/>
          <p:nvPr/>
        </p:nvSpPr>
        <p:spPr>
          <a:xfrm>
            <a:off x="3703320" y="1399032"/>
            <a:ext cx="1828800" cy="228600"/>
          </a:xfrm>
          <a:prstGeom prst="rect">
            <a:avLst/>
          </a:prstGeom>
          <a:noFill/>
          <a:ln/>
        </p:spPr>
        <p:txBody>
          <a:bodyPr wrap="square" lIns="0" tIns="0" rIns="0" bIns="0" rtlCol="0" anchor="ctr"/>
          <a:lstStyle/>
          <a:p>
            <a:pPr indent="0" marL="0">
              <a:buNone/>
            </a:pPr>
            <a:r>
              <a:rPr lang="en-US" sz="800" dirty="0">
                <a:solidFill>
                  <a:srgbClr val="9B98A6"/>
                </a:solidFill>
                <a:latin typeface="Consolas" pitchFamily="34" charset="0"/>
                <a:ea typeface="Consolas" pitchFamily="34" charset="-122"/>
                <a:cs typeface="Consolas" pitchFamily="34" charset="-120"/>
              </a:rPr>
              <a:t>Request &amp; Scope</a:t>
            </a:r>
            <a:endParaRPr lang="en-US" sz="800" dirty="0"/>
          </a:p>
        </p:txBody>
      </p:sp>
      <p:sp>
        <p:nvSpPr>
          <p:cNvPr id="11" name="Text 8"/>
          <p:cNvSpPr/>
          <p:nvPr/>
        </p:nvSpPr>
        <p:spPr>
          <a:xfrm>
            <a:off x="4846320" y="1124712"/>
            <a:ext cx="3931920" cy="548640"/>
          </a:xfrm>
          <a:prstGeom prst="rect">
            <a:avLst/>
          </a:prstGeom>
          <a:noFill/>
          <a:ln/>
        </p:spPr>
        <p:txBody>
          <a:bodyPr wrap="square" lIns="0" tIns="0" rIns="0" bIns="0" rtlCol="0" anchor="t"/>
          <a:lstStyle/>
          <a:p>
            <a:pPr indent="0" marL="0">
              <a:buNone/>
            </a:pPr>
            <a:r>
              <a:rPr lang="en-US" sz="2000" b="1" dirty="0">
                <a:solidFill>
                  <a:srgbClr val="3A3A42"/>
                </a:solidFill>
                <a:latin typeface="Noto Sans JP" pitchFamily="34" charset="0"/>
                <a:ea typeface="Noto Sans JP" pitchFamily="34" charset="-122"/>
                <a:cs typeface="Noto Sans JP" pitchFamily="34" charset="-120"/>
              </a:rPr>
              <a:t>ご依頼の整理と全体像</a:t>
            </a:r>
            <a:endParaRPr lang="en-US" sz="2000" dirty="0"/>
          </a:p>
        </p:txBody>
      </p:sp>
      <p:sp>
        <p:nvSpPr>
          <p:cNvPr id="12" name="Shape 9"/>
          <p:cNvSpPr/>
          <p:nvPr/>
        </p:nvSpPr>
        <p:spPr>
          <a:xfrm>
            <a:off x="3703320" y="1746504"/>
            <a:ext cx="5074920" cy="0"/>
          </a:xfrm>
          <a:prstGeom prst="line">
            <a:avLst/>
          </a:prstGeom>
          <a:noFill/>
          <a:ln w="6350">
            <a:solidFill>
              <a:srgbClr val="F2F0F5"/>
            </a:solidFill>
            <a:prstDash val="solid"/>
          </a:ln>
        </p:spPr>
      </p:sp>
      <p:sp>
        <p:nvSpPr>
          <p:cNvPr id="13" name="Text 10"/>
          <p:cNvSpPr/>
          <p:nvPr/>
        </p:nvSpPr>
        <p:spPr>
          <a:xfrm>
            <a:off x="3703320" y="1856232"/>
            <a:ext cx="548640" cy="274320"/>
          </a:xfrm>
          <a:prstGeom prst="rect">
            <a:avLst/>
          </a:prstGeom>
          <a:noFill/>
          <a:ln/>
        </p:spPr>
        <p:txBody>
          <a:bodyPr wrap="square" lIns="0" tIns="0" rIns="0" bIns="0" rtlCol="0" anchor="ctr"/>
          <a:lstStyle/>
          <a:p>
            <a:pPr indent="0" marL="0">
              <a:buNone/>
            </a:pPr>
            <a:r>
              <a:rPr lang="en-US" sz="1000" dirty="0">
                <a:solidFill>
                  <a:srgbClr val="8B7AB8"/>
                </a:solidFill>
                <a:latin typeface="Consolas" pitchFamily="34" charset="0"/>
                <a:ea typeface="Consolas" pitchFamily="34" charset="-122"/>
                <a:cs typeface="Consolas" pitchFamily="34" charset="-120"/>
              </a:rPr>
              <a:t>02</a:t>
            </a:r>
            <a:endParaRPr lang="en-US" sz="1000" dirty="0"/>
          </a:p>
        </p:txBody>
      </p:sp>
      <p:sp>
        <p:nvSpPr>
          <p:cNvPr id="14" name="Text 11"/>
          <p:cNvSpPr/>
          <p:nvPr/>
        </p:nvSpPr>
        <p:spPr>
          <a:xfrm>
            <a:off x="3703320" y="2112264"/>
            <a:ext cx="1828800" cy="228600"/>
          </a:xfrm>
          <a:prstGeom prst="rect">
            <a:avLst/>
          </a:prstGeom>
          <a:noFill/>
          <a:ln/>
        </p:spPr>
        <p:txBody>
          <a:bodyPr wrap="square" lIns="0" tIns="0" rIns="0" bIns="0" rtlCol="0" anchor="ctr"/>
          <a:lstStyle/>
          <a:p>
            <a:pPr indent="0" marL="0">
              <a:buNone/>
            </a:pPr>
            <a:r>
              <a:rPr lang="en-US" sz="800" dirty="0">
                <a:solidFill>
                  <a:srgbClr val="9B98A6"/>
                </a:solidFill>
                <a:latin typeface="Consolas" pitchFamily="34" charset="0"/>
                <a:ea typeface="Consolas" pitchFamily="34" charset="-122"/>
                <a:cs typeface="Consolas" pitchFamily="34" charset="-120"/>
              </a:rPr>
              <a:t>Process Improvement</a:t>
            </a:r>
            <a:endParaRPr lang="en-US" sz="800" dirty="0"/>
          </a:p>
        </p:txBody>
      </p:sp>
      <p:sp>
        <p:nvSpPr>
          <p:cNvPr id="15" name="Text 12"/>
          <p:cNvSpPr/>
          <p:nvPr/>
        </p:nvSpPr>
        <p:spPr>
          <a:xfrm>
            <a:off x="4846320" y="1837944"/>
            <a:ext cx="3931920" cy="548640"/>
          </a:xfrm>
          <a:prstGeom prst="rect">
            <a:avLst/>
          </a:prstGeom>
          <a:noFill/>
          <a:ln/>
        </p:spPr>
        <p:txBody>
          <a:bodyPr wrap="square" lIns="0" tIns="0" rIns="0" bIns="0" rtlCol="0" anchor="t"/>
          <a:lstStyle/>
          <a:p>
            <a:pPr indent="0" marL="0">
              <a:buNone/>
            </a:pPr>
            <a:r>
              <a:rPr lang="en-US" sz="2000" b="1" dirty="0">
                <a:solidFill>
                  <a:srgbClr val="3A3A42"/>
                </a:solidFill>
                <a:latin typeface="Noto Sans JP" pitchFamily="34" charset="0"/>
                <a:ea typeface="Noto Sans JP" pitchFamily="34" charset="-122"/>
                <a:cs typeface="Noto Sans JP" pitchFamily="34" charset="-120"/>
              </a:rPr>
              <a:t>業務プロセス改善支援</a:t>
            </a:r>
            <a:endParaRPr lang="en-US" sz="2000" dirty="0"/>
          </a:p>
        </p:txBody>
      </p:sp>
      <p:sp>
        <p:nvSpPr>
          <p:cNvPr id="16" name="Shape 13"/>
          <p:cNvSpPr/>
          <p:nvPr/>
        </p:nvSpPr>
        <p:spPr>
          <a:xfrm>
            <a:off x="3703320" y="2459736"/>
            <a:ext cx="5074920" cy="0"/>
          </a:xfrm>
          <a:prstGeom prst="line">
            <a:avLst/>
          </a:prstGeom>
          <a:noFill/>
          <a:ln w="6350">
            <a:solidFill>
              <a:srgbClr val="F2F0F5"/>
            </a:solidFill>
            <a:prstDash val="solid"/>
          </a:ln>
        </p:spPr>
      </p:sp>
      <p:sp>
        <p:nvSpPr>
          <p:cNvPr id="17" name="Text 14"/>
          <p:cNvSpPr/>
          <p:nvPr/>
        </p:nvSpPr>
        <p:spPr>
          <a:xfrm>
            <a:off x="3703320" y="2569464"/>
            <a:ext cx="548640" cy="274320"/>
          </a:xfrm>
          <a:prstGeom prst="rect">
            <a:avLst/>
          </a:prstGeom>
          <a:noFill/>
          <a:ln/>
        </p:spPr>
        <p:txBody>
          <a:bodyPr wrap="square" lIns="0" tIns="0" rIns="0" bIns="0" rtlCol="0" anchor="ctr"/>
          <a:lstStyle/>
          <a:p>
            <a:pPr indent="0" marL="0">
              <a:buNone/>
            </a:pPr>
            <a:r>
              <a:rPr lang="en-US" sz="1000" dirty="0">
                <a:solidFill>
                  <a:srgbClr val="8B7AB8"/>
                </a:solidFill>
                <a:latin typeface="Consolas" pitchFamily="34" charset="0"/>
                <a:ea typeface="Consolas" pitchFamily="34" charset="-122"/>
                <a:cs typeface="Consolas" pitchFamily="34" charset="-120"/>
              </a:rPr>
              <a:t>03</a:t>
            </a:r>
            <a:endParaRPr lang="en-US" sz="1000" dirty="0"/>
          </a:p>
        </p:txBody>
      </p:sp>
      <p:sp>
        <p:nvSpPr>
          <p:cNvPr id="18" name="Text 15"/>
          <p:cNvSpPr/>
          <p:nvPr/>
        </p:nvSpPr>
        <p:spPr>
          <a:xfrm>
            <a:off x="3703320" y="2825496"/>
            <a:ext cx="1828800" cy="228600"/>
          </a:xfrm>
          <a:prstGeom prst="rect">
            <a:avLst/>
          </a:prstGeom>
          <a:noFill/>
          <a:ln/>
        </p:spPr>
        <p:txBody>
          <a:bodyPr wrap="square" lIns="0" tIns="0" rIns="0" bIns="0" rtlCol="0" anchor="ctr"/>
          <a:lstStyle/>
          <a:p>
            <a:pPr indent="0" marL="0">
              <a:buNone/>
            </a:pPr>
            <a:r>
              <a:rPr lang="en-US" sz="800" dirty="0">
                <a:solidFill>
                  <a:srgbClr val="9B98A6"/>
                </a:solidFill>
                <a:latin typeface="Consolas" pitchFamily="34" charset="0"/>
                <a:ea typeface="Consolas" pitchFamily="34" charset="-122"/>
                <a:cs typeface="Consolas" pitchFamily="34" charset="-120"/>
              </a:rPr>
              <a:t>Data &amp; Master Design</a:t>
            </a:r>
            <a:endParaRPr lang="en-US" sz="800" dirty="0"/>
          </a:p>
        </p:txBody>
      </p:sp>
      <p:sp>
        <p:nvSpPr>
          <p:cNvPr id="19" name="Text 16"/>
          <p:cNvSpPr/>
          <p:nvPr/>
        </p:nvSpPr>
        <p:spPr>
          <a:xfrm>
            <a:off x="4846320" y="2551176"/>
            <a:ext cx="3931920" cy="548640"/>
          </a:xfrm>
          <a:prstGeom prst="rect">
            <a:avLst/>
          </a:prstGeom>
          <a:noFill/>
          <a:ln/>
        </p:spPr>
        <p:txBody>
          <a:bodyPr wrap="square" lIns="0" tIns="0" rIns="0" bIns="0" rtlCol="0" anchor="t"/>
          <a:lstStyle/>
          <a:p>
            <a:pPr indent="0" marL="0">
              <a:buNone/>
            </a:pPr>
            <a:r>
              <a:rPr lang="en-US" sz="2000" b="1" dirty="0">
                <a:solidFill>
                  <a:srgbClr val="3A3A42"/>
                </a:solidFill>
                <a:latin typeface="Noto Sans JP" pitchFamily="34" charset="0"/>
                <a:ea typeface="Noto Sans JP" pitchFamily="34" charset="-122"/>
                <a:cs typeface="Noto Sans JP" pitchFamily="34" charset="-120"/>
              </a:rPr>
              <a:t>統合DB・共通マスタ設計</a:t>
            </a:r>
            <a:endParaRPr lang="en-US" sz="2000" dirty="0"/>
          </a:p>
        </p:txBody>
      </p:sp>
      <p:sp>
        <p:nvSpPr>
          <p:cNvPr id="20" name="Shape 17"/>
          <p:cNvSpPr/>
          <p:nvPr/>
        </p:nvSpPr>
        <p:spPr>
          <a:xfrm>
            <a:off x="3703320" y="3172968"/>
            <a:ext cx="5074920" cy="0"/>
          </a:xfrm>
          <a:prstGeom prst="line">
            <a:avLst/>
          </a:prstGeom>
          <a:noFill/>
          <a:ln w="6350">
            <a:solidFill>
              <a:srgbClr val="F2F0F5"/>
            </a:solidFill>
            <a:prstDash val="solid"/>
          </a:ln>
        </p:spPr>
      </p:sp>
      <p:sp>
        <p:nvSpPr>
          <p:cNvPr id="21" name="Text 18"/>
          <p:cNvSpPr/>
          <p:nvPr/>
        </p:nvSpPr>
        <p:spPr>
          <a:xfrm>
            <a:off x="3703320" y="3282696"/>
            <a:ext cx="548640" cy="274320"/>
          </a:xfrm>
          <a:prstGeom prst="rect">
            <a:avLst/>
          </a:prstGeom>
          <a:noFill/>
          <a:ln/>
        </p:spPr>
        <p:txBody>
          <a:bodyPr wrap="square" lIns="0" tIns="0" rIns="0" bIns="0" rtlCol="0" anchor="ctr"/>
          <a:lstStyle/>
          <a:p>
            <a:pPr indent="0" marL="0">
              <a:buNone/>
            </a:pPr>
            <a:r>
              <a:rPr lang="en-US" sz="1000" dirty="0">
                <a:solidFill>
                  <a:srgbClr val="8B7AB8"/>
                </a:solidFill>
                <a:latin typeface="Consolas" pitchFamily="34" charset="0"/>
                <a:ea typeface="Consolas" pitchFamily="34" charset="-122"/>
                <a:cs typeface="Consolas" pitchFamily="34" charset="-120"/>
              </a:rPr>
              <a:t>04</a:t>
            </a:r>
            <a:endParaRPr lang="en-US" sz="1000" dirty="0"/>
          </a:p>
        </p:txBody>
      </p:sp>
      <p:sp>
        <p:nvSpPr>
          <p:cNvPr id="22" name="Text 19"/>
          <p:cNvSpPr/>
          <p:nvPr/>
        </p:nvSpPr>
        <p:spPr>
          <a:xfrm>
            <a:off x="3703320" y="3538728"/>
            <a:ext cx="1828800" cy="228600"/>
          </a:xfrm>
          <a:prstGeom prst="rect">
            <a:avLst/>
          </a:prstGeom>
          <a:noFill/>
          <a:ln/>
        </p:spPr>
        <p:txBody>
          <a:bodyPr wrap="square" lIns="0" tIns="0" rIns="0" bIns="0" rtlCol="0" anchor="ctr"/>
          <a:lstStyle/>
          <a:p>
            <a:pPr indent="0" marL="0">
              <a:buNone/>
            </a:pPr>
            <a:r>
              <a:rPr lang="en-US" sz="800" dirty="0">
                <a:solidFill>
                  <a:srgbClr val="9B98A6"/>
                </a:solidFill>
                <a:latin typeface="Consolas" pitchFamily="34" charset="0"/>
                <a:ea typeface="Consolas" pitchFamily="34" charset="-122"/>
                <a:cs typeface="Consolas" pitchFamily="34" charset="-120"/>
              </a:rPr>
              <a:t>AI Governance</a:t>
            </a:r>
            <a:endParaRPr lang="en-US" sz="800" dirty="0"/>
          </a:p>
        </p:txBody>
      </p:sp>
      <p:sp>
        <p:nvSpPr>
          <p:cNvPr id="23" name="Text 20"/>
          <p:cNvSpPr/>
          <p:nvPr/>
        </p:nvSpPr>
        <p:spPr>
          <a:xfrm>
            <a:off x="4846320" y="3264408"/>
            <a:ext cx="3931920" cy="548640"/>
          </a:xfrm>
          <a:prstGeom prst="rect">
            <a:avLst/>
          </a:prstGeom>
          <a:noFill/>
          <a:ln/>
        </p:spPr>
        <p:txBody>
          <a:bodyPr wrap="square" lIns="0" tIns="0" rIns="0" bIns="0" rtlCol="0" anchor="t"/>
          <a:lstStyle/>
          <a:p>
            <a:pPr indent="0" marL="0">
              <a:buNone/>
            </a:pPr>
            <a:r>
              <a:rPr lang="en-US" sz="2000" b="1" dirty="0">
                <a:solidFill>
                  <a:srgbClr val="3A3A42"/>
                </a:solidFill>
                <a:latin typeface="Noto Sans JP" pitchFamily="34" charset="0"/>
                <a:ea typeface="Noto Sans JP" pitchFamily="34" charset="-122"/>
                <a:cs typeface="Noto Sans JP" pitchFamily="34" charset="-120"/>
              </a:rPr>
              <a:t>AIガバナンス・推進人材</a:t>
            </a:r>
            <a:endParaRPr lang="en-US" sz="2000" dirty="0"/>
          </a:p>
        </p:txBody>
      </p:sp>
      <p:sp>
        <p:nvSpPr>
          <p:cNvPr id="24" name="Shape 21"/>
          <p:cNvSpPr/>
          <p:nvPr/>
        </p:nvSpPr>
        <p:spPr>
          <a:xfrm>
            <a:off x="3703320" y="3886200"/>
            <a:ext cx="5074920" cy="0"/>
          </a:xfrm>
          <a:prstGeom prst="line">
            <a:avLst/>
          </a:prstGeom>
          <a:noFill/>
          <a:ln w="6350">
            <a:solidFill>
              <a:srgbClr val="F2F0F5"/>
            </a:solidFill>
            <a:prstDash val="solid"/>
          </a:ln>
        </p:spPr>
      </p:sp>
      <p:sp>
        <p:nvSpPr>
          <p:cNvPr id="25" name="Text 22"/>
          <p:cNvSpPr/>
          <p:nvPr/>
        </p:nvSpPr>
        <p:spPr>
          <a:xfrm>
            <a:off x="3703320" y="3995928"/>
            <a:ext cx="548640" cy="274320"/>
          </a:xfrm>
          <a:prstGeom prst="rect">
            <a:avLst/>
          </a:prstGeom>
          <a:noFill/>
          <a:ln/>
        </p:spPr>
        <p:txBody>
          <a:bodyPr wrap="square" lIns="0" tIns="0" rIns="0" bIns="0" rtlCol="0" anchor="ctr"/>
          <a:lstStyle/>
          <a:p>
            <a:pPr indent="0" marL="0">
              <a:buNone/>
            </a:pPr>
            <a:r>
              <a:rPr lang="en-US" sz="1000" dirty="0">
                <a:solidFill>
                  <a:srgbClr val="8B7AB8"/>
                </a:solidFill>
                <a:latin typeface="Consolas" pitchFamily="34" charset="0"/>
                <a:ea typeface="Consolas" pitchFamily="34" charset="-122"/>
                <a:cs typeface="Consolas" pitchFamily="34" charset="-120"/>
              </a:rPr>
              <a:t>05</a:t>
            </a:r>
            <a:endParaRPr lang="en-US" sz="1000" dirty="0"/>
          </a:p>
        </p:txBody>
      </p:sp>
      <p:sp>
        <p:nvSpPr>
          <p:cNvPr id="26" name="Text 23"/>
          <p:cNvSpPr/>
          <p:nvPr/>
        </p:nvSpPr>
        <p:spPr>
          <a:xfrm>
            <a:off x="3703320" y="4251960"/>
            <a:ext cx="1828800" cy="228600"/>
          </a:xfrm>
          <a:prstGeom prst="rect">
            <a:avLst/>
          </a:prstGeom>
          <a:noFill/>
          <a:ln/>
        </p:spPr>
        <p:txBody>
          <a:bodyPr wrap="square" lIns="0" tIns="0" rIns="0" bIns="0" rtlCol="0" anchor="ctr"/>
          <a:lstStyle/>
          <a:p>
            <a:pPr indent="0" marL="0">
              <a:buNone/>
            </a:pPr>
            <a:r>
              <a:rPr lang="en-US" sz="800" dirty="0">
                <a:solidFill>
                  <a:srgbClr val="9B98A6"/>
                </a:solidFill>
                <a:latin typeface="Consolas" pitchFamily="34" charset="0"/>
                <a:ea typeface="Consolas" pitchFamily="34" charset="-122"/>
                <a:cs typeface="Consolas" pitchFamily="34" charset="-120"/>
              </a:rPr>
              <a:t>Cost &amp; Schedule</a:t>
            </a:r>
            <a:endParaRPr lang="en-US" sz="800" dirty="0"/>
          </a:p>
        </p:txBody>
      </p:sp>
      <p:sp>
        <p:nvSpPr>
          <p:cNvPr id="27" name="Text 24"/>
          <p:cNvSpPr/>
          <p:nvPr/>
        </p:nvSpPr>
        <p:spPr>
          <a:xfrm>
            <a:off x="4846320" y="3977640"/>
            <a:ext cx="3931920" cy="548640"/>
          </a:xfrm>
          <a:prstGeom prst="rect">
            <a:avLst/>
          </a:prstGeom>
          <a:noFill/>
          <a:ln/>
        </p:spPr>
        <p:txBody>
          <a:bodyPr wrap="square" lIns="0" tIns="0" rIns="0" bIns="0" rtlCol="0" anchor="t"/>
          <a:lstStyle/>
          <a:p>
            <a:pPr indent="0" marL="0">
              <a:buNone/>
            </a:pPr>
            <a:r>
              <a:rPr lang="en-US" sz="2000" b="1" dirty="0">
                <a:solidFill>
                  <a:srgbClr val="3A3A42"/>
                </a:solidFill>
                <a:latin typeface="Noto Sans JP" pitchFamily="34" charset="0"/>
                <a:ea typeface="Noto Sans JP" pitchFamily="34" charset="-122"/>
                <a:cs typeface="Noto Sans JP" pitchFamily="34" charset="-120"/>
              </a:rPr>
              <a:t>費用・スケジュール・体制</a:t>
            </a:r>
            <a:endParaRPr lang="en-US" sz="2000" dirty="0"/>
          </a:p>
        </p:txBody>
      </p:sp>
      <p:sp>
        <p:nvSpPr>
          <p:cNvPr id="28" name="Text 25"/>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2"/>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sp>
      <p:sp>
        <p:nvSpPr>
          <p:cNvPr id="7" name="Text 3"/>
          <p:cNvSpPr/>
          <p:nvPr/>
        </p:nvSpPr>
        <p:spPr>
          <a:xfrm>
            <a:off x="5166360" y="1463040"/>
            <a:ext cx="3657600" cy="274320"/>
          </a:xfrm>
          <a:prstGeom prst="rect">
            <a:avLst/>
          </a:prstGeom>
          <a:noFill/>
          <a:ln/>
        </p:spPr>
        <p:txBody>
          <a:bodyPr wrap="square" lIns="0" tIns="0" rIns="0" bIns="0" rtlCol="0" anchor="ctr"/>
          <a:lstStyle/>
          <a:p>
            <a:pPr indent="0" marL="0">
              <a:buNone/>
            </a:pPr>
            <a:r>
              <a:rPr lang="en-US" sz="1000" spc="400" kern="0" dirty="0">
                <a:solidFill>
                  <a:srgbClr val="8B7AB8"/>
                </a:solidFill>
                <a:latin typeface="Consolas" pitchFamily="34" charset="0"/>
                <a:ea typeface="Consolas" pitchFamily="34" charset="-122"/>
                <a:cs typeface="Consolas" pitchFamily="34" charset="-120"/>
              </a:rPr>
              <a:t>SECTION  01</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indent="0" marL="0">
              <a:buNone/>
            </a:pPr>
            <a:r>
              <a:rPr lang="en-US" sz="3000" b="1" dirty="0">
                <a:solidFill>
                  <a:srgbClr val="3A3A42"/>
                </a:solidFill>
                <a:latin typeface="Noto Sans JP" pitchFamily="34" charset="0"/>
                <a:ea typeface="Noto Sans JP" pitchFamily="34" charset="-122"/>
                <a:cs typeface="Noto Sans JP" pitchFamily="34" charset="-120"/>
              </a:rPr>
              <a:t>業務プロセス改善支援</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indent="0" marL="0">
              <a:buNone/>
            </a:pPr>
            <a:r>
              <a:rPr lang="en-US" sz="1100" dirty="0">
                <a:solidFill>
                  <a:srgbClr val="5E5C6A"/>
                </a:solidFill>
                <a:latin typeface="Noto Sans JP" pitchFamily="34" charset="0"/>
                <a:ea typeface="Noto Sans JP" pitchFamily="34" charset="-122"/>
                <a:cs typeface="Noto Sans JP" pitchFamily="34" charset="-120"/>
              </a:rPr>
              <a:t>現場課題への即効策と、エデュース社要件定義の並走レビューにより、To-Be業務フロー／システム／データフローを最適化します。</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indent="0" marL="0">
              <a:buNone/>
            </a:pPr>
            <a:r>
              <a:rPr lang="en-US" sz="900" dirty="0">
                <a:solidFill>
                  <a:srgbClr val="9B98A6"/>
                </a:solidFill>
                <a:latin typeface="Consolas" pitchFamily="34" charset="0"/>
                <a:ea typeface="Consolas" pitchFamily="34" charset="-122"/>
                <a:cs typeface="Consolas" pitchFamily="34" charset="-120"/>
              </a:rPr>
              <a:t>— スコープ: ご依頼事項 #1〜#5</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03 / 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10</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10 / NEXT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次のステップ</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16 / 18</a:t>
            </a:r>
            <a:endParaRPr lang="en-US" sz="800" dirty="0"/>
          </a:p>
        </p:txBody>
      </p:sp>
      <p:sp>
        <p:nvSpPr>
          <p:cNvPr id="100" name="intro"/>
          <p:cNvSpPr/>
          <p:nvPr/>
        </p:nvSpPr>
        <p:spPr>
          <a:xfrm>
            <a:off x="365760" y="1600200"/>
            <a:ext cx="8412480" cy="320040"/>
          </a:xfrm>
          <a:prstGeom prst="rect">
            <a:avLst/>
          </a:prstGeom>
          <a:noFill/>
          <a:ln/>
        </p:spPr>
        <p:txBody>
          <a:bodyPr wrap="square" lIns="0" tIns="0" rIns="0" bIns="0" rtlCol="0"/>
          <a:lstStyle/>
          <a:p>
            <a:pPr indent="0" marL="0">
              <a:buNone/>
            </a:pPr>
            <a:r>
              <a:rPr lang="ja-JP" sz="1000" dirty="0">
                <a:solidFill>
                  <a:srgbClr val="5E5C6A"/>
                </a:solidFill>
                <a:latin typeface="Noto Sans JP"/>
                <a:ea typeface="Noto Sans JP"/>
                <a:cs typeface="Noto Sans JP"/>
              </a:rPr>
              <a:t>本ご提案に基づき、以下のステップで支援開始までを進めさせていただければと考えております。</a:t>
            </a:r>
          </a:p>
        </p:txBody>
      </p:sp>
      <p:sp>
        <p:nvSpPr>
          <p:cNvPr id="101" name="ln"/>
          <p:cNvSpPr/>
          <p:nvPr/>
        </p:nvSpPr>
        <p:spPr>
          <a:xfrm>
            <a:off x="365760" y="2103120"/>
            <a:ext cx="8412480" cy="0"/>
          </a:xfrm>
          <a:prstGeom prst="line">
            <a:avLst/>
          </a:prstGeom>
          <a:noFill/>
          <a:ln w="6350">
            <a:solidFill>
              <a:srgbClr val="E8E6EC"/>
            </a:solidFill>
            <a:prstDash val="solid"/>
          </a:ln>
        </p:spPr>
      </p:sp>
      <p:sp>
        <p:nvSpPr>
          <p:cNvPr id="102" name="s_n_bg_0"/>
          <p:cNvSpPr/>
          <p:nvPr/>
        </p:nvSpPr>
        <p:spPr>
          <a:xfrm>
            <a:off x="365760" y="2240280"/>
            <a:ext cx="640080" cy="438912"/>
          </a:xfrm>
          <a:prstGeom prst="rect">
            <a:avLst/>
          </a:prstGeom>
          <a:solidFill>
            <a:srgbClr val="8B7AB8"/>
          </a:solidFill>
          <a:ln/>
        </p:spPr>
      </p:sp>
      <p:sp>
        <p:nvSpPr>
          <p:cNvPr id="103" name="s_n_0"/>
          <p:cNvSpPr/>
          <p:nvPr/>
        </p:nvSpPr>
        <p:spPr>
          <a:xfrm>
            <a:off x="365760" y="2240280"/>
            <a:ext cx="640080" cy="438912"/>
          </a:xfrm>
          <a:prstGeom prst="rect">
            <a:avLst/>
          </a:prstGeom>
          <a:noFill/>
          <a:ln/>
        </p:spPr>
        <p:txBody>
          <a:bodyPr wrap="square" lIns="0" tIns="0" rIns="0" bIns="0" rtlCol="0" anchor="ctr"/>
          <a:lstStyle/>
          <a:p>
            <a:pPr algn="ctr" indent="0" marL="0">
              <a:buNone/>
            </a:pPr>
            <a:r>
              <a:rPr lang="ja-JP" sz="1800" b="1" dirty="0">
                <a:solidFill>
                  <a:srgbClr val="FFFFFF"/>
                </a:solidFill>
                <a:latin typeface="Georgia"/>
                <a:ea typeface="Georgia"/>
                <a:cs typeface="Georgia"/>
              </a:rPr>
              <a:t>01</a:t>
            </a:r>
          </a:p>
        </p:txBody>
      </p:sp>
      <p:sp>
        <p:nvSpPr>
          <p:cNvPr id="104" name="s_c_bg_0"/>
          <p:cNvSpPr/>
          <p:nvPr/>
        </p:nvSpPr>
        <p:spPr>
          <a:xfrm>
            <a:off x="1005840" y="2240280"/>
            <a:ext cx="7772400" cy="438912"/>
          </a:xfrm>
          <a:prstGeom prst="rect">
            <a:avLst/>
          </a:prstGeom>
          <a:solidFill>
            <a:srgbClr val="FAFAFB"/>
          </a:solidFill>
          <a:ln/>
        </p:spPr>
      </p:sp>
      <p:sp>
        <p:nvSpPr>
          <p:cNvPr id="105" name="s_h_0"/>
          <p:cNvSpPr/>
          <p:nvPr/>
        </p:nvSpPr>
        <p:spPr>
          <a:xfrm>
            <a:off x="1280160" y="2295144"/>
            <a:ext cx="7498080" cy="201168"/>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本提案書のご確認・論点共有</a:t>
            </a:r>
          </a:p>
        </p:txBody>
      </p:sp>
      <p:sp>
        <p:nvSpPr>
          <p:cNvPr id="106" name="s_d_0"/>
          <p:cNvSpPr/>
          <p:nvPr/>
        </p:nvSpPr>
        <p:spPr>
          <a:xfrm>
            <a:off x="1280160" y="2478024"/>
            <a:ext cx="7498080" cy="18288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オンラインMTG 60分  ／  論点・修正要望のすり合わせ</a:t>
            </a:r>
          </a:p>
        </p:txBody>
      </p:sp>
      <p:sp>
        <p:nvSpPr>
          <p:cNvPr id="107" name="s_n_bg_1"/>
          <p:cNvSpPr/>
          <p:nvPr/>
        </p:nvSpPr>
        <p:spPr>
          <a:xfrm>
            <a:off x="365760" y="2715768"/>
            <a:ext cx="640080" cy="438912"/>
          </a:xfrm>
          <a:prstGeom prst="rect">
            <a:avLst/>
          </a:prstGeom>
          <a:solidFill>
            <a:srgbClr val="8B7AB8"/>
          </a:solidFill>
          <a:ln/>
        </p:spPr>
      </p:sp>
      <p:sp>
        <p:nvSpPr>
          <p:cNvPr id="108" name="s_n_1"/>
          <p:cNvSpPr/>
          <p:nvPr/>
        </p:nvSpPr>
        <p:spPr>
          <a:xfrm>
            <a:off x="365760" y="2715768"/>
            <a:ext cx="640080" cy="438912"/>
          </a:xfrm>
          <a:prstGeom prst="rect">
            <a:avLst/>
          </a:prstGeom>
          <a:noFill/>
          <a:ln/>
        </p:spPr>
        <p:txBody>
          <a:bodyPr wrap="square" lIns="0" tIns="0" rIns="0" bIns="0" rtlCol="0" anchor="ctr"/>
          <a:lstStyle/>
          <a:p>
            <a:pPr algn="ctr" indent="0" marL="0">
              <a:buNone/>
            </a:pPr>
            <a:r>
              <a:rPr lang="ja-JP" sz="1800" b="1" dirty="0">
                <a:solidFill>
                  <a:srgbClr val="FFFFFF"/>
                </a:solidFill>
                <a:latin typeface="Georgia"/>
                <a:ea typeface="Georgia"/>
                <a:cs typeface="Georgia"/>
              </a:rPr>
              <a:t>02</a:t>
            </a:r>
          </a:p>
        </p:txBody>
      </p:sp>
      <p:sp>
        <p:nvSpPr>
          <p:cNvPr id="109" name="s_c_bg_1"/>
          <p:cNvSpPr/>
          <p:nvPr/>
        </p:nvSpPr>
        <p:spPr>
          <a:xfrm>
            <a:off x="1005840" y="2715768"/>
            <a:ext cx="7772400" cy="438912"/>
          </a:xfrm>
          <a:prstGeom prst="rect">
            <a:avLst/>
          </a:prstGeom>
          <a:solidFill>
            <a:srgbClr val="FAFAFB"/>
          </a:solidFill>
          <a:ln/>
        </p:spPr>
      </p:sp>
      <p:sp>
        <p:nvSpPr>
          <p:cNvPr id="110" name="s_h_1"/>
          <p:cNvSpPr/>
          <p:nvPr/>
        </p:nvSpPr>
        <p:spPr>
          <a:xfrm>
            <a:off x="1280160" y="2770632"/>
            <a:ext cx="7498080" cy="201168"/>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キックオフヒアリング</a:t>
            </a:r>
          </a:p>
        </p:txBody>
      </p:sp>
      <p:sp>
        <p:nvSpPr>
          <p:cNvPr id="111" name="s_d_1"/>
          <p:cNvSpPr/>
          <p:nvPr/>
        </p:nvSpPr>
        <p:spPr>
          <a:xfrm>
            <a:off x="1280160" y="2953512"/>
            <a:ext cx="7498080" cy="18288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各支援テーマの現状確認  ／  優先順位付け</a:t>
            </a:r>
          </a:p>
        </p:txBody>
      </p:sp>
      <p:sp>
        <p:nvSpPr>
          <p:cNvPr id="112" name="s_n_bg_2"/>
          <p:cNvSpPr/>
          <p:nvPr/>
        </p:nvSpPr>
        <p:spPr>
          <a:xfrm>
            <a:off x="365760" y="3191256"/>
            <a:ext cx="640080" cy="438912"/>
          </a:xfrm>
          <a:prstGeom prst="rect">
            <a:avLst/>
          </a:prstGeom>
          <a:solidFill>
            <a:srgbClr val="8B7AB8"/>
          </a:solidFill>
          <a:ln/>
        </p:spPr>
      </p:sp>
      <p:sp>
        <p:nvSpPr>
          <p:cNvPr id="113" name="s_n_2"/>
          <p:cNvSpPr/>
          <p:nvPr/>
        </p:nvSpPr>
        <p:spPr>
          <a:xfrm>
            <a:off x="365760" y="3191256"/>
            <a:ext cx="640080" cy="438912"/>
          </a:xfrm>
          <a:prstGeom prst="rect">
            <a:avLst/>
          </a:prstGeom>
          <a:noFill/>
          <a:ln/>
        </p:spPr>
        <p:txBody>
          <a:bodyPr wrap="square" lIns="0" tIns="0" rIns="0" bIns="0" rtlCol="0" anchor="ctr"/>
          <a:lstStyle/>
          <a:p>
            <a:pPr algn="ctr" indent="0" marL="0">
              <a:buNone/>
            </a:pPr>
            <a:r>
              <a:rPr lang="ja-JP" sz="1800" b="1" dirty="0">
                <a:solidFill>
                  <a:srgbClr val="FFFFFF"/>
                </a:solidFill>
                <a:latin typeface="Georgia"/>
                <a:ea typeface="Georgia"/>
                <a:cs typeface="Georgia"/>
              </a:rPr>
              <a:t>03</a:t>
            </a:r>
          </a:p>
        </p:txBody>
      </p:sp>
      <p:sp>
        <p:nvSpPr>
          <p:cNvPr id="114" name="s_c_bg_2"/>
          <p:cNvSpPr/>
          <p:nvPr/>
        </p:nvSpPr>
        <p:spPr>
          <a:xfrm>
            <a:off x="1005840" y="3191256"/>
            <a:ext cx="7772400" cy="438912"/>
          </a:xfrm>
          <a:prstGeom prst="rect">
            <a:avLst/>
          </a:prstGeom>
          <a:solidFill>
            <a:srgbClr val="FAFAFB"/>
          </a:solidFill>
          <a:ln/>
        </p:spPr>
      </p:sp>
      <p:sp>
        <p:nvSpPr>
          <p:cNvPr id="115" name="s_h_2"/>
          <p:cNvSpPr/>
          <p:nvPr/>
        </p:nvSpPr>
        <p:spPr>
          <a:xfrm>
            <a:off x="1280160" y="3246120"/>
            <a:ext cx="7498080" cy="201168"/>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詳細提案書のご提示</a:t>
            </a:r>
          </a:p>
        </p:txBody>
      </p:sp>
      <p:sp>
        <p:nvSpPr>
          <p:cNvPr id="116" name="s_d_2"/>
          <p:cNvSpPr/>
          <p:nvPr/>
        </p:nvSpPr>
        <p:spPr>
          <a:xfrm>
            <a:off x="1280160" y="3429000"/>
            <a:ext cx="7498080" cy="18288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スコープ・体制・金額確定版  ／  契約条件の調整</a:t>
            </a:r>
          </a:p>
        </p:txBody>
      </p:sp>
      <p:sp>
        <p:nvSpPr>
          <p:cNvPr id="117" name="s_n_bg_3"/>
          <p:cNvSpPr/>
          <p:nvPr/>
        </p:nvSpPr>
        <p:spPr>
          <a:xfrm>
            <a:off x="365760" y="3666744"/>
            <a:ext cx="640080" cy="438912"/>
          </a:xfrm>
          <a:prstGeom prst="rect">
            <a:avLst/>
          </a:prstGeom>
          <a:solidFill>
            <a:srgbClr val="8B7AB8"/>
          </a:solidFill>
          <a:ln/>
        </p:spPr>
      </p:sp>
      <p:sp>
        <p:nvSpPr>
          <p:cNvPr id="118" name="s_n_3"/>
          <p:cNvSpPr/>
          <p:nvPr/>
        </p:nvSpPr>
        <p:spPr>
          <a:xfrm>
            <a:off x="365760" y="3666744"/>
            <a:ext cx="640080" cy="438912"/>
          </a:xfrm>
          <a:prstGeom prst="rect">
            <a:avLst/>
          </a:prstGeom>
          <a:noFill/>
          <a:ln/>
        </p:spPr>
        <p:txBody>
          <a:bodyPr wrap="square" lIns="0" tIns="0" rIns="0" bIns="0" rtlCol="0" anchor="ctr"/>
          <a:lstStyle/>
          <a:p>
            <a:pPr algn="ctr" indent="0" marL="0">
              <a:buNone/>
            </a:pPr>
            <a:r>
              <a:rPr lang="ja-JP" sz="1800" b="1" dirty="0">
                <a:solidFill>
                  <a:srgbClr val="FFFFFF"/>
                </a:solidFill>
                <a:latin typeface="Georgia"/>
                <a:ea typeface="Georgia"/>
                <a:cs typeface="Georgia"/>
              </a:rPr>
              <a:t>04</a:t>
            </a:r>
          </a:p>
        </p:txBody>
      </p:sp>
      <p:sp>
        <p:nvSpPr>
          <p:cNvPr id="119" name="s_c_bg_3"/>
          <p:cNvSpPr/>
          <p:nvPr/>
        </p:nvSpPr>
        <p:spPr>
          <a:xfrm>
            <a:off x="1005840" y="3666744"/>
            <a:ext cx="7772400" cy="438912"/>
          </a:xfrm>
          <a:prstGeom prst="rect">
            <a:avLst/>
          </a:prstGeom>
          <a:solidFill>
            <a:srgbClr val="FAFAFB"/>
          </a:solidFill>
          <a:ln/>
        </p:spPr>
      </p:sp>
      <p:sp>
        <p:nvSpPr>
          <p:cNvPr id="120" name="s_h_3"/>
          <p:cNvSpPr/>
          <p:nvPr/>
        </p:nvSpPr>
        <p:spPr>
          <a:xfrm>
            <a:off x="1280160" y="3721608"/>
            <a:ext cx="7498080" cy="201168"/>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月額顧問契約の締結</a:t>
            </a:r>
          </a:p>
        </p:txBody>
      </p:sp>
      <p:sp>
        <p:nvSpPr>
          <p:cNvPr id="121" name="s_d_3"/>
          <p:cNvSpPr/>
          <p:nvPr/>
        </p:nvSpPr>
        <p:spPr>
          <a:xfrm>
            <a:off x="1280160" y="3904488"/>
            <a:ext cx="7498080" cy="18288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支援開始  ／  初回定例MTGのセッティング</a:t>
            </a:r>
          </a:p>
        </p:txBody>
      </p:sp>
      <p:sp>
        <p:nvSpPr>
          <p:cNvPr id="122" name="s_n_bg_4"/>
          <p:cNvSpPr/>
          <p:nvPr/>
        </p:nvSpPr>
        <p:spPr>
          <a:xfrm>
            <a:off x="365760" y="4142232"/>
            <a:ext cx="640080" cy="438912"/>
          </a:xfrm>
          <a:prstGeom prst="rect">
            <a:avLst/>
          </a:prstGeom>
          <a:solidFill>
            <a:srgbClr val="8B7AB8"/>
          </a:solidFill>
          <a:ln/>
        </p:spPr>
      </p:sp>
      <p:sp>
        <p:nvSpPr>
          <p:cNvPr id="123" name="s_n_4"/>
          <p:cNvSpPr/>
          <p:nvPr/>
        </p:nvSpPr>
        <p:spPr>
          <a:xfrm>
            <a:off x="365760" y="4142232"/>
            <a:ext cx="640080" cy="438912"/>
          </a:xfrm>
          <a:prstGeom prst="rect">
            <a:avLst/>
          </a:prstGeom>
          <a:noFill/>
          <a:ln/>
        </p:spPr>
        <p:txBody>
          <a:bodyPr wrap="square" lIns="0" tIns="0" rIns="0" bIns="0" rtlCol="0" anchor="ctr"/>
          <a:lstStyle/>
          <a:p>
            <a:pPr algn="ctr" indent="0" marL="0">
              <a:buNone/>
            </a:pPr>
            <a:r>
              <a:rPr lang="ja-JP" sz="1800" b="1" dirty="0">
                <a:solidFill>
                  <a:srgbClr val="FFFFFF"/>
                </a:solidFill>
                <a:latin typeface="Georgia"/>
                <a:ea typeface="Georgia"/>
                <a:cs typeface="Georgia"/>
              </a:rPr>
              <a:t>05</a:t>
            </a:r>
          </a:p>
        </p:txBody>
      </p:sp>
      <p:sp>
        <p:nvSpPr>
          <p:cNvPr id="124" name="s_c_bg_4"/>
          <p:cNvSpPr/>
          <p:nvPr/>
        </p:nvSpPr>
        <p:spPr>
          <a:xfrm>
            <a:off x="1005840" y="4142232"/>
            <a:ext cx="7772400" cy="438912"/>
          </a:xfrm>
          <a:prstGeom prst="rect">
            <a:avLst/>
          </a:prstGeom>
          <a:solidFill>
            <a:srgbClr val="FAFAFB"/>
          </a:solidFill>
          <a:ln/>
        </p:spPr>
      </p:sp>
      <p:sp>
        <p:nvSpPr>
          <p:cNvPr id="125" name="s_h_4"/>
          <p:cNvSpPr/>
          <p:nvPr/>
        </p:nvSpPr>
        <p:spPr>
          <a:xfrm>
            <a:off x="1280160" y="4197096"/>
            <a:ext cx="7498080" cy="201168"/>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プロジェクト型案件の順次着手</a:t>
            </a:r>
          </a:p>
        </p:txBody>
      </p:sp>
      <p:sp>
        <p:nvSpPr>
          <p:cNvPr id="126" name="s_d_4"/>
          <p:cNvSpPr/>
          <p:nvPr/>
        </p:nvSpPr>
        <p:spPr>
          <a:xfrm>
            <a:off x="1280160" y="4379976"/>
            <a:ext cx="7498080" cy="18288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月額顧問開始後のタイミング調整で順次スタート</a:t>
            </a:r>
          </a:p>
        </p:txBody>
      </p:sp>
      <p:sp>
        <p:nvSpPr>
          <p:cNvPr id="127" name="note"/>
          <p:cNvSpPr/>
          <p:nvPr/>
        </p:nvSpPr>
        <p:spPr>
          <a:xfrm>
            <a:off x="365760" y="4709160"/>
            <a:ext cx="8412480" cy="274320"/>
          </a:xfrm>
          <a:prstGeom prst="rect">
            <a:avLst/>
          </a:prstGeom>
          <a:noFill/>
          <a:ln/>
        </p:spPr>
        <p:txBody>
          <a:bodyPr wrap="square" lIns="0" tIns="0" rIns="0" bIns="0" rtlCol="0"/>
          <a:lstStyle/>
          <a:p>
            <a:pPr indent="0" marL="0">
              <a:buNone/>
            </a:pPr>
            <a:r>
              <a:rPr lang="ja-JP" sz="900" i="1" dirty="0">
                <a:solidFill>
                  <a:srgbClr val="8B7AB8"/>
                </a:solidFill>
                <a:latin typeface="Noto Sans JP"/>
                <a:ea typeface="Noto Sans JP"/>
                <a:cs typeface="Noto Sans JP"/>
              </a:rPr>
              <a:t>— ご質問・論点のご指摘はいつでもお気軽にお申し付けください。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COMPANY PROFILE</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14400"/>
            <a:ext cx="3657600" cy="320040"/>
          </a:xfrm>
          <a:prstGeom prst="rect">
            <a:avLst/>
          </a:prstGeom>
          <a:noFill/>
          <a:ln/>
        </p:spPr>
        <p:txBody>
          <a:bodyPr wrap="square" lIns="0" tIns="0" rIns="0" bIns="0" rtlCol="0" anchor="ctr"/>
          <a:lstStyle/>
          <a:p>
            <a:pPr indent="0" marL="0">
              <a:buNone/>
            </a:pPr>
            <a:r>
              <a:rPr lang="en-US" sz="1100" spc="300" kern="0" dirty="0">
                <a:solidFill>
                  <a:srgbClr val="8B7AB8"/>
                </a:solidFill>
                <a:latin typeface="Consolas" pitchFamily="34" charset="0"/>
                <a:ea typeface="Consolas" pitchFamily="34" charset="-122"/>
                <a:cs typeface="Consolas" pitchFamily="34" charset="-120"/>
              </a:rPr>
              <a:t>Company</a:t>
            </a:r>
            <a:endParaRPr lang="en-US" sz="1100" dirty="0"/>
          </a:p>
        </p:txBody>
      </p:sp>
      <p:sp>
        <p:nvSpPr>
          <p:cNvPr id="6" name="Text 3"/>
          <p:cNvSpPr/>
          <p:nvPr/>
        </p:nvSpPr>
        <p:spPr>
          <a:xfrm>
            <a:off x="365760" y="1188720"/>
            <a:ext cx="3657600" cy="822960"/>
          </a:xfrm>
          <a:prstGeom prst="rect">
            <a:avLst/>
          </a:prstGeom>
          <a:noFill/>
          <a:ln/>
        </p:spPr>
        <p:txBody>
          <a:bodyPr wrap="square" lIns="0" tIns="0" rIns="0" bIns="0" rtlCol="0" anchor="ctr"/>
          <a:lstStyle/>
          <a:p>
            <a:pPr indent="0" marL="0">
              <a:buNone/>
            </a:pPr>
            <a:r>
              <a:rPr lang="en-US" sz="3800" b="1" dirty="0">
                <a:solidFill>
                  <a:srgbClr val="3A3A42"/>
                </a:solidFill>
                <a:latin typeface="Noto Sans JP" pitchFamily="34" charset="0"/>
                <a:ea typeface="Noto Sans JP" pitchFamily="34" charset="-122"/>
                <a:cs typeface="Noto Sans JP" pitchFamily="34" charset="-120"/>
              </a:rPr>
              <a:t>会社概要</a:t>
            </a:r>
            <a:endParaRPr lang="en-US" sz="3800" dirty="0"/>
          </a:p>
        </p:txBody>
      </p:sp>
      <p:pic>
        <p:nvPicPr>
          <p:cNvPr id="7" name="Image 1" descr="logo-vertical.png"/>
          <p:cNvPicPr>
            <a:picLocks noChangeAspect="1"/>
          </p:cNvPicPr>
          <p:nvPr/>
        </p:nvPicPr>
        <p:blipFill>
          <a:blip r:embed="rId2"/>
          <a:stretch>
            <a:fillRect/>
          </a:stretch>
        </p:blipFill>
        <p:spPr>
          <a:xfrm>
            <a:off x="457200" y="2468880"/>
            <a:ext cx="2194560" cy="2194560"/>
          </a:xfrm>
          <a:prstGeom prst="rect">
            <a:avLst/>
          </a:prstGeom>
        </p:spPr>
      </p:pic>
      <p:sp>
        <p:nvSpPr>
          <p:cNvPr id="8" name="Text 4"/>
          <p:cNvSpPr/>
          <p:nvPr/>
        </p:nvSpPr>
        <p:spPr>
          <a:xfrm>
            <a:off x="3520440" y="1078992"/>
            <a:ext cx="320040" cy="182880"/>
          </a:xfrm>
          <a:prstGeom prst="rect">
            <a:avLst/>
          </a:prstGeom>
          <a:noFill/>
          <a:ln/>
        </p:spPr>
        <p:txBody>
          <a:bodyPr wrap="square" lIns="0" tIns="0" rIns="0" bIns="0" rtlCol="0" anchor="ctr"/>
          <a:lstStyle/>
          <a:p>
            <a:pPr indent="0" marL="0">
              <a:buNone/>
            </a:pPr>
            <a:r>
              <a:rPr lang="en-US" sz="800" dirty="0">
                <a:solidFill>
                  <a:srgbClr val="8B7AB8"/>
                </a:solidFill>
                <a:latin typeface="Consolas" pitchFamily="34" charset="0"/>
                <a:ea typeface="Consolas" pitchFamily="34" charset="-122"/>
                <a:cs typeface="Consolas" pitchFamily="34" charset="-120"/>
              </a:rPr>
              <a:t>01</a:t>
            </a:r>
            <a:endParaRPr lang="en-US" sz="800" dirty="0"/>
          </a:p>
        </p:txBody>
      </p:sp>
      <p:sp>
        <p:nvSpPr>
          <p:cNvPr id="9" name="Text 5"/>
          <p:cNvSpPr/>
          <p:nvPr/>
        </p:nvSpPr>
        <p:spPr>
          <a:xfrm>
            <a:off x="3520440" y="1280160"/>
            <a:ext cx="1188720" cy="182880"/>
          </a:xfrm>
          <a:prstGeom prst="rect">
            <a:avLst/>
          </a:prstGeom>
          <a:noFill/>
          <a:ln/>
        </p:spPr>
        <p:txBody>
          <a:bodyPr wrap="square" lIns="0" tIns="0" rIns="0" bIns="0" rtlCol="0" anchor="ctr"/>
          <a:lstStyle/>
          <a:p>
            <a:pPr indent="0" marL="0">
              <a:buNone/>
            </a:pPr>
            <a:r>
              <a:rPr lang="en-US" sz="700" spc="200" kern="0" dirty="0">
                <a:solidFill>
                  <a:srgbClr val="9B98A6"/>
                </a:solidFill>
                <a:latin typeface="Consolas" pitchFamily="34" charset="0"/>
                <a:ea typeface="Consolas" pitchFamily="34" charset="-122"/>
                <a:cs typeface="Consolas" pitchFamily="34" charset="-120"/>
              </a:rPr>
              <a:t>COMPANY</a:t>
            </a:r>
            <a:endParaRPr lang="en-US" sz="700" dirty="0"/>
          </a:p>
        </p:txBody>
      </p:sp>
      <p:sp>
        <p:nvSpPr>
          <p:cNvPr id="10" name="Text 6"/>
          <p:cNvSpPr/>
          <p:nvPr/>
        </p:nvSpPr>
        <p:spPr>
          <a:xfrm>
            <a:off x="3931920" y="1078992"/>
            <a:ext cx="1188720" cy="228600"/>
          </a:xfrm>
          <a:prstGeom prst="rect">
            <a:avLst/>
          </a:prstGeom>
          <a:noFill/>
          <a:ln/>
        </p:spPr>
        <p:txBody>
          <a:bodyPr wrap="square" lIns="0" tIns="0" rIns="0" bIns="0" rtlCol="0" anchor="ctr"/>
          <a:lstStyle/>
          <a:p>
            <a:pPr indent="0" marL="0">
              <a:buNone/>
            </a:pPr>
            <a:r>
              <a:rPr lang="en-US" sz="1000" b="1" dirty="0">
                <a:solidFill>
                  <a:srgbClr val="3A3A42"/>
                </a:solidFill>
                <a:latin typeface="Noto Sans JP" pitchFamily="34" charset="0"/>
                <a:ea typeface="Noto Sans JP" pitchFamily="34" charset="-122"/>
                <a:cs typeface="Noto Sans JP" pitchFamily="34" charset="-120"/>
              </a:rPr>
              <a:t>商号</a:t>
            </a:r>
            <a:endParaRPr lang="en-US" sz="1000" dirty="0"/>
          </a:p>
        </p:txBody>
      </p:sp>
      <p:sp>
        <p:nvSpPr>
          <p:cNvPr id="11" name="Text 7"/>
          <p:cNvSpPr/>
          <p:nvPr/>
        </p:nvSpPr>
        <p:spPr>
          <a:xfrm>
            <a:off x="5166360" y="1078992"/>
            <a:ext cx="3657600" cy="457200"/>
          </a:xfrm>
          <a:prstGeom prst="rect">
            <a:avLst/>
          </a:prstGeom>
          <a:noFill/>
          <a:ln/>
        </p:spPr>
        <p:txBody>
          <a:bodyPr wrap="square" lIns="0" tIns="0" rIns="0" bIns="0" rtlCol="0" anchor="ctr"/>
          <a:lstStyle/>
          <a:p>
            <a:pPr indent="0" marL="0">
              <a:buNone/>
            </a:pPr>
            <a:r>
              <a:rPr lang="en-US" sz="1050" dirty="0">
                <a:solidFill>
                  <a:srgbClr val="3A3A42"/>
                </a:solidFill>
                <a:latin typeface="Noto Sans JP" pitchFamily="34" charset="0"/>
                <a:ea typeface="Noto Sans JP" pitchFamily="34" charset="-122"/>
                <a:cs typeface="Noto Sans JP" pitchFamily="34" charset="-120"/>
              </a:rPr>
              <a:t>DXデザインシステム株式会社</a:t>
            </a:r>
            <a:endParaRPr lang="en-US" sz="1050" dirty="0"/>
          </a:p>
        </p:txBody>
      </p:sp>
      <p:sp>
        <p:nvSpPr>
          <p:cNvPr id="12" name="Shape 8"/>
          <p:cNvSpPr/>
          <p:nvPr/>
        </p:nvSpPr>
        <p:spPr>
          <a:xfrm>
            <a:off x="3520440" y="1554480"/>
            <a:ext cx="5257800" cy="0"/>
          </a:xfrm>
          <a:prstGeom prst="line">
            <a:avLst/>
          </a:prstGeom>
          <a:noFill/>
          <a:ln w="6350">
            <a:solidFill>
              <a:srgbClr val="F2F0F5"/>
            </a:solidFill>
            <a:prstDash val="solid"/>
          </a:ln>
        </p:spPr>
      </p:sp>
      <p:sp>
        <p:nvSpPr>
          <p:cNvPr id="13" name="Text 9"/>
          <p:cNvSpPr/>
          <p:nvPr/>
        </p:nvSpPr>
        <p:spPr>
          <a:xfrm>
            <a:off x="3520440" y="1655064"/>
            <a:ext cx="320040" cy="182880"/>
          </a:xfrm>
          <a:prstGeom prst="rect">
            <a:avLst/>
          </a:prstGeom>
          <a:noFill/>
          <a:ln/>
        </p:spPr>
        <p:txBody>
          <a:bodyPr wrap="square" lIns="0" tIns="0" rIns="0" bIns="0" rtlCol="0" anchor="ctr"/>
          <a:lstStyle/>
          <a:p>
            <a:pPr indent="0" marL="0">
              <a:buNone/>
            </a:pPr>
            <a:r>
              <a:rPr lang="en-US" sz="800" dirty="0">
                <a:solidFill>
                  <a:srgbClr val="8B7AB8"/>
                </a:solidFill>
                <a:latin typeface="Consolas" pitchFamily="34" charset="0"/>
                <a:ea typeface="Consolas" pitchFamily="34" charset="-122"/>
                <a:cs typeface="Consolas" pitchFamily="34" charset="-120"/>
              </a:rPr>
              <a:t>02</a:t>
            </a:r>
            <a:endParaRPr lang="en-US" sz="800" dirty="0"/>
          </a:p>
        </p:txBody>
      </p:sp>
      <p:sp>
        <p:nvSpPr>
          <p:cNvPr id="14" name="Text 10"/>
          <p:cNvSpPr/>
          <p:nvPr/>
        </p:nvSpPr>
        <p:spPr>
          <a:xfrm>
            <a:off x="3520440" y="1856232"/>
            <a:ext cx="1188720" cy="182880"/>
          </a:xfrm>
          <a:prstGeom prst="rect">
            <a:avLst/>
          </a:prstGeom>
          <a:noFill/>
          <a:ln/>
        </p:spPr>
        <p:txBody>
          <a:bodyPr wrap="square" lIns="0" tIns="0" rIns="0" bIns="0" rtlCol="0" anchor="ctr"/>
          <a:lstStyle/>
          <a:p>
            <a:pPr indent="0" marL="0">
              <a:buNone/>
            </a:pPr>
            <a:r>
              <a:rPr lang="en-US" sz="700" spc="200" kern="0" dirty="0">
                <a:solidFill>
                  <a:srgbClr val="9B98A6"/>
                </a:solidFill>
                <a:latin typeface="Consolas" pitchFamily="34" charset="0"/>
                <a:ea typeface="Consolas" pitchFamily="34" charset="-122"/>
                <a:cs typeface="Consolas" pitchFamily="34" charset="-120"/>
              </a:rPr>
              <a:t>REPRESENTATIVE</a:t>
            </a:r>
            <a:endParaRPr lang="en-US" sz="700" dirty="0"/>
          </a:p>
        </p:txBody>
      </p:sp>
      <p:sp>
        <p:nvSpPr>
          <p:cNvPr id="15" name="Text 11"/>
          <p:cNvSpPr/>
          <p:nvPr/>
        </p:nvSpPr>
        <p:spPr>
          <a:xfrm>
            <a:off x="3931920" y="1655064"/>
            <a:ext cx="1188720" cy="228600"/>
          </a:xfrm>
          <a:prstGeom prst="rect">
            <a:avLst/>
          </a:prstGeom>
          <a:noFill/>
          <a:ln/>
        </p:spPr>
        <p:txBody>
          <a:bodyPr wrap="square" lIns="0" tIns="0" rIns="0" bIns="0" rtlCol="0" anchor="ctr"/>
          <a:lstStyle/>
          <a:p>
            <a:pPr indent="0" marL="0">
              <a:buNone/>
            </a:pPr>
            <a:r>
              <a:rPr lang="en-US" sz="1000" b="1" dirty="0">
                <a:solidFill>
                  <a:srgbClr val="3A3A42"/>
                </a:solidFill>
                <a:latin typeface="Noto Sans JP" pitchFamily="34" charset="0"/>
                <a:ea typeface="Noto Sans JP" pitchFamily="34" charset="-122"/>
                <a:cs typeface="Noto Sans JP" pitchFamily="34" charset="-120"/>
              </a:rPr>
              <a:t>代表者</a:t>
            </a:r>
            <a:endParaRPr lang="en-US" sz="1000" dirty="0"/>
          </a:p>
        </p:txBody>
      </p:sp>
      <p:sp>
        <p:nvSpPr>
          <p:cNvPr id="16" name="Text 12"/>
          <p:cNvSpPr/>
          <p:nvPr/>
        </p:nvSpPr>
        <p:spPr>
          <a:xfrm>
            <a:off x="5166360" y="1655064"/>
            <a:ext cx="3657600" cy="457200"/>
          </a:xfrm>
          <a:prstGeom prst="rect">
            <a:avLst/>
          </a:prstGeom>
          <a:noFill/>
          <a:ln/>
        </p:spPr>
        <p:txBody>
          <a:bodyPr wrap="square" lIns="0" tIns="0" rIns="0" bIns="0" rtlCol="0" anchor="ctr"/>
          <a:lstStyle/>
          <a:p>
            <a:pPr indent="0" marL="0">
              <a:buNone/>
            </a:pPr>
            <a:r>
              <a:rPr lang="en-US" sz="1050" dirty="0">
                <a:solidFill>
                  <a:srgbClr val="3A3A42"/>
                </a:solidFill>
                <a:latin typeface="Noto Sans JP" pitchFamily="34" charset="0"/>
                <a:ea typeface="Noto Sans JP" pitchFamily="34" charset="-122"/>
                <a:cs typeface="Noto Sans JP" pitchFamily="34" charset="-120"/>
              </a:rPr>
              <a:t>代表取締役　佐々木 拓</a:t>
            </a:r>
            <a:endParaRPr lang="en-US" sz="1050" dirty="0"/>
          </a:p>
        </p:txBody>
      </p:sp>
      <p:sp>
        <p:nvSpPr>
          <p:cNvPr id="17" name="Shape 13"/>
          <p:cNvSpPr/>
          <p:nvPr/>
        </p:nvSpPr>
        <p:spPr>
          <a:xfrm>
            <a:off x="3520440" y="2130552"/>
            <a:ext cx="5257800" cy="0"/>
          </a:xfrm>
          <a:prstGeom prst="line">
            <a:avLst/>
          </a:prstGeom>
          <a:noFill/>
          <a:ln w="6350">
            <a:solidFill>
              <a:srgbClr val="F2F0F5"/>
            </a:solidFill>
            <a:prstDash val="solid"/>
          </a:ln>
        </p:spPr>
      </p:sp>
      <p:sp>
        <p:nvSpPr>
          <p:cNvPr id="18" name="Text 14"/>
          <p:cNvSpPr/>
          <p:nvPr/>
        </p:nvSpPr>
        <p:spPr>
          <a:xfrm>
            <a:off x="3520440" y="2231136"/>
            <a:ext cx="320040" cy="182880"/>
          </a:xfrm>
          <a:prstGeom prst="rect">
            <a:avLst/>
          </a:prstGeom>
          <a:noFill/>
          <a:ln/>
        </p:spPr>
        <p:txBody>
          <a:bodyPr wrap="square" lIns="0" tIns="0" rIns="0" bIns="0" rtlCol="0" anchor="ctr"/>
          <a:lstStyle/>
          <a:p>
            <a:pPr indent="0" marL="0">
              <a:buNone/>
            </a:pPr>
            <a:r>
              <a:rPr lang="en-US" sz="800" dirty="0">
                <a:solidFill>
                  <a:srgbClr val="8B7AB8"/>
                </a:solidFill>
                <a:latin typeface="Consolas" pitchFamily="34" charset="0"/>
                <a:ea typeface="Consolas" pitchFamily="34" charset="-122"/>
                <a:cs typeface="Consolas" pitchFamily="34" charset="-120"/>
              </a:rPr>
              <a:t>03</a:t>
            </a:r>
            <a:endParaRPr lang="en-US" sz="800" dirty="0"/>
          </a:p>
        </p:txBody>
      </p:sp>
      <p:sp>
        <p:nvSpPr>
          <p:cNvPr id="19" name="Text 15"/>
          <p:cNvSpPr/>
          <p:nvPr/>
        </p:nvSpPr>
        <p:spPr>
          <a:xfrm>
            <a:off x="3520440" y="2432304"/>
            <a:ext cx="1188720" cy="182880"/>
          </a:xfrm>
          <a:prstGeom prst="rect">
            <a:avLst/>
          </a:prstGeom>
          <a:noFill/>
          <a:ln/>
        </p:spPr>
        <p:txBody>
          <a:bodyPr wrap="square" lIns="0" tIns="0" rIns="0" bIns="0" rtlCol="0" anchor="ctr"/>
          <a:lstStyle/>
          <a:p>
            <a:pPr indent="0" marL="0">
              <a:buNone/>
            </a:pPr>
            <a:r>
              <a:rPr lang="en-US" sz="700" spc="200" kern="0" dirty="0">
                <a:solidFill>
                  <a:srgbClr val="9B98A6"/>
                </a:solidFill>
                <a:latin typeface="Consolas" pitchFamily="34" charset="0"/>
                <a:ea typeface="Consolas" pitchFamily="34" charset="-122"/>
                <a:cs typeface="Consolas" pitchFamily="34" charset="-120"/>
              </a:rPr>
              <a:t>ADDRESS</a:t>
            </a:r>
            <a:endParaRPr lang="en-US" sz="700" dirty="0"/>
          </a:p>
        </p:txBody>
      </p:sp>
      <p:sp>
        <p:nvSpPr>
          <p:cNvPr id="20" name="Text 16"/>
          <p:cNvSpPr/>
          <p:nvPr/>
        </p:nvSpPr>
        <p:spPr>
          <a:xfrm>
            <a:off x="3931920" y="2231136"/>
            <a:ext cx="1188720" cy="228600"/>
          </a:xfrm>
          <a:prstGeom prst="rect">
            <a:avLst/>
          </a:prstGeom>
          <a:noFill/>
          <a:ln/>
        </p:spPr>
        <p:txBody>
          <a:bodyPr wrap="square" lIns="0" tIns="0" rIns="0" bIns="0" rtlCol="0" anchor="ctr"/>
          <a:lstStyle/>
          <a:p>
            <a:pPr indent="0" marL="0">
              <a:buNone/>
            </a:pPr>
            <a:r>
              <a:rPr lang="en-US" sz="1000" b="1" dirty="0">
                <a:solidFill>
                  <a:srgbClr val="3A3A42"/>
                </a:solidFill>
                <a:latin typeface="Noto Sans JP" pitchFamily="34" charset="0"/>
                <a:ea typeface="Noto Sans JP" pitchFamily="34" charset="-122"/>
                <a:cs typeface="Noto Sans JP" pitchFamily="34" charset="-120"/>
              </a:rPr>
              <a:t>所在地</a:t>
            </a:r>
            <a:endParaRPr lang="en-US" sz="1000" dirty="0"/>
          </a:p>
        </p:txBody>
      </p:sp>
      <p:sp>
        <p:nvSpPr>
          <p:cNvPr id="21" name="Text 17"/>
          <p:cNvSpPr/>
          <p:nvPr/>
        </p:nvSpPr>
        <p:spPr>
          <a:xfrm>
            <a:off x="5166360" y="2231136"/>
            <a:ext cx="3657600" cy="457200"/>
          </a:xfrm>
          <a:prstGeom prst="rect">
            <a:avLst/>
          </a:prstGeom>
          <a:noFill/>
          <a:ln/>
        </p:spPr>
        <p:txBody>
          <a:bodyPr wrap="square" lIns="0" tIns="0" rIns="0" bIns="0" rtlCol="0" anchor="ctr"/>
          <a:lstStyle/>
          <a:p>
            <a:pPr indent="0" marL="0">
              <a:buNone/>
            </a:pPr>
            <a:r>
              <a:rPr lang="en-US" sz="1050" dirty="0">
                <a:solidFill>
                  <a:srgbClr val="3A3A42"/>
                </a:solidFill>
                <a:latin typeface="Noto Sans JP" pitchFamily="34" charset="0"/>
                <a:ea typeface="Noto Sans JP" pitchFamily="34" charset="-122"/>
                <a:cs typeface="Noto Sans JP" pitchFamily="34" charset="-120"/>
              </a:rPr>
              <a:t>〒101-0051  東京都千代田区神田神保町2-48  3510ビル202</a:t>
            </a:r>
            <a:endParaRPr lang="en-US" sz="1050" dirty="0"/>
          </a:p>
        </p:txBody>
      </p:sp>
      <p:sp>
        <p:nvSpPr>
          <p:cNvPr id="22" name="Shape 18"/>
          <p:cNvSpPr/>
          <p:nvPr/>
        </p:nvSpPr>
        <p:spPr>
          <a:xfrm>
            <a:off x="3520440" y="2706624"/>
            <a:ext cx="5257800" cy="0"/>
          </a:xfrm>
          <a:prstGeom prst="line">
            <a:avLst/>
          </a:prstGeom>
          <a:noFill/>
          <a:ln w="6350">
            <a:solidFill>
              <a:srgbClr val="F2F0F5"/>
            </a:solidFill>
            <a:prstDash val="solid"/>
          </a:ln>
        </p:spPr>
      </p:sp>
      <p:sp>
        <p:nvSpPr>
          <p:cNvPr id="23" name="Text 19"/>
          <p:cNvSpPr/>
          <p:nvPr/>
        </p:nvSpPr>
        <p:spPr>
          <a:xfrm>
            <a:off x="3520440" y="2807208"/>
            <a:ext cx="320040" cy="182880"/>
          </a:xfrm>
          <a:prstGeom prst="rect">
            <a:avLst/>
          </a:prstGeom>
          <a:noFill/>
          <a:ln/>
        </p:spPr>
        <p:txBody>
          <a:bodyPr wrap="square" lIns="0" tIns="0" rIns="0" bIns="0" rtlCol="0" anchor="ctr"/>
          <a:lstStyle/>
          <a:p>
            <a:pPr indent="0" marL="0">
              <a:buNone/>
            </a:pPr>
            <a:r>
              <a:rPr lang="en-US" sz="800" dirty="0">
                <a:solidFill>
                  <a:srgbClr val="8B7AB8"/>
                </a:solidFill>
                <a:latin typeface="Consolas" pitchFamily="34" charset="0"/>
                <a:ea typeface="Consolas" pitchFamily="34" charset="-122"/>
                <a:cs typeface="Consolas" pitchFamily="34" charset="-120"/>
              </a:rPr>
              <a:t>04</a:t>
            </a:r>
            <a:endParaRPr lang="en-US" sz="800" dirty="0"/>
          </a:p>
        </p:txBody>
      </p:sp>
      <p:sp>
        <p:nvSpPr>
          <p:cNvPr id="24" name="Text 20"/>
          <p:cNvSpPr/>
          <p:nvPr/>
        </p:nvSpPr>
        <p:spPr>
          <a:xfrm>
            <a:off x="3520440" y="3008376"/>
            <a:ext cx="1188720" cy="182880"/>
          </a:xfrm>
          <a:prstGeom prst="rect">
            <a:avLst/>
          </a:prstGeom>
          <a:noFill/>
          <a:ln/>
        </p:spPr>
        <p:txBody>
          <a:bodyPr wrap="square" lIns="0" tIns="0" rIns="0" bIns="0" rtlCol="0" anchor="ctr"/>
          <a:lstStyle/>
          <a:p>
            <a:pPr indent="0" marL="0">
              <a:buNone/>
            </a:pPr>
            <a:r>
              <a:rPr lang="en-US" sz="700" spc="200" kern="0" dirty="0">
                <a:solidFill>
                  <a:srgbClr val="9B98A6"/>
                </a:solidFill>
                <a:latin typeface="Consolas" pitchFamily="34" charset="0"/>
                <a:ea typeface="Consolas" pitchFamily="34" charset="-122"/>
                <a:cs typeface="Consolas" pitchFamily="34" charset="-120"/>
              </a:rPr>
              <a:t>FOUNDED</a:t>
            </a:r>
            <a:endParaRPr lang="en-US" sz="700" dirty="0"/>
          </a:p>
        </p:txBody>
      </p:sp>
      <p:sp>
        <p:nvSpPr>
          <p:cNvPr id="25" name="Text 21"/>
          <p:cNvSpPr/>
          <p:nvPr/>
        </p:nvSpPr>
        <p:spPr>
          <a:xfrm>
            <a:off x="3931920" y="2807208"/>
            <a:ext cx="1188720" cy="228600"/>
          </a:xfrm>
          <a:prstGeom prst="rect">
            <a:avLst/>
          </a:prstGeom>
          <a:noFill/>
          <a:ln/>
        </p:spPr>
        <p:txBody>
          <a:bodyPr wrap="square" lIns="0" tIns="0" rIns="0" bIns="0" rtlCol="0" anchor="ctr"/>
          <a:lstStyle/>
          <a:p>
            <a:pPr indent="0" marL="0">
              <a:buNone/>
            </a:pPr>
            <a:r>
              <a:rPr lang="en-US" sz="1000" b="1" dirty="0">
                <a:solidFill>
                  <a:srgbClr val="3A3A42"/>
                </a:solidFill>
                <a:latin typeface="Noto Sans JP" pitchFamily="34" charset="0"/>
                <a:ea typeface="Noto Sans JP" pitchFamily="34" charset="-122"/>
                <a:cs typeface="Noto Sans JP" pitchFamily="34" charset="-120"/>
              </a:rPr>
              <a:t>設立</a:t>
            </a:r>
            <a:endParaRPr lang="en-US" sz="1000" dirty="0"/>
          </a:p>
        </p:txBody>
      </p:sp>
      <p:sp>
        <p:nvSpPr>
          <p:cNvPr id="26" name="Text 22"/>
          <p:cNvSpPr/>
          <p:nvPr/>
        </p:nvSpPr>
        <p:spPr>
          <a:xfrm>
            <a:off x="5166360" y="2807208"/>
            <a:ext cx="3657600" cy="457200"/>
          </a:xfrm>
          <a:prstGeom prst="rect">
            <a:avLst/>
          </a:prstGeom>
          <a:noFill/>
          <a:ln/>
        </p:spPr>
        <p:txBody>
          <a:bodyPr wrap="square" lIns="0" tIns="0" rIns="0" bIns="0" rtlCol="0" anchor="ctr"/>
          <a:lstStyle/>
          <a:p>
            <a:pPr indent="0" marL="0">
              <a:buNone/>
            </a:pPr>
            <a:r>
              <a:rPr lang="en-US" sz="1050" dirty="0">
                <a:solidFill>
                  <a:srgbClr val="3A3A42"/>
                </a:solidFill>
                <a:latin typeface="Noto Sans JP" pitchFamily="34" charset="0"/>
                <a:ea typeface="Noto Sans JP" pitchFamily="34" charset="-122"/>
                <a:cs typeface="Noto Sans JP" pitchFamily="34" charset="-120"/>
              </a:rPr>
              <a:t>2024年10月</a:t>
            </a:r>
            <a:endParaRPr lang="en-US" sz="1050" dirty="0"/>
          </a:p>
        </p:txBody>
      </p:sp>
      <p:sp>
        <p:nvSpPr>
          <p:cNvPr id="27" name="Shape 23"/>
          <p:cNvSpPr/>
          <p:nvPr/>
        </p:nvSpPr>
        <p:spPr>
          <a:xfrm>
            <a:off x="3520440" y="3282696"/>
            <a:ext cx="5257800" cy="0"/>
          </a:xfrm>
          <a:prstGeom prst="line">
            <a:avLst/>
          </a:prstGeom>
          <a:noFill/>
          <a:ln w="6350">
            <a:solidFill>
              <a:srgbClr val="F2F0F5"/>
            </a:solidFill>
            <a:prstDash val="solid"/>
          </a:ln>
        </p:spPr>
      </p:sp>
      <p:sp>
        <p:nvSpPr>
          <p:cNvPr id="28" name="Text 24"/>
          <p:cNvSpPr/>
          <p:nvPr/>
        </p:nvSpPr>
        <p:spPr>
          <a:xfrm>
            <a:off x="3520440" y="3383280"/>
            <a:ext cx="320040" cy="182880"/>
          </a:xfrm>
          <a:prstGeom prst="rect">
            <a:avLst/>
          </a:prstGeom>
          <a:noFill/>
          <a:ln/>
        </p:spPr>
        <p:txBody>
          <a:bodyPr wrap="square" lIns="0" tIns="0" rIns="0" bIns="0" rtlCol="0" anchor="ctr"/>
          <a:lstStyle/>
          <a:p>
            <a:pPr indent="0" marL="0">
              <a:buNone/>
            </a:pPr>
            <a:r>
              <a:rPr lang="en-US" sz="800" dirty="0">
                <a:solidFill>
                  <a:srgbClr val="8B7AB8"/>
                </a:solidFill>
                <a:latin typeface="Consolas" pitchFamily="34" charset="0"/>
                <a:ea typeface="Consolas" pitchFamily="34" charset="-122"/>
                <a:cs typeface="Consolas" pitchFamily="34" charset="-120"/>
              </a:rPr>
              <a:t>05</a:t>
            </a:r>
            <a:endParaRPr lang="en-US" sz="800" dirty="0"/>
          </a:p>
        </p:txBody>
      </p:sp>
      <p:sp>
        <p:nvSpPr>
          <p:cNvPr id="29" name="Text 25"/>
          <p:cNvSpPr/>
          <p:nvPr/>
        </p:nvSpPr>
        <p:spPr>
          <a:xfrm>
            <a:off x="3520440" y="3584448"/>
            <a:ext cx="1188720" cy="182880"/>
          </a:xfrm>
          <a:prstGeom prst="rect">
            <a:avLst/>
          </a:prstGeom>
          <a:noFill/>
          <a:ln/>
        </p:spPr>
        <p:txBody>
          <a:bodyPr wrap="square" lIns="0" tIns="0" rIns="0" bIns="0" rtlCol="0" anchor="ctr"/>
          <a:lstStyle/>
          <a:p>
            <a:pPr indent="0" marL="0">
              <a:buNone/>
            </a:pPr>
            <a:r>
              <a:rPr lang="en-US" sz="700" spc="200" kern="0" dirty="0">
                <a:solidFill>
                  <a:srgbClr val="9B98A6"/>
                </a:solidFill>
                <a:latin typeface="Consolas" pitchFamily="34" charset="0"/>
                <a:ea typeface="Consolas" pitchFamily="34" charset="-122"/>
                <a:cs typeface="Consolas" pitchFamily="34" charset="-120"/>
              </a:rPr>
              <a:t>SERVICES</a:t>
            </a:r>
            <a:endParaRPr lang="en-US" sz="700" dirty="0"/>
          </a:p>
        </p:txBody>
      </p:sp>
      <p:sp>
        <p:nvSpPr>
          <p:cNvPr id="30" name="Text 26"/>
          <p:cNvSpPr/>
          <p:nvPr/>
        </p:nvSpPr>
        <p:spPr>
          <a:xfrm>
            <a:off x="3931920" y="3383280"/>
            <a:ext cx="1188720" cy="228600"/>
          </a:xfrm>
          <a:prstGeom prst="rect">
            <a:avLst/>
          </a:prstGeom>
          <a:noFill/>
          <a:ln/>
        </p:spPr>
        <p:txBody>
          <a:bodyPr wrap="square" lIns="0" tIns="0" rIns="0" bIns="0" rtlCol="0" anchor="ctr"/>
          <a:lstStyle/>
          <a:p>
            <a:pPr indent="0" marL="0">
              <a:buNone/>
            </a:pPr>
            <a:r>
              <a:rPr lang="en-US" sz="1000" b="1" dirty="0">
                <a:solidFill>
                  <a:srgbClr val="3A3A42"/>
                </a:solidFill>
                <a:latin typeface="Noto Sans JP" pitchFamily="34" charset="0"/>
                <a:ea typeface="Noto Sans JP" pitchFamily="34" charset="-122"/>
                <a:cs typeface="Noto Sans JP" pitchFamily="34" charset="-120"/>
              </a:rPr>
              <a:t>事業内容</a:t>
            </a:r>
            <a:endParaRPr lang="en-US" sz="1000" dirty="0"/>
          </a:p>
        </p:txBody>
      </p:sp>
      <p:sp>
        <p:nvSpPr>
          <p:cNvPr id="31" name="Text 27"/>
          <p:cNvSpPr/>
          <p:nvPr/>
        </p:nvSpPr>
        <p:spPr>
          <a:xfrm>
            <a:off x="5166360" y="3383280"/>
            <a:ext cx="3657600" cy="457200"/>
          </a:xfrm>
          <a:prstGeom prst="rect">
            <a:avLst/>
          </a:prstGeom>
          <a:noFill/>
          <a:ln/>
        </p:spPr>
        <p:txBody>
          <a:bodyPr wrap="square" lIns="0" tIns="0" rIns="0" bIns="0" rtlCol="0" anchor="ctr"/>
          <a:lstStyle/>
          <a:p>
            <a:pPr indent="0" marL="0">
              <a:buNone/>
            </a:pPr>
            <a:r>
              <a:rPr lang="en-US" sz="1050" dirty="0">
                <a:solidFill>
                  <a:srgbClr val="3A3A42"/>
                </a:solidFill>
                <a:latin typeface="Noto Sans JP" pitchFamily="34" charset="0"/>
                <a:ea typeface="Noto Sans JP" pitchFamily="34" charset="-122"/>
                <a:cs typeface="Noto Sans JP" pitchFamily="34" charset="-120"/>
              </a:rPr>
              <a:t>DXコンサルティング／AI教育・人材育成／社内ツール開発</a:t>
            </a:r>
            <a:endParaRPr lang="en-US" sz="1050" dirty="0"/>
          </a:p>
        </p:txBody>
      </p:sp>
      <p:sp>
        <p:nvSpPr>
          <p:cNvPr id="32" name="Shape 28"/>
          <p:cNvSpPr/>
          <p:nvPr/>
        </p:nvSpPr>
        <p:spPr>
          <a:xfrm>
            <a:off x="3520440" y="3858768"/>
            <a:ext cx="5257800" cy="0"/>
          </a:xfrm>
          <a:prstGeom prst="line">
            <a:avLst/>
          </a:prstGeom>
          <a:noFill/>
          <a:ln w="6350">
            <a:solidFill>
              <a:srgbClr val="F2F0F5"/>
            </a:solidFill>
            <a:prstDash val="solid"/>
          </a:ln>
        </p:spPr>
      </p:sp>
      <p:sp>
        <p:nvSpPr>
          <p:cNvPr id="33" name="Text 29"/>
          <p:cNvSpPr/>
          <p:nvPr/>
        </p:nvSpPr>
        <p:spPr>
          <a:xfrm>
            <a:off x="3520440" y="3959352"/>
            <a:ext cx="320040" cy="182880"/>
          </a:xfrm>
          <a:prstGeom prst="rect">
            <a:avLst/>
          </a:prstGeom>
          <a:noFill/>
          <a:ln/>
        </p:spPr>
        <p:txBody>
          <a:bodyPr wrap="square" lIns="0" tIns="0" rIns="0" bIns="0" rtlCol="0" anchor="ctr"/>
          <a:lstStyle/>
          <a:p>
            <a:pPr indent="0" marL="0">
              <a:buNone/>
            </a:pPr>
            <a:r>
              <a:rPr lang="en-US" sz="800" dirty="0">
                <a:solidFill>
                  <a:srgbClr val="8B7AB8"/>
                </a:solidFill>
                <a:latin typeface="Consolas" pitchFamily="34" charset="0"/>
                <a:ea typeface="Consolas" pitchFamily="34" charset="-122"/>
                <a:cs typeface="Consolas" pitchFamily="34" charset="-120"/>
              </a:rPr>
              <a:t>06</a:t>
            </a:r>
            <a:endParaRPr lang="en-US" sz="800" dirty="0"/>
          </a:p>
        </p:txBody>
      </p:sp>
      <p:sp>
        <p:nvSpPr>
          <p:cNvPr id="34" name="Text 30"/>
          <p:cNvSpPr/>
          <p:nvPr/>
        </p:nvSpPr>
        <p:spPr>
          <a:xfrm>
            <a:off x="3520440" y="4160520"/>
            <a:ext cx="1188720" cy="182880"/>
          </a:xfrm>
          <a:prstGeom prst="rect">
            <a:avLst/>
          </a:prstGeom>
          <a:noFill/>
          <a:ln/>
        </p:spPr>
        <p:txBody>
          <a:bodyPr wrap="square" lIns="0" tIns="0" rIns="0" bIns="0" rtlCol="0" anchor="ctr"/>
          <a:lstStyle/>
          <a:p>
            <a:pPr indent="0" marL="0">
              <a:buNone/>
            </a:pPr>
            <a:r>
              <a:rPr lang="en-US" sz="700" spc="200" kern="0" dirty="0">
                <a:solidFill>
                  <a:srgbClr val="9B98A6"/>
                </a:solidFill>
                <a:latin typeface="Consolas" pitchFamily="34" charset="0"/>
                <a:ea typeface="Consolas" pitchFamily="34" charset="-122"/>
                <a:cs typeface="Consolas" pitchFamily="34" charset="-120"/>
              </a:rPr>
              <a:t>URL</a:t>
            </a:r>
            <a:endParaRPr lang="en-US" sz="700" dirty="0"/>
          </a:p>
        </p:txBody>
      </p:sp>
      <p:sp>
        <p:nvSpPr>
          <p:cNvPr id="35" name="Text 31"/>
          <p:cNvSpPr/>
          <p:nvPr/>
        </p:nvSpPr>
        <p:spPr>
          <a:xfrm>
            <a:off x="3931920" y="3959352"/>
            <a:ext cx="1188720" cy="228600"/>
          </a:xfrm>
          <a:prstGeom prst="rect">
            <a:avLst/>
          </a:prstGeom>
          <a:noFill/>
          <a:ln/>
        </p:spPr>
        <p:txBody>
          <a:bodyPr wrap="square" lIns="0" tIns="0" rIns="0" bIns="0" rtlCol="0" anchor="ctr"/>
          <a:lstStyle/>
          <a:p>
            <a:pPr indent="0" marL="0">
              <a:buNone/>
            </a:pPr>
            <a:r>
              <a:rPr lang="en-US" sz="1000" b="1" dirty="0">
                <a:solidFill>
                  <a:srgbClr val="3A3A42"/>
                </a:solidFill>
                <a:latin typeface="Noto Sans JP" pitchFamily="34" charset="0"/>
                <a:ea typeface="Noto Sans JP" pitchFamily="34" charset="-122"/>
                <a:cs typeface="Noto Sans JP" pitchFamily="34" charset="-120"/>
              </a:rPr>
              <a:t>Webサイト</a:t>
            </a:r>
            <a:endParaRPr lang="en-US" sz="1000" dirty="0"/>
          </a:p>
        </p:txBody>
      </p:sp>
      <p:sp>
        <p:nvSpPr>
          <p:cNvPr id="36" name="Text 32"/>
          <p:cNvSpPr/>
          <p:nvPr/>
        </p:nvSpPr>
        <p:spPr>
          <a:xfrm>
            <a:off x="5166360" y="3959352"/>
            <a:ext cx="3657600" cy="457200"/>
          </a:xfrm>
          <a:prstGeom prst="rect">
            <a:avLst/>
          </a:prstGeom>
          <a:noFill/>
          <a:ln/>
        </p:spPr>
        <p:txBody>
          <a:bodyPr wrap="square" lIns="0" tIns="0" rIns="0" bIns="0" rtlCol="0" anchor="ctr"/>
          <a:lstStyle/>
          <a:p>
            <a:pPr indent="0" marL="0">
              <a:buNone/>
            </a:pPr>
            <a:r>
              <a:rPr lang="en-US" sz="1050" dirty="0">
                <a:solidFill>
                  <a:srgbClr val="3A3A42"/>
                </a:solidFill>
                <a:latin typeface="Noto Sans JP" pitchFamily="34" charset="0"/>
                <a:ea typeface="Noto Sans JP" pitchFamily="34" charset="-122"/>
                <a:cs typeface="Noto Sans JP" pitchFamily="34" charset="-120"/>
              </a:rPr>
              <a:t>https://sys.dx-design.co.jp/</a:t>
            </a:r>
            <a:endParaRPr lang="en-US" sz="1050" dirty="0"/>
          </a:p>
        </p:txBody>
      </p:sp>
      <p:sp>
        <p:nvSpPr>
          <p:cNvPr id="37" name="Text 33"/>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17 / 18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DISCLAIMER</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14400"/>
            <a:ext cx="3657600" cy="274320"/>
          </a:xfrm>
          <a:prstGeom prst="rect">
            <a:avLst/>
          </a:prstGeom>
          <a:noFill/>
          <a:ln/>
        </p:spPr>
        <p:txBody>
          <a:bodyPr wrap="square" lIns="0" tIns="0" rIns="0" bIns="0" rtlCol="0" anchor="ctr"/>
          <a:lstStyle/>
          <a:p>
            <a:pPr indent="0" marL="0">
              <a:buNone/>
            </a:pPr>
            <a:r>
              <a:rPr lang="en-US" sz="1000" spc="300" kern="0" dirty="0">
                <a:solidFill>
                  <a:srgbClr val="8B7AB8"/>
                </a:solidFill>
                <a:latin typeface="Consolas" pitchFamily="34" charset="0"/>
                <a:ea typeface="Consolas" pitchFamily="34" charset="-122"/>
                <a:cs typeface="Consolas" pitchFamily="34" charset="-120"/>
              </a:rPr>
              <a:t>Disclaimer</a:t>
            </a:r>
            <a:endParaRPr lang="en-US" sz="1000" dirty="0"/>
          </a:p>
        </p:txBody>
      </p:sp>
      <p:sp>
        <p:nvSpPr>
          <p:cNvPr id="6" name="Text 3"/>
          <p:cNvSpPr/>
          <p:nvPr/>
        </p:nvSpPr>
        <p:spPr>
          <a:xfrm>
            <a:off x="365760" y="1188720"/>
            <a:ext cx="4572000" cy="822960"/>
          </a:xfrm>
          <a:prstGeom prst="rect">
            <a:avLst/>
          </a:prstGeom>
          <a:noFill/>
          <a:ln/>
        </p:spPr>
        <p:txBody>
          <a:bodyPr wrap="square" lIns="0" tIns="0" rIns="0" bIns="0" rtlCol="0" anchor="ctr"/>
          <a:lstStyle/>
          <a:p>
            <a:pPr indent="0" marL="0">
              <a:buNone/>
            </a:pPr>
            <a:r>
              <a:rPr lang="en-US" sz="3800" b="1" dirty="0">
                <a:solidFill>
                  <a:srgbClr val="3A3A42"/>
                </a:solidFill>
                <a:latin typeface="Noto Sans JP" pitchFamily="34" charset="0"/>
                <a:ea typeface="Noto Sans JP" pitchFamily="34" charset="-122"/>
                <a:cs typeface="Noto Sans JP" pitchFamily="34" charset="-120"/>
              </a:rPr>
              <a:t>免責事項</a:t>
            </a:r>
            <a:endParaRPr lang="en-US" sz="3800" dirty="0"/>
          </a:p>
        </p:txBody>
      </p:sp>
      <p:sp>
        <p:nvSpPr>
          <p:cNvPr id="7" name="Text 4"/>
          <p:cNvSpPr/>
          <p:nvPr/>
        </p:nvSpPr>
        <p:spPr>
          <a:xfrm>
            <a:off x="365760" y="2423160"/>
            <a:ext cx="731520" cy="228600"/>
          </a:xfrm>
          <a:prstGeom prst="rect">
            <a:avLst/>
          </a:prstGeom>
          <a:noFill/>
          <a:ln/>
        </p:spPr>
        <p:txBody>
          <a:bodyPr wrap="square" lIns="0" tIns="0" rIns="0" bIns="0" rtlCol="0" anchor="ctr"/>
          <a:lstStyle/>
          <a:p>
            <a:pPr indent="0" marL="0">
              <a:buNone/>
            </a:pPr>
            <a:r>
              <a:rPr lang="en-US" sz="1000" b="1" dirty="0">
                <a:solidFill>
                  <a:srgbClr val="8B7AB8"/>
                </a:solidFill>
                <a:latin typeface="Consolas" pitchFamily="34" charset="0"/>
                <a:ea typeface="Consolas" pitchFamily="34" charset="-122"/>
                <a:cs typeface="Consolas" pitchFamily="34" charset="-120"/>
              </a:rPr>
              <a:t>§1</a:t>
            </a:r>
            <a:endParaRPr lang="en-US" sz="1000" dirty="0"/>
          </a:p>
        </p:txBody>
      </p:sp>
      <p:sp>
        <p:nvSpPr>
          <p:cNvPr id="8" name="Text 5"/>
          <p:cNvSpPr/>
          <p:nvPr/>
        </p:nvSpPr>
        <p:spPr>
          <a:xfrm>
            <a:off x="365760" y="2697480"/>
            <a:ext cx="2743200" cy="274320"/>
          </a:xfrm>
          <a:prstGeom prst="rect">
            <a:avLst/>
          </a:prstGeom>
          <a:noFill/>
          <a:ln/>
        </p:spPr>
        <p:txBody>
          <a:bodyPr wrap="square" lIns="0" tIns="0" rIns="0" bIns="0" rtlCol="0" anchor="ctr"/>
          <a:lstStyle/>
          <a:p>
            <a:pPr indent="0" marL="0">
              <a:buNone/>
            </a:pPr>
            <a:r>
              <a:rPr lang="en-US" sz="1200" b="1" dirty="0">
                <a:solidFill>
                  <a:srgbClr val="3A3A42"/>
                </a:solidFill>
                <a:latin typeface="Noto Sans JP" pitchFamily="34" charset="0"/>
                <a:ea typeface="Noto Sans JP" pitchFamily="34" charset="-122"/>
                <a:cs typeface="Noto Sans JP" pitchFamily="34" charset="-120"/>
              </a:rPr>
              <a:t>本資料について</a:t>
            </a:r>
            <a:endParaRPr lang="en-US" sz="1200" dirty="0"/>
          </a:p>
        </p:txBody>
      </p:sp>
      <p:sp>
        <p:nvSpPr>
          <p:cNvPr id="9" name="Text 6"/>
          <p:cNvSpPr/>
          <p:nvPr/>
        </p:nvSpPr>
        <p:spPr>
          <a:xfrm>
            <a:off x="365760" y="3063240"/>
            <a:ext cx="2743200" cy="1554480"/>
          </a:xfrm>
          <a:prstGeom prst="rect">
            <a:avLst/>
          </a:prstGeom>
          <a:noFill/>
          <a:ln/>
        </p:spPr>
        <p:txBody>
          <a:bodyPr wrap="square" lIns="0" tIns="0" rIns="0" bIns="0" rtlCol="0" anchor="ctr"/>
          <a:lstStyle/>
          <a:p>
            <a:pPr indent="0" marL="0">
              <a:spcAft>
                <a:spcPts val="200"/>
              </a:spcAft>
              <a:buNone/>
            </a:pPr>
            <a:r>
              <a:rPr lang="en-US" sz="900" dirty="0">
                <a:solidFill>
                  <a:srgbClr val="5E5C6A"/>
                </a:solidFill>
                <a:latin typeface="Noto Sans JP" pitchFamily="34" charset="0"/>
                <a:ea typeface="Noto Sans JP" pitchFamily="34" charset="-122"/>
                <a:cs typeface="Noto Sans JP" pitchFamily="34" charset="-120"/>
              </a:rPr>
              <a:t>本資料は、DXデザインシステム株式会社（以下「当社」）が情報提供を目的として作成したものです。記載内容は作成時点のものであり、将来予告なく変更される場合があります。</a:t>
            </a:r>
            <a:endParaRPr lang="en-US" sz="900" dirty="0"/>
          </a:p>
        </p:txBody>
      </p:sp>
      <p:sp>
        <p:nvSpPr>
          <p:cNvPr id="10" name="Text 7"/>
          <p:cNvSpPr/>
          <p:nvPr/>
        </p:nvSpPr>
        <p:spPr>
          <a:xfrm>
            <a:off x="3246120" y="2423160"/>
            <a:ext cx="731520" cy="228600"/>
          </a:xfrm>
          <a:prstGeom prst="rect">
            <a:avLst/>
          </a:prstGeom>
          <a:noFill/>
          <a:ln/>
        </p:spPr>
        <p:txBody>
          <a:bodyPr wrap="square" lIns="0" tIns="0" rIns="0" bIns="0" rtlCol="0" anchor="ctr"/>
          <a:lstStyle/>
          <a:p>
            <a:pPr indent="0" marL="0">
              <a:buNone/>
            </a:pPr>
            <a:r>
              <a:rPr lang="en-US" sz="1000" b="1" dirty="0">
                <a:solidFill>
                  <a:srgbClr val="8B7AB8"/>
                </a:solidFill>
                <a:latin typeface="Consolas" pitchFamily="34" charset="0"/>
                <a:ea typeface="Consolas" pitchFamily="34" charset="-122"/>
                <a:cs typeface="Consolas" pitchFamily="34" charset="-120"/>
              </a:rPr>
              <a:t>§2</a:t>
            </a:r>
            <a:endParaRPr lang="en-US" sz="1000" dirty="0"/>
          </a:p>
        </p:txBody>
      </p:sp>
      <p:sp>
        <p:nvSpPr>
          <p:cNvPr id="11" name="Text 8"/>
          <p:cNvSpPr/>
          <p:nvPr/>
        </p:nvSpPr>
        <p:spPr>
          <a:xfrm>
            <a:off x="3246120" y="2697480"/>
            <a:ext cx="2743200" cy="274320"/>
          </a:xfrm>
          <a:prstGeom prst="rect">
            <a:avLst/>
          </a:prstGeom>
          <a:noFill/>
          <a:ln/>
        </p:spPr>
        <p:txBody>
          <a:bodyPr wrap="square" lIns="0" tIns="0" rIns="0" bIns="0" rtlCol="0" anchor="ctr"/>
          <a:lstStyle/>
          <a:p>
            <a:pPr indent="0" marL="0">
              <a:buNone/>
            </a:pPr>
            <a:r>
              <a:rPr lang="en-US" sz="1200" b="1" dirty="0">
                <a:solidFill>
                  <a:srgbClr val="3A3A42"/>
                </a:solidFill>
                <a:latin typeface="Noto Sans JP" pitchFamily="34" charset="0"/>
                <a:ea typeface="Noto Sans JP" pitchFamily="34" charset="-122"/>
                <a:cs typeface="Noto Sans JP" pitchFamily="34" charset="-120"/>
              </a:rPr>
              <a:t>情報の正確性</a:t>
            </a:r>
            <a:endParaRPr lang="en-US" sz="1200" dirty="0"/>
          </a:p>
        </p:txBody>
      </p:sp>
      <p:sp>
        <p:nvSpPr>
          <p:cNvPr id="12" name="Text 9"/>
          <p:cNvSpPr/>
          <p:nvPr/>
        </p:nvSpPr>
        <p:spPr>
          <a:xfrm>
            <a:off x="3246120" y="3063240"/>
            <a:ext cx="2743200" cy="1554480"/>
          </a:xfrm>
          <a:prstGeom prst="rect">
            <a:avLst/>
          </a:prstGeom>
          <a:noFill/>
          <a:ln/>
        </p:spPr>
        <p:txBody>
          <a:bodyPr wrap="square" lIns="0" tIns="0" rIns="0" bIns="0" rtlCol="0" anchor="ctr"/>
          <a:lstStyle/>
          <a:p>
            <a:pPr indent="0" marL="0">
              <a:spcAft>
                <a:spcPts val="200"/>
              </a:spcAft>
              <a:buNone/>
            </a:pPr>
            <a:r>
              <a:rPr lang="en-US" sz="900" dirty="0">
                <a:solidFill>
                  <a:srgbClr val="5E5C6A"/>
                </a:solidFill>
                <a:latin typeface="Noto Sans JP" pitchFamily="34" charset="0"/>
                <a:ea typeface="Noto Sans JP" pitchFamily="34" charset="-122"/>
                <a:cs typeface="Noto Sans JP" pitchFamily="34" charset="-120"/>
              </a:rPr>
              <a:t>本資料に含まれる情報の正確性・完全性について当社は最善を尽くしておりますが、これらを保証するものではありません。本資料の利用により生じたいかなる損害についても、当社は責任を負いかねます。</a:t>
            </a:r>
            <a:endParaRPr lang="en-US" sz="900" dirty="0"/>
          </a:p>
        </p:txBody>
      </p:sp>
      <p:sp>
        <p:nvSpPr>
          <p:cNvPr id="13" name="Text 10"/>
          <p:cNvSpPr/>
          <p:nvPr/>
        </p:nvSpPr>
        <p:spPr>
          <a:xfrm>
            <a:off x="6126480" y="2423160"/>
            <a:ext cx="731520" cy="228600"/>
          </a:xfrm>
          <a:prstGeom prst="rect">
            <a:avLst/>
          </a:prstGeom>
          <a:noFill/>
          <a:ln/>
        </p:spPr>
        <p:txBody>
          <a:bodyPr wrap="square" lIns="0" tIns="0" rIns="0" bIns="0" rtlCol="0" anchor="ctr"/>
          <a:lstStyle/>
          <a:p>
            <a:pPr indent="0" marL="0">
              <a:buNone/>
            </a:pPr>
            <a:r>
              <a:rPr lang="en-US" sz="1000" b="1" dirty="0">
                <a:solidFill>
                  <a:srgbClr val="8B7AB8"/>
                </a:solidFill>
                <a:latin typeface="Consolas" pitchFamily="34" charset="0"/>
                <a:ea typeface="Consolas" pitchFamily="34" charset="-122"/>
                <a:cs typeface="Consolas" pitchFamily="34" charset="-120"/>
              </a:rPr>
              <a:t>§3</a:t>
            </a:r>
            <a:endParaRPr lang="en-US" sz="1000" dirty="0"/>
          </a:p>
        </p:txBody>
      </p:sp>
      <p:sp>
        <p:nvSpPr>
          <p:cNvPr id="14" name="Text 11"/>
          <p:cNvSpPr/>
          <p:nvPr/>
        </p:nvSpPr>
        <p:spPr>
          <a:xfrm>
            <a:off x="6126480" y="2697480"/>
            <a:ext cx="2743200" cy="274320"/>
          </a:xfrm>
          <a:prstGeom prst="rect">
            <a:avLst/>
          </a:prstGeom>
          <a:noFill/>
          <a:ln/>
        </p:spPr>
        <p:txBody>
          <a:bodyPr wrap="square" lIns="0" tIns="0" rIns="0" bIns="0" rtlCol="0" anchor="ctr"/>
          <a:lstStyle/>
          <a:p>
            <a:pPr indent="0" marL="0">
              <a:buNone/>
            </a:pPr>
            <a:r>
              <a:rPr lang="en-US" sz="1200" b="1" dirty="0">
                <a:solidFill>
                  <a:srgbClr val="3A3A42"/>
                </a:solidFill>
                <a:latin typeface="Noto Sans JP" pitchFamily="34" charset="0"/>
                <a:ea typeface="Noto Sans JP" pitchFamily="34" charset="-122"/>
                <a:cs typeface="Noto Sans JP" pitchFamily="34" charset="-120"/>
              </a:rPr>
              <a:t>著作権</a:t>
            </a:r>
            <a:endParaRPr lang="en-US" sz="1200" dirty="0"/>
          </a:p>
        </p:txBody>
      </p:sp>
      <p:sp>
        <p:nvSpPr>
          <p:cNvPr id="15" name="Text 12"/>
          <p:cNvSpPr/>
          <p:nvPr/>
        </p:nvSpPr>
        <p:spPr>
          <a:xfrm>
            <a:off x="6126480" y="3063240"/>
            <a:ext cx="2743200" cy="1554480"/>
          </a:xfrm>
          <a:prstGeom prst="rect">
            <a:avLst/>
          </a:prstGeom>
          <a:noFill/>
          <a:ln/>
        </p:spPr>
        <p:txBody>
          <a:bodyPr wrap="square" lIns="0" tIns="0" rIns="0" bIns="0" rtlCol="0" anchor="ctr"/>
          <a:lstStyle/>
          <a:p>
            <a:pPr indent="0" marL="0">
              <a:spcAft>
                <a:spcPts val="200"/>
              </a:spcAft>
              <a:buNone/>
            </a:pPr>
            <a:r>
              <a:rPr lang="en-US" sz="900" dirty="0">
                <a:solidFill>
                  <a:srgbClr val="5E5C6A"/>
                </a:solidFill>
                <a:latin typeface="Noto Sans JP" pitchFamily="34" charset="0"/>
                <a:ea typeface="Noto Sans JP" pitchFamily="34" charset="-122"/>
                <a:cs typeface="Noto Sans JP" pitchFamily="34" charset="-120"/>
              </a:rPr>
              <a:t>本資料の著作権は当社に帰属します。当社の書面による事前の同意なく、本資料の全部または一部を複製・転載・配布することを禁じます。</a:t>
            </a:r>
            <a:endParaRPr lang="en-US" sz="900" dirty="0"/>
          </a:p>
        </p:txBody>
      </p:sp>
      <p:sp>
        <p:nvSpPr>
          <p:cNvPr id="16" name="Text 13"/>
          <p:cNvSpPr/>
          <p:nvPr/>
        </p:nvSpPr>
        <p:spPr>
          <a:xfrm>
            <a:off x="365760" y="4617720"/>
            <a:ext cx="8412480" cy="228600"/>
          </a:xfrm>
          <a:prstGeom prst="rect">
            <a:avLst/>
          </a:prstGeom>
          <a:noFill/>
          <a:ln/>
        </p:spPr>
        <p:txBody>
          <a:bodyPr wrap="square" lIns="0" tIns="0" rIns="0" bIns="0" rtlCol="0" anchor="ctr"/>
          <a:lstStyle/>
          <a:p>
            <a:pPr algn="r" indent="0" marL="0">
              <a:buNone/>
            </a:pPr>
            <a:r>
              <a:rPr lang="en-US" sz="900" dirty="0">
                <a:solidFill>
                  <a:srgbClr val="9B98A6"/>
                </a:solidFill>
                <a:latin typeface="Consolas" pitchFamily="34" charset="0"/>
                <a:ea typeface="Consolas" pitchFamily="34" charset="-122"/>
                <a:cs typeface="Consolas" pitchFamily="34" charset="-120"/>
              </a:rPr>
              <a:t>contact ／ https://sys.dx-design.co.jp/</a:t>
            </a:r>
            <a:endParaRPr lang="en-US" sz="900" dirty="0"/>
          </a:p>
        </p:txBody>
      </p:sp>
      <p:sp>
        <p:nvSpPr>
          <p:cNvPr id="17" name="Text 14"/>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18 / 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2"/>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sp>
      <p:sp>
        <p:nvSpPr>
          <p:cNvPr id="7" name="Text 3"/>
          <p:cNvSpPr/>
          <p:nvPr/>
        </p:nvSpPr>
        <p:spPr>
          <a:xfrm>
            <a:off x="5166360" y="1463040"/>
            <a:ext cx="3657600" cy="274320"/>
          </a:xfrm>
          <a:prstGeom prst="rect">
            <a:avLst/>
          </a:prstGeom>
          <a:noFill/>
          <a:ln/>
        </p:spPr>
        <p:txBody>
          <a:bodyPr wrap="square" lIns="0" tIns="0" rIns="0" bIns="0" rtlCol="0" anchor="ctr"/>
          <a:lstStyle/>
          <a:p>
            <a:pPr indent="0" marL="0">
              <a:buNone/>
            </a:pPr>
            <a:r>
              <a:rPr lang="en-US" sz="1000" spc="400" kern="0" dirty="0">
                <a:solidFill>
                  <a:srgbClr val="8B7AB8"/>
                </a:solidFill>
                <a:latin typeface="Consolas" pitchFamily="34" charset="0"/>
                <a:ea typeface="Consolas" pitchFamily="34" charset="-122"/>
                <a:cs typeface="Consolas" pitchFamily="34" charset="-120"/>
              </a:rPr>
              <a:t>SECTION  02</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indent="0" marL="0">
              <a:buNone/>
            </a:pPr>
            <a:r>
              <a:rPr lang="en-US" sz="3000" b="1" dirty="0">
                <a:solidFill>
                  <a:srgbClr val="3A3A42"/>
                </a:solidFill>
                <a:latin typeface="Noto Sans JP" pitchFamily="34" charset="0"/>
                <a:ea typeface="Noto Sans JP" pitchFamily="34" charset="-122"/>
                <a:cs typeface="Noto Sans JP" pitchFamily="34" charset="-120"/>
              </a:rPr>
              <a:t>統合DB・共通マスタ設計</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indent="0" marL="0">
              <a:buNone/>
            </a:pPr>
            <a:r>
              <a:rPr lang="en-US" sz="1100" dirty="0">
                <a:solidFill>
                  <a:srgbClr val="5E5C6A"/>
                </a:solidFill>
                <a:latin typeface="Noto Sans JP" pitchFamily="34" charset="0"/>
                <a:ea typeface="Noto Sans JP" pitchFamily="34" charset="-122"/>
                <a:cs typeface="Noto Sans JP" pitchFamily="34" charset="-120"/>
              </a:rPr>
              <a:t>経理領域の統合DB構造設計と、人事（パトスロゴス）との整合を担保する学園共通マスタ整備を、発注者側PM視点でご支援します。</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indent="0" marL="0">
              <a:buNone/>
            </a:pPr>
            <a:r>
              <a:rPr lang="en-US" sz="900" dirty="0">
                <a:solidFill>
                  <a:srgbClr val="9B98A6"/>
                </a:solidFill>
                <a:latin typeface="Consolas" pitchFamily="34" charset="0"/>
                <a:ea typeface="Consolas" pitchFamily="34" charset="-122"/>
                <a:cs typeface="Consolas" pitchFamily="34" charset="-120"/>
              </a:rPr>
              <a:t>— スコープ: ご依頼事項 #6〜#7</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06 / 18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2"/>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sp>
      <p:sp>
        <p:nvSpPr>
          <p:cNvPr id="7" name="Text 3"/>
          <p:cNvSpPr/>
          <p:nvPr/>
        </p:nvSpPr>
        <p:spPr>
          <a:xfrm>
            <a:off x="5166360" y="1463040"/>
            <a:ext cx="3657600" cy="274320"/>
          </a:xfrm>
          <a:prstGeom prst="rect">
            <a:avLst/>
          </a:prstGeom>
          <a:noFill/>
          <a:ln/>
        </p:spPr>
        <p:txBody>
          <a:bodyPr wrap="square" lIns="0" tIns="0" rIns="0" bIns="0" rtlCol="0" anchor="ctr"/>
          <a:lstStyle/>
          <a:p>
            <a:pPr indent="0" marL="0">
              <a:buNone/>
            </a:pPr>
            <a:r>
              <a:rPr lang="en-US" sz="1000" spc="400" kern="0" dirty="0">
                <a:solidFill>
                  <a:srgbClr val="8B7AB8"/>
                </a:solidFill>
                <a:latin typeface="Consolas" pitchFamily="34" charset="0"/>
                <a:ea typeface="Consolas" pitchFamily="34" charset="-122"/>
                <a:cs typeface="Consolas" pitchFamily="34" charset="-120"/>
              </a:rPr>
              <a:t>SECTION  03</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indent="0" marL="0">
              <a:buNone/>
            </a:pPr>
            <a:r>
              <a:rPr lang="en-US" sz="3000" b="1" dirty="0">
                <a:solidFill>
                  <a:srgbClr val="3A3A42"/>
                </a:solidFill>
                <a:latin typeface="Noto Sans JP" pitchFamily="34" charset="0"/>
                <a:ea typeface="Noto Sans JP" pitchFamily="34" charset="-122"/>
                <a:cs typeface="Noto Sans JP" pitchFamily="34" charset="-120"/>
              </a:rPr>
              <a:t>AIガバナンス・推進人材</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indent="0" marL="0">
              <a:buNone/>
            </a:pPr>
            <a:r>
              <a:rPr lang="en-US" sz="1100" dirty="0">
                <a:solidFill>
                  <a:srgbClr val="5E5C6A"/>
                </a:solidFill>
                <a:latin typeface="Noto Sans JP" pitchFamily="34" charset="0"/>
                <a:ea typeface="Noto Sans JP" pitchFamily="34" charset="-122"/>
                <a:cs typeface="Noto Sans JP" pitchFamily="34" charset="-120"/>
              </a:rPr>
              <a:t>将来のAI活用を見据え、まず利用規程・ガイドラインを整備。並行して社内AI推進担当者を育成し、自走できる組織へ。</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indent="0" marL="0">
              <a:buNone/>
            </a:pPr>
            <a:r>
              <a:rPr lang="en-US" sz="900" dirty="0">
                <a:solidFill>
                  <a:srgbClr val="9B98A6"/>
                </a:solidFill>
                <a:latin typeface="Consolas" pitchFamily="34" charset="0"/>
                <a:ea typeface="Consolas" pitchFamily="34" charset="-122"/>
                <a:cs typeface="Consolas" pitchFamily="34" charset="-120"/>
              </a:rPr>
              <a:t>— スコープ: ご依頼事項 #8</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09 / 18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2"/>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sp>
      <p:sp>
        <p:nvSpPr>
          <p:cNvPr id="7" name="Text 3"/>
          <p:cNvSpPr/>
          <p:nvPr/>
        </p:nvSpPr>
        <p:spPr>
          <a:xfrm>
            <a:off x="5166360" y="1463040"/>
            <a:ext cx="3657600" cy="274320"/>
          </a:xfrm>
          <a:prstGeom prst="rect">
            <a:avLst/>
          </a:prstGeom>
          <a:noFill/>
          <a:ln/>
        </p:spPr>
        <p:txBody>
          <a:bodyPr wrap="square" lIns="0" tIns="0" rIns="0" bIns="0" rtlCol="0" anchor="ctr"/>
          <a:lstStyle/>
          <a:p>
            <a:pPr indent="0" marL="0">
              <a:buNone/>
            </a:pPr>
            <a:r>
              <a:rPr lang="en-US" sz="1000" spc="400" kern="0" dirty="0">
                <a:solidFill>
                  <a:srgbClr val="8B7AB8"/>
                </a:solidFill>
                <a:latin typeface="Consolas" pitchFamily="34" charset="0"/>
                <a:ea typeface="Consolas" pitchFamily="34" charset="-122"/>
                <a:cs typeface="Consolas" pitchFamily="34" charset="-120"/>
              </a:rPr>
              <a:t>SECTION  04</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indent="0" marL="0">
              <a:buNone/>
            </a:pPr>
            <a:r>
              <a:rPr lang="en-US" sz="3000" b="1" dirty="0">
                <a:solidFill>
                  <a:srgbClr val="3A3A42"/>
                </a:solidFill>
                <a:latin typeface="Noto Sans JP" pitchFamily="34" charset="0"/>
                <a:ea typeface="Noto Sans JP" pitchFamily="34" charset="-122"/>
                <a:cs typeface="Noto Sans JP" pitchFamily="34" charset="-120"/>
              </a:rPr>
              <a:t>費用・スケジュール・体制</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indent="0" marL="0">
              <a:buNone/>
            </a:pPr>
            <a:r>
              <a:rPr lang="en-US" sz="1100" dirty="0">
                <a:solidFill>
                  <a:srgbClr val="5E5C6A"/>
                </a:solidFill>
                <a:latin typeface="Noto Sans JP" pitchFamily="34" charset="0"/>
                <a:ea typeface="Noto Sans JP" pitchFamily="34" charset="-122"/>
                <a:cs typeface="Noto Sans JP" pitchFamily="34" charset="-120"/>
              </a:rPr>
              <a:t>月額顧問（継続伴走）とプロジェクト型（単発成果物）を組み合わせた現実的な構成と、12ヶ月想定のトータルコストをご提示します。</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indent="0" marL="0">
              <a:buNone/>
            </a:pPr>
            <a:r>
              <a:rPr lang="en-US" sz="900" dirty="0">
                <a:solidFill>
                  <a:srgbClr val="9B98A6"/>
                </a:solidFill>
                <a:latin typeface="Consolas" pitchFamily="34" charset="0"/>
                <a:ea typeface="Consolas" pitchFamily="34" charset="-122"/>
                <a:cs typeface="Consolas" pitchFamily="34" charset="-120"/>
              </a:rPr>
              <a:t>— スコープ: 工数積み上げ／費用／次のステップ</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12 / 18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01</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01 / MAP</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ご依頼事項と契約形態の対応</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04 / 18</a:t>
            </a:r>
            <a:endParaRPr lang="en-US" sz="800" dirty="0"/>
          </a:p>
        </p:txBody>
      </p:sp>
      <p:sp>
        <p:nvSpPr>
          <p:cNvPr id="100" name="row_bg_0"/>
          <p:cNvSpPr/>
          <p:nvPr/>
        </p:nvSpPr>
        <p:spPr>
          <a:xfrm>
            <a:off x="365760" y="1600200"/>
            <a:ext cx="8412480" cy="329184"/>
          </a:xfrm>
          <a:prstGeom prst="rect">
            <a:avLst/>
          </a:prstGeom>
          <a:solidFill>
            <a:srgbClr val="8B7AB8"/>
          </a:solidFill>
          <a:ln/>
        </p:spPr>
      </p:sp>
      <p:sp>
        <p:nvSpPr>
          <p:cNvPr id="101" name="c1_0"/>
          <p:cNvSpPr/>
          <p:nvPr/>
        </p:nvSpPr>
        <p:spPr>
          <a:xfrm>
            <a:off x="457200" y="1600200"/>
            <a:ext cx="457200" cy="329184"/>
          </a:xfrm>
          <a:prstGeom prst="rect">
            <a:avLst/>
          </a:prstGeom>
          <a:noFill/>
          <a:ln/>
        </p:spPr>
        <p:txBody>
          <a:bodyPr wrap="square" lIns="0" tIns="0" rIns="0" bIns="0" rtlCol="0" anchor="ctr"/>
          <a:lstStyle/>
          <a:p>
            <a:pPr algn="ctr" indent="0" marL="0">
              <a:buNone/>
            </a:pPr>
            <a:r>
              <a:rPr lang="ja-JP" sz="1000" b="1" dirty="0">
                <a:solidFill>
                  <a:srgbClr val="FFFFFF"/>
                </a:solidFill>
                <a:latin typeface="Noto Sans JP"/>
                <a:ea typeface="Noto Sans JP"/>
                <a:cs typeface="Noto Sans JP"/>
              </a:rPr>
              <a:t>#</a:t>
            </a:r>
          </a:p>
        </p:txBody>
      </p:sp>
      <p:sp>
        <p:nvSpPr>
          <p:cNvPr id="102" name="c2_0"/>
          <p:cNvSpPr/>
          <p:nvPr/>
        </p:nvSpPr>
        <p:spPr>
          <a:xfrm>
            <a:off x="822960" y="1600200"/>
            <a:ext cx="5943600" cy="329184"/>
          </a:xfrm>
          <a:prstGeom prst="rect">
            <a:avLst/>
          </a:prstGeom>
          <a:noFill/>
          <a:ln/>
        </p:spPr>
        <p:txBody>
          <a:bodyPr wrap="square" lIns="0" tIns="0" rIns="0" bIns="0" rtlCol="0" anchor="ctr"/>
          <a:lstStyle/>
          <a:p>
            <a:pPr indent="0" marL="0">
              <a:buNone/>
            </a:pPr>
            <a:r>
              <a:rPr lang="ja-JP" sz="1000" b="1" dirty="0">
                <a:solidFill>
                  <a:srgbClr val="FFFFFF"/>
                </a:solidFill>
                <a:latin typeface="Noto Sans JP"/>
                <a:ea typeface="Noto Sans JP"/>
                <a:cs typeface="Noto Sans JP"/>
              </a:rPr>
              <a:t>依頼事項</a:t>
            </a:r>
          </a:p>
        </p:txBody>
      </p:sp>
      <p:sp>
        <p:nvSpPr>
          <p:cNvPr id="103" name="c3_0"/>
          <p:cNvSpPr/>
          <p:nvPr/>
        </p:nvSpPr>
        <p:spPr>
          <a:xfrm>
            <a:off x="6766560" y="1600200"/>
            <a:ext cx="2011680" cy="329184"/>
          </a:xfrm>
          <a:prstGeom prst="rect">
            <a:avLst/>
          </a:prstGeom>
          <a:noFill/>
          <a:ln/>
        </p:spPr>
        <p:txBody>
          <a:bodyPr wrap="square" lIns="0" tIns="0" rIns="0" bIns="0" rtlCol="0" anchor="ctr"/>
          <a:lstStyle/>
          <a:p>
            <a:pPr algn="ctr" indent="0" marL="0">
              <a:buNone/>
            </a:pPr>
            <a:r>
              <a:rPr lang="ja-JP" sz="1000" b="1" dirty="0">
                <a:solidFill>
                  <a:srgbClr val="FFFFFF"/>
                </a:solidFill>
                <a:latin typeface="Noto Sans JP"/>
                <a:ea typeface="Noto Sans JP"/>
                <a:cs typeface="Noto Sans JP"/>
              </a:rPr>
              <a:t>契約形態</a:t>
            </a:r>
          </a:p>
        </p:txBody>
      </p:sp>
      <p:sp>
        <p:nvSpPr>
          <p:cNvPr id="104" name="row_bg_1"/>
          <p:cNvSpPr/>
          <p:nvPr/>
        </p:nvSpPr>
        <p:spPr>
          <a:xfrm>
            <a:off x="365760" y="1929384"/>
            <a:ext cx="8412480" cy="329184"/>
          </a:xfrm>
          <a:prstGeom prst="rect">
            <a:avLst/>
          </a:prstGeom>
          <a:solidFill>
            <a:srgbClr val="FFFFFF"/>
          </a:solidFill>
          <a:ln/>
        </p:spPr>
      </p:sp>
      <p:sp>
        <p:nvSpPr>
          <p:cNvPr id="105" name="c1_1"/>
          <p:cNvSpPr/>
          <p:nvPr/>
        </p:nvSpPr>
        <p:spPr>
          <a:xfrm>
            <a:off x="457200" y="1929384"/>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1</a:t>
            </a:r>
          </a:p>
        </p:txBody>
      </p:sp>
      <p:sp>
        <p:nvSpPr>
          <p:cNvPr id="106" name="c2_1"/>
          <p:cNvSpPr/>
          <p:nvPr/>
        </p:nvSpPr>
        <p:spPr>
          <a:xfrm>
            <a:off x="822960" y="1929384"/>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To-Be業務フロー（業務一元化含む）のレビュー</a:t>
            </a:r>
          </a:p>
        </p:txBody>
      </p:sp>
      <p:sp>
        <p:nvSpPr>
          <p:cNvPr id="107" name="pill_1_bg"/>
          <p:cNvSpPr/>
          <p:nvPr/>
        </p:nvSpPr>
        <p:spPr>
          <a:xfrm>
            <a:off x="7040880" y="1984248"/>
            <a:ext cx="1463040" cy="219456"/>
          </a:xfrm>
          <a:prstGeom prst="rect">
            <a:avLst/>
          </a:prstGeom>
          <a:solidFill>
            <a:srgbClr val="5E9B7F"/>
          </a:solidFill>
          <a:ln/>
        </p:spPr>
      </p:sp>
      <p:sp>
        <p:nvSpPr>
          <p:cNvPr id="108" name="pill_1_tx"/>
          <p:cNvSpPr/>
          <p:nvPr/>
        </p:nvSpPr>
        <p:spPr>
          <a:xfrm>
            <a:off x="7040880" y="1984248"/>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月額顧問</a:t>
            </a:r>
          </a:p>
        </p:txBody>
      </p:sp>
      <p:sp>
        <p:nvSpPr>
          <p:cNvPr id="109" name="row_bg_2"/>
          <p:cNvSpPr/>
          <p:nvPr/>
        </p:nvSpPr>
        <p:spPr>
          <a:xfrm>
            <a:off x="365760" y="2258568"/>
            <a:ext cx="8412480" cy="329184"/>
          </a:xfrm>
          <a:prstGeom prst="rect">
            <a:avLst/>
          </a:prstGeom>
          <a:solidFill>
            <a:srgbClr val="FAFAFB"/>
          </a:solidFill>
          <a:ln/>
        </p:spPr>
      </p:sp>
      <p:sp>
        <p:nvSpPr>
          <p:cNvPr id="110" name="c1_2"/>
          <p:cNvSpPr/>
          <p:nvPr/>
        </p:nvSpPr>
        <p:spPr>
          <a:xfrm>
            <a:off x="457200" y="2258568"/>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2</a:t>
            </a:r>
          </a:p>
        </p:txBody>
      </p:sp>
      <p:sp>
        <p:nvSpPr>
          <p:cNvPr id="111" name="c2_2"/>
          <p:cNvSpPr/>
          <p:nvPr/>
        </p:nvSpPr>
        <p:spPr>
          <a:xfrm>
            <a:off x="822960" y="2258568"/>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To-Be業務フローに合わせたシステム構成のレビュー</a:t>
            </a:r>
          </a:p>
        </p:txBody>
      </p:sp>
      <p:sp>
        <p:nvSpPr>
          <p:cNvPr id="112" name="pill_2_bg"/>
          <p:cNvSpPr/>
          <p:nvPr/>
        </p:nvSpPr>
        <p:spPr>
          <a:xfrm>
            <a:off x="7040880" y="2313432"/>
            <a:ext cx="1463040" cy="219456"/>
          </a:xfrm>
          <a:prstGeom prst="rect">
            <a:avLst/>
          </a:prstGeom>
          <a:solidFill>
            <a:srgbClr val="5E9B7F"/>
          </a:solidFill>
          <a:ln/>
        </p:spPr>
      </p:sp>
      <p:sp>
        <p:nvSpPr>
          <p:cNvPr id="113" name="pill_2_tx"/>
          <p:cNvSpPr/>
          <p:nvPr/>
        </p:nvSpPr>
        <p:spPr>
          <a:xfrm>
            <a:off x="7040880" y="2313432"/>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月額顧問</a:t>
            </a:r>
          </a:p>
        </p:txBody>
      </p:sp>
      <p:sp>
        <p:nvSpPr>
          <p:cNvPr id="114" name="row_bg_3"/>
          <p:cNvSpPr/>
          <p:nvPr/>
        </p:nvSpPr>
        <p:spPr>
          <a:xfrm>
            <a:off x="365760" y="2587752"/>
            <a:ext cx="8412480" cy="329184"/>
          </a:xfrm>
          <a:prstGeom prst="rect">
            <a:avLst/>
          </a:prstGeom>
          <a:solidFill>
            <a:srgbClr val="FFFFFF"/>
          </a:solidFill>
          <a:ln/>
        </p:spPr>
      </p:sp>
      <p:sp>
        <p:nvSpPr>
          <p:cNvPr id="115" name="c1_3"/>
          <p:cNvSpPr/>
          <p:nvPr/>
        </p:nvSpPr>
        <p:spPr>
          <a:xfrm>
            <a:off x="457200" y="2587752"/>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3</a:t>
            </a:r>
          </a:p>
        </p:txBody>
      </p:sp>
      <p:sp>
        <p:nvSpPr>
          <p:cNvPr id="116" name="c2_3"/>
          <p:cNvSpPr/>
          <p:nvPr/>
        </p:nvSpPr>
        <p:spPr>
          <a:xfrm>
            <a:off x="822960" y="2587752"/>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To-Be業務フローに合わせたデータフローのレビュー</a:t>
            </a:r>
          </a:p>
        </p:txBody>
      </p:sp>
      <p:sp>
        <p:nvSpPr>
          <p:cNvPr id="117" name="pill_3_bg"/>
          <p:cNvSpPr/>
          <p:nvPr/>
        </p:nvSpPr>
        <p:spPr>
          <a:xfrm>
            <a:off x="7040880" y="2642616"/>
            <a:ext cx="1463040" cy="219456"/>
          </a:xfrm>
          <a:prstGeom prst="rect">
            <a:avLst/>
          </a:prstGeom>
          <a:solidFill>
            <a:srgbClr val="5E9B7F"/>
          </a:solidFill>
          <a:ln/>
        </p:spPr>
      </p:sp>
      <p:sp>
        <p:nvSpPr>
          <p:cNvPr id="118" name="pill_3_tx"/>
          <p:cNvSpPr/>
          <p:nvPr/>
        </p:nvSpPr>
        <p:spPr>
          <a:xfrm>
            <a:off x="7040880" y="2642616"/>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月額顧問</a:t>
            </a:r>
          </a:p>
        </p:txBody>
      </p:sp>
      <p:sp>
        <p:nvSpPr>
          <p:cNvPr id="119" name="row_bg_4"/>
          <p:cNvSpPr/>
          <p:nvPr/>
        </p:nvSpPr>
        <p:spPr>
          <a:xfrm>
            <a:off x="365760" y="2916936"/>
            <a:ext cx="8412480" cy="329184"/>
          </a:xfrm>
          <a:prstGeom prst="rect">
            <a:avLst/>
          </a:prstGeom>
          <a:solidFill>
            <a:srgbClr val="FAFAFB"/>
          </a:solidFill>
          <a:ln/>
        </p:spPr>
      </p:sp>
      <p:sp>
        <p:nvSpPr>
          <p:cNvPr id="120" name="c1_4"/>
          <p:cNvSpPr/>
          <p:nvPr/>
        </p:nvSpPr>
        <p:spPr>
          <a:xfrm>
            <a:off x="457200" y="2916936"/>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4</a:t>
            </a:r>
          </a:p>
        </p:txBody>
      </p:sp>
      <p:sp>
        <p:nvSpPr>
          <p:cNvPr id="121" name="c2_4"/>
          <p:cNvSpPr/>
          <p:nvPr/>
        </p:nvSpPr>
        <p:spPr>
          <a:xfrm>
            <a:off x="822960" y="2916936"/>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AI活用を含む業務効率化システム・サービスの情報提供</a:t>
            </a:r>
          </a:p>
        </p:txBody>
      </p:sp>
      <p:sp>
        <p:nvSpPr>
          <p:cNvPr id="122" name="pill_4_bg"/>
          <p:cNvSpPr/>
          <p:nvPr/>
        </p:nvSpPr>
        <p:spPr>
          <a:xfrm>
            <a:off x="7040880" y="2971800"/>
            <a:ext cx="1463040" cy="219456"/>
          </a:xfrm>
          <a:prstGeom prst="rect">
            <a:avLst/>
          </a:prstGeom>
          <a:solidFill>
            <a:srgbClr val="5E9B7F"/>
          </a:solidFill>
          <a:ln/>
        </p:spPr>
      </p:sp>
      <p:sp>
        <p:nvSpPr>
          <p:cNvPr id="123" name="pill_4_tx"/>
          <p:cNvSpPr/>
          <p:nvPr/>
        </p:nvSpPr>
        <p:spPr>
          <a:xfrm>
            <a:off x="7040880" y="2971800"/>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月額顧問</a:t>
            </a:r>
          </a:p>
        </p:txBody>
      </p:sp>
      <p:sp>
        <p:nvSpPr>
          <p:cNvPr id="124" name="row_bg_5"/>
          <p:cNvSpPr/>
          <p:nvPr/>
        </p:nvSpPr>
        <p:spPr>
          <a:xfrm>
            <a:off x="365760" y="3246120"/>
            <a:ext cx="8412480" cy="329184"/>
          </a:xfrm>
          <a:prstGeom prst="rect">
            <a:avLst/>
          </a:prstGeom>
          <a:solidFill>
            <a:srgbClr val="FFFFFF"/>
          </a:solidFill>
          <a:ln/>
        </p:spPr>
      </p:sp>
      <p:sp>
        <p:nvSpPr>
          <p:cNvPr id="125" name="c1_5"/>
          <p:cNvSpPr/>
          <p:nvPr/>
        </p:nvSpPr>
        <p:spPr>
          <a:xfrm>
            <a:off x="457200" y="3246120"/>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5</a:t>
            </a:r>
          </a:p>
        </p:txBody>
      </p:sp>
      <p:sp>
        <p:nvSpPr>
          <p:cNvPr id="126" name="c2_5"/>
          <p:cNvSpPr/>
          <p:nvPr/>
        </p:nvSpPr>
        <p:spPr>
          <a:xfrm>
            <a:off x="822960" y="3246120"/>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選定システムの要件定義とTo-Beフローとのギャップ解消</a:t>
            </a:r>
          </a:p>
        </p:txBody>
      </p:sp>
      <p:sp>
        <p:nvSpPr>
          <p:cNvPr id="127" name="pill_5_bg"/>
          <p:cNvSpPr/>
          <p:nvPr/>
        </p:nvSpPr>
        <p:spPr>
          <a:xfrm>
            <a:off x="7040880" y="3300984"/>
            <a:ext cx="1463040" cy="219456"/>
          </a:xfrm>
          <a:prstGeom prst="rect">
            <a:avLst/>
          </a:prstGeom>
          <a:solidFill>
            <a:srgbClr val="5E9B7F"/>
          </a:solidFill>
          <a:ln/>
        </p:spPr>
      </p:sp>
      <p:sp>
        <p:nvSpPr>
          <p:cNvPr id="128" name="pill_5_tx"/>
          <p:cNvSpPr/>
          <p:nvPr/>
        </p:nvSpPr>
        <p:spPr>
          <a:xfrm>
            <a:off x="7040880" y="3300984"/>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月額顧問</a:t>
            </a:r>
          </a:p>
        </p:txBody>
      </p:sp>
      <p:sp>
        <p:nvSpPr>
          <p:cNvPr id="129" name="row_bg_6"/>
          <p:cNvSpPr/>
          <p:nvPr/>
        </p:nvSpPr>
        <p:spPr>
          <a:xfrm>
            <a:off x="365760" y="3575304"/>
            <a:ext cx="8412480" cy="329184"/>
          </a:xfrm>
          <a:prstGeom prst="rect">
            <a:avLst/>
          </a:prstGeom>
          <a:solidFill>
            <a:srgbClr val="FAFAFB"/>
          </a:solidFill>
          <a:ln/>
        </p:spPr>
      </p:sp>
      <p:sp>
        <p:nvSpPr>
          <p:cNvPr id="130" name="c1_6"/>
          <p:cNvSpPr/>
          <p:nvPr/>
        </p:nvSpPr>
        <p:spPr>
          <a:xfrm>
            <a:off x="457200" y="3575304"/>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6</a:t>
            </a:r>
          </a:p>
        </p:txBody>
      </p:sp>
      <p:sp>
        <p:nvSpPr>
          <p:cNvPr id="131" name="c2_6"/>
          <p:cNvSpPr/>
          <p:nvPr/>
        </p:nvSpPr>
        <p:spPr>
          <a:xfrm>
            <a:off x="822960" y="3575304"/>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統合DB（特に経理領域）の構造設計に関する提案</a:t>
            </a:r>
          </a:p>
        </p:txBody>
      </p:sp>
      <p:sp>
        <p:nvSpPr>
          <p:cNvPr id="132" name="pill_6_bg"/>
          <p:cNvSpPr/>
          <p:nvPr/>
        </p:nvSpPr>
        <p:spPr>
          <a:xfrm>
            <a:off x="7040880" y="3630168"/>
            <a:ext cx="1463040" cy="219456"/>
          </a:xfrm>
          <a:prstGeom prst="rect">
            <a:avLst/>
          </a:prstGeom>
          <a:solidFill>
            <a:srgbClr val="C4A05C"/>
          </a:solidFill>
          <a:ln/>
        </p:spPr>
      </p:sp>
      <p:sp>
        <p:nvSpPr>
          <p:cNvPr id="133" name="pill_6_tx"/>
          <p:cNvSpPr/>
          <p:nvPr/>
        </p:nvSpPr>
        <p:spPr>
          <a:xfrm>
            <a:off x="7040880" y="3630168"/>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プロジェクト型</a:t>
            </a:r>
          </a:p>
        </p:txBody>
      </p:sp>
      <p:sp>
        <p:nvSpPr>
          <p:cNvPr id="134" name="row_bg_7"/>
          <p:cNvSpPr/>
          <p:nvPr/>
        </p:nvSpPr>
        <p:spPr>
          <a:xfrm>
            <a:off x="365760" y="3904488"/>
            <a:ext cx="8412480" cy="329184"/>
          </a:xfrm>
          <a:prstGeom prst="rect">
            <a:avLst/>
          </a:prstGeom>
          <a:solidFill>
            <a:srgbClr val="FFFFFF"/>
          </a:solidFill>
          <a:ln/>
        </p:spPr>
      </p:sp>
      <p:sp>
        <p:nvSpPr>
          <p:cNvPr id="135" name="c1_7"/>
          <p:cNvSpPr/>
          <p:nvPr/>
        </p:nvSpPr>
        <p:spPr>
          <a:xfrm>
            <a:off x="457200" y="3904488"/>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7</a:t>
            </a:r>
          </a:p>
        </p:txBody>
      </p:sp>
      <p:sp>
        <p:nvSpPr>
          <p:cNvPr id="136" name="c2_7"/>
          <p:cNvSpPr/>
          <p:nvPr/>
        </p:nvSpPr>
        <p:spPr>
          <a:xfrm>
            <a:off x="822960" y="3904488"/>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統合DB構築を見据えた学園共通コードのレビュー</a:t>
            </a:r>
          </a:p>
        </p:txBody>
      </p:sp>
      <p:sp>
        <p:nvSpPr>
          <p:cNvPr id="137" name="pill_7_bg"/>
          <p:cNvSpPr/>
          <p:nvPr/>
        </p:nvSpPr>
        <p:spPr>
          <a:xfrm>
            <a:off x="7040880" y="3959352"/>
            <a:ext cx="1463040" cy="219456"/>
          </a:xfrm>
          <a:prstGeom prst="rect">
            <a:avLst/>
          </a:prstGeom>
          <a:solidFill>
            <a:srgbClr val="C4A05C"/>
          </a:solidFill>
          <a:ln/>
        </p:spPr>
      </p:sp>
      <p:sp>
        <p:nvSpPr>
          <p:cNvPr id="138" name="pill_7_tx"/>
          <p:cNvSpPr/>
          <p:nvPr/>
        </p:nvSpPr>
        <p:spPr>
          <a:xfrm>
            <a:off x="7040880" y="3959352"/>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プロジェクト型</a:t>
            </a:r>
          </a:p>
        </p:txBody>
      </p:sp>
      <p:sp>
        <p:nvSpPr>
          <p:cNvPr id="139" name="row_bg_8"/>
          <p:cNvSpPr/>
          <p:nvPr/>
        </p:nvSpPr>
        <p:spPr>
          <a:xfrm>
            <a:off x="365760" y="4233672"/>
            <a:ext cx="8412480" cy="329184"/>
          </a:xfrm>
          <a:prstGeom prst="rect">
            <a:avLst/>
          </a:prstGeom>
          <a:solidFill>
            <a:srgbClr val="FAFAFB"/>
          </a:solidFill>
          <a:ln/>
        </p:spPr>
      </p:sp>
      <p:sp>
        <p:nvSpPr>
          <p:cNvPr id="140" name="c1_8"/>
          <p:cNvSpPr/>
          <p:nvPr/>
        </p:nvSpPr>
        <p:spPr>
          <a:xfrm>
            <a:off x="457200" y="4233672"/>
            <a:ext cx="457200" cy="329184"/>
          </a:xfrm>
          <a:prstGeom prst="rect">
            <a:avLst/>
          </a:prstGeom>
          <a:noFill/>
          <a:ln/>
        </p:spPr>
        <p:txBody>
          <a:bodyPr wrap="square" lIns="0" tIns="0" rIns="0" bIns="0" rtlCol="0" anchor="ctr"/>
          <a:lstStyle/>
          <a:p>
            <a:pPr algn="ctr" indent="0" marL="0">
              <a:buNone/>
            </a:pPr>
            <a:r>
              <a:rPr lang="ja-JP" sz="1000" dirty="0">
                <a:solidFill>
                  <a:srgbClr val="3A3A42"/>
                </a:solidFill>
                <a:latin typeface="Consolas"/>
                <a:ea typeface="Consolas"/>
                <a:cs typeface="Consolas"/>
              </a:rPr>
              <a:t>8</a:t>
            </a:r>
          </a:p>
        </p:txBody>
      </p:sp>
      <p:sp>
        <p:nvSpPr>
          <p:cNvPr id="141" name="c2_8"/>
          <p:cNvSpPr/>
          <p:nvPr/>
        </p:nvSpPr>
        <p:spPr>
          <a:xfrm>
            <a:off x="822960" y="4233672"/>
            <a:ext cx="5943600" cy="329184"/>
          </a:xfrm>
          <a:prstGeom prst="rect">
            <a:avLst/>
          </a:prstGeom>
          <a:noFill/>
          <a:ln/>
        </p:spPr>
        <p:txBody>
          <a:bodyPr wrap="square" lIns="0" tIns="0" rIns="0" bIns="0" rtlCol="0" anchor="ctr"/>
          <a:lstStyle/>
          <a:p>
            <a:pPr indent="0" marL="0">
              <a:buNone/>
            </a:pPr>
            <a:r>
              <a:rPr lang="ja-JP" sz="1000" dirty="0">
                <a:solidFill>
                  <a:srgbClr val="3A3A42"/>
                </a:solidFill>
                <a:latin typeface="Noto Sans JP"/>
                <a:ea typeface="Noto Sans JP"/>
                <a:cs typeface="Noto Sans JP"/>
              </a:rPr>
              <a:t>生成AIの利用規程・ガイドライン等のルール策定支援</a:t>
            </a:r>
          </a:p>
        </p:txBody>
      </p:sp>
      <p:sp>
        <p:nvSpPr>
          <p:cNvPr id="142" name="pill_8_bg"/>
          <p:cNvSpPr/>
          <p:nvPr/>
        </p:nvSpPr>
        <p:spPr>
          <a:xfrm>
            <a:off x="7040880" y="4288536"/>
            <a:ext cx="1463040" cy="219456"/>
          </a:xfrm>
          <a:prstGeom prst="rect">
            <a:avLst/>
          </a:prstGeom>
          <a:solidFill>
            <a:srgbClr val="C4A05C"/>
          </a:solidFill>
          <a:ln/>
        </p:spPr>
      </p:sp>
      <p:sp>
        <p:nvSpPr>
          <p:cNvPr id="143" name="pill_8_tx"/>
          <p:cNvSpPr/>
          <p:nvPr/>
        </p:nvSpPr>
        <p:spPr>
          <a:xfrm>
            <a:off x="7040880" y="4288536"/>
            <a:ext cx="1463040"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Noto Sans JP"/>
                <a:ea typeface="Noto Sans JP"/>
                <a:cs typeface="Noto Sans JP"/>
              </a:rPr>
              <a:t>プロジェクト型</a:t>
            </a:r>
          </a:p>
        </p:txBody>
      </p:sp>
      <p:sp>
        <p:nvSpPr>
          <p:cNvPr id="144" name="legend_gr"/>
          <p:cNvSpPr/>
          <p:nvPr/>
        </p:nvSpPr>
        <p:spPr>
          <a:xfrm>
            <a:off x="365760" y="4745736"/>
            <a:ext cx="146304" cy="146304"/>
          </a:xfrm>
          <a:prstGeom prst="rect">
            <a:avLst/>
          </a:prstGeom>
          <a:solidFill>
            <a:srgbClr val="5E9B7F"/>
          </a:solidFill>
          <a:ln/>
        </p:spPr>
      </p:sp>
      <p:sp>
        <p:nvSpPr>
          <p:cNvPr id="145" name="legend_gr_tx"/>
          <p:cNvSpPr/>
          <p:nvPr/>
        </p:nvSpPr>
        <p:spPr>
          <a:xfrm>
            <a:off x="585216" y="4718304"/>
            <a:ext cx="4114800" cy="201168"/>
          </a:xfrm>
          <a:prstGeom prst="rect">
            <a:avLst/>
          </a:prstGeom>
          <a:noFill/>
          <a:ln/>
        </p:spPr>
        <p:txBody>
          <a:bodyPr wrap="square" lIns="0" tIns="0" rIns="0" bIns="0" rtlCol="0"/>
          <a:lstStyle/>
          <a:p>
            <a:pPr indent="0" marL="0">
              <a:buNone/>
            </a:pPr>
            <a:r>
              <a:rPr lang="ja-JP" sz="900" dirty="0">
                <a:solidFill>
                  <a:srgbClr val="5E5C6A"/>
                </a:solidFill>
                <a:latin typeface="Noto Sans JP"/>
                <a:ea typeface="Noto Sans JP"/>
                <a:cs typeface="Noto Sans JP"/>
              </a:rPr>
              <a:t>月額顧問 ＝ 継続伴走（レビュー・情報提供・調整）</a:t>
            </a:r>
          </a:p>
        </p:txBody>
      </p:sp>
      <p:sp>
        <p:nvSpPr>
          <p:cNvPr id="146" name="legend_am"/>
          <p:cNvSpPr/>
          <p:nvPr/>
        </p:nvSpPr>
        <p:spPr>
          <a:xfrm>
            <a:off x="4663440" y="4745736"/>
            <a:ext cx="146304" cy="146304"/>
          </a:xfrm>
          <a:prstGeom prst="rect">
            <a:avLst/>
          </a:prstGeom>
          <a:solidFill>
            <a:srgbClr val="C4A05C"/>
          </a:solidFill>
          <a:ln/>
        </p:spPr>
      </p:sp>
      <p:sp>
        <p:nvSpPr>
          <p:cNvPr id="147" name="legend_am_tx"/>
          <p:cNvSpPr/>
          <p:nvPr/>
        </p:nvSpPr>
        <p:spPr>
          <a:xfrm>
            <a:off x="4882896" y="4718304"/>
            <a:ext cx="4114800" cy="201168"/>
          </a:xfrm>
          <a:prstGeom prst="rect">
            <a:avLst/>
          </a:prstGeom>
          <a:noFill/>
          <a:ln/>
        </p:spPr>
        <p:txBody>
          <a:bodyPr wrap="square" lIns="0" tIns="0" rIns="0" bIns="0" rtlCol="0"/>
          <a:lstStyle/>
          <a:p>
            <a:pPr indent="0" marL="0">
              <a:buNone/>
            </a:pPr>
            <a:r>
              <a:rPr lang="ja-JP" sz="900" dirty="0">
                <a:solidFill>
                  <a:srgbClr val="5E5C6A"/>
                </a:solidFill>
                <a:latin typeface="Noto Sans JP"/>
                <a:ea typeface="Noto Sans JP"/>
                <a:cs typeface="Noto Sans JP"/>
              </a:rPr>
              <a:t>プロジェクト型 ＝ 単発・成果物型（設計書・規程など）</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02</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02 / NOW</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貴学園の現状理解と主要論点（仮説）</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05 / 18</a:t>
            </a:r>
            <a:endParaRPr lang="en-US" sz="800" dirty="0"/>
          </a:p>
        </p:txBody>
      </p:sp>
      <p:sp>
        <p:nvSpPr>
          <p:cNvPr id="100" name="card_0_bg"/>
          <p:cNvSpPr/>
          <p:nvPr/>
        </p:nvSpPr>
        <p:spPr>
          <a:xfrm>
            <a:off x="365760" y="1600200"/>
            <a:ext cx="2651760" cy="1371600"/>
          </a:xfrm>
          <a:prstGeom prst="rect">
            <a:avLst/>
          </a:prstGeom>
          <a:solidFill>
            <a:srgbClr val="FAFAFB"/>
          </a:solidFill>
          <a:ln/>
        </p:spPr>
      </p:sp>
      <p:sp>
        <p:nvSpPr>
          <p:cNvPr id="101" name="card_0_ln"/>
          <p:cNvSpPr/>
          <p:nvPr/>
        </p:nvSpPr>
        <p:spPr>
          <a:xfrm>
            <a:off x="365760" y="1600200"/>
            <a:ext cx="36576" cy="1371600"/>
          </a:xfrm>
          <a:prstGeom prst="rect">
            <a:avLst/>
          </a:prstGeom>
          <a:solidFill>
            <a:srgbClr val="8B7AB8"/>
          </a:solidFill>
          <a:ln/>
        </p:spPr>
      </p:sp>
      <p:sp>
        <p:nvSpPr>
          <p:cNvPr id="102" name="card_0_en"/>
          <p:cNvSpPr/>
          <p:nvPr/>
        </p:nvSpPr>
        <p:spPr>
          <a:xfrm>
            <a:off x="548640" y="1737360"/>
            <a:ext cx="246888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HR</a:t>
            </a:r>
          </a:p>
        </p:txBody>
      </p:sp>
      <p:sp>
        <p:nvSpPr>
          <p:cNvPr id="103" name="card_0_jp"/>
          <p:cNvSpPr/>
          <p:nvPr/>
        </p:nvSpPr>
        <p:spPr>
          <a:xfrm>
            <a:off x="548640" y="1947672"/>
            <a:ext cx="2468880" cy="320040"/>
          </a:xfrm>
          <a:prstGeom prst="rect">
            <a:avLst/>
          </a:prstGeom>
          <a:noFill/>
          <a:ln/>
        </p:spPr>
        <p:txBody>
          <a:bodyPr wrap="square" lIns="0" tIns="0" rIns="0" bIns="0" rtlCol="0"/>
          <a:lstStyle/>
          <a:p>
            <a:pPr indent="0" marL="0">
              <a:buNone/>
            </a:pPr>
            <a:r>
              <a:rPr lang="ja-JP" sz="1600" b="1" dirty="0">
                <a:solidFill>
                  <a:srgbClr val="3A3A42"/>
                </a:solidFill>
                <a:latin typeface="Noto Sans JP"/>
                <a:ea typeface="Noto Sans JP"/>
                <a:cs typeface="Noto Sans JP"/>
              </a:rPr>
              <a:t>人事領域</a:t>
            </a:r>
          </a:p>
        </p:txBody>
      </p:sp>
      <p:sp>
        <p:nvSpPr>
          <p:cNvPr id="104" name="card_0_pill_bg"/>
          <p:cNvSpPr/>
          <p:nvPr/>
        </p:nvSpPr>
        <p:spPr>
          <a:xfrm>
            <a:off x="548640" y="2331720"/>
            <a:ext cx="1828800" cy="228600"/>
          </a:xfrm>
          <a:prstGeom prst="rect">
            <a:avLst/>
          </a:prstGeom>
          <a:solidFill>
            <a:srgbClr val="8B7AB8"/>
          </a:solidFill>
          <a:ln/>
        </p:spPr>
      </p:sp>
      <p:sp>
        <p:nvSpPr>
          <p:cNvPr id="105" name="card_0_pill_tx"/>
          <p:cNvSpPr/>
          <p:nvPr/>
        </p:nvSpPr>
        <p:spPr>
          <a:xfrm>
            <a:off x="548640" y="2331720"/>
            <a:ext cx="1828800" cy="22860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Noto Sans JP"/>
                <a:ea typeface="Noto Sans JP"/>
                <a:cs typeface="Noto Sans JP"/>
              </a:rPr>
              <a:t>統合DB PJ 進行中</a:t>
            </a:r>
          </a:p>
        </p:txBody>
      </p:sp>
      <p:sp>
        <p:nvSpPr>
          <p:cNvPr id="106" name="card_0_desc"/>
          <p:cNvSpPr/>
          <p:nvPr/>
        </p:nvSpPr>
        <p:spPr>
          <a:xfrm>
            <a:off x="548640" y="2606040"/>
            <a:ext cx="2286000" cy="365760"/>
          </a:xfrm>
          <a:prstGeom prst="rect">
            <a:avLst/>
          </a:prstGeom>
          <a:noFill/>
          <a:ln/>
        </p:spPr>
        <p:txBody>
          <a:bodyPr wrap="square" lIns="0" tIns="0" rIns="0" bIns="0" rtlCol="0"/>
          <a:lstStyle/>
          <a:p>
            <a:pPr indent="0" marL="0">
              <a:lnSpc>
                <a:spcPct val="120000"/>
              </a:lnSpc>
              <a:buNone/>
            </a:pPr>
            <a:r>
              <a:rPr lang="ja-JP" sz="850" dirty="0">
                <a:solidFill>
                  <a:srgbClr val="5E5C6A"/>
                </a:solidFill>
                <a:latin typeface="Noto Sans JP"/>
                <a:ea typeface="Noto Sans JP"/>
                <a:cs typeface="Noto Sans JP"/>
              </a:rPr>
              <a:t>パトスロゴス社と佐々木様のご紹介により実装フェーズへ。</a:t>
            </a:r>
          </a:p>
        </p:txBody>
      </p:sp>
      <p:sp>
        <p:nvSpPr>
          <p:cNvPr id="107" name="card_1_bg"/>
          <p:cNvSpPr/>
          <p:nvPr/>
        </p:nvSpPr>
        <p:spPr>
          <a:xfrm>
            <a:off x="3154680" y="1600200"/>
            <a:ext cx="2651760" cy="1371600"/>
          </a:xfrm>
          <a:prstGeom prst="rect">
            <a:avLst/>
          </a:prstGeom>
          <a:solidFill>
            <a:srgbClr val="FAFAFB"/>
          </a:solidFill>
          <a:ln/>
        </p:spPr>
      </p:sp>
      <p:sp>
        <p:nvSpPr>
          <p:cNvPr id="108" name="card_1_ln"/>
          <p:cNvSpPr/>
          <p:nvPr/>
        </p:nvSpPr>
        <p:spPr>
          <a:xfrm>
            <a:off x="3154680" y="1600200"/>
            <a:ext cx="36576" cy="1371600"/>
          </a:xfrm>
          <a:prstGeom prst="rect">
            <a:avLst/>
          </a:prstGeom>
          <a:solidFill>
            <a:srgbClr val="8B7AB8"/>
          </a:solidFill>
          <a:ln/>
        </p:spPr>
      </p:sp>
      <p:sp>
        <p:nvSpPr>
          <p:cNvPr id="109" name="card_1_en"/>
          <p:cNvSpPr/>
          <p:nvPr/>
        </p:nvSpPr>
        <p:spPr>
          <a:xfrm>
            <a:off x="3337560" y="1737360"/>
            <a:ext cx="246888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FINANCE</a:t>
            </a:r>
          </a:p>
        </p:txBody>
      </p:sp>
      <p:sp>
        <p:nvSpPr>
          <p:cNvPr id="110" name="card_1_jp"/>
          <p:cNvSpPr/>
          <p:nvPr/>
        </p:nvSpPr>
        <p:spPr>
          <a:xfrm>
            <a:off x="3337560" y="1947672"/>
            <a:ext cx="2468880" cy="320040"/>
          </a:xfrm>
          <a:prstGeom prst="rect">
            <a:avLst/>
          </a:prstGeom>
          <a:noFill/>
          <a:ln/>
        </p:spPr>
        <p:txBody>
          <a:bodyPr wrap="square" lIns="0" tIns="0" rIns="0" bIns="0" rtlCol="0"/>
          <a:lstStyle/>
          <a:p>
            <a:pPr indent="0" marL="0">
              <a:buNone/>
            </a:pPr>
            <a:r>
              <a:rPr lang="ja-JP" sz="1600" b="1" dirty="0">
                <a:solidFill>
                  <a:srgbClr val="3A3A42"/>
                </a:solidFill>
                <a:latin typeface="Noto Sans JP"/>
                <a:ea typeface="Noto Sans JP"/>
                <a:cs typeface="Noto Sans JP"/>
              </a:rPr>
              <a:t>経理領域</a:t>
            </a:r>
          </a:p>
        </p:txBody>
      </p:sp>
      <p:sp>
        <p:nvSpPr>
          <p:cNvPr id="111" name="card_1_pill_bg"/>
          <p:cNvSpPr/>
          <p:nvPr/>
        </p:nvSpPr>
        <p:spPr>
          <a:xfrm>
            <a:off x="3337560" y="2331720"/>
            <a:ext cx="1828800" cy="228600"/>
          </a:xfrm>
          <a:prstGeom prst="rect">
            <a:avLst/>
          </a:prstGeom>
          <a:solidFill>
            <a:srgbClr val="8B7AB8"/>
          </a:solidFill>
          <a:ln/>
        </p:spPr>
      </p:sp>
      <p:sp>
        <p:nvSpPr>
          <p:cNvPr id="112" name="card_1_pill_tx"/>
          <p:cNvSpPr/>
          <p:nvPr/>
        </p:nvSpPr>
        <p:spPr>
          <a:xfrm>
            <a:off x="3337560" y="2331720"/>
            <a:ext cx="1828800" cy="22860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Noto Sans JP"/>
                <a:ea typeface="Noto Sans JP"/>
                <a:cs typeface="Noto Sans JP"/>
              </a:rPr>
              <a:t>要件定義これから</a:t>
            </a:r>
          </a:p>
        </p:txBody>
      </p:sp>
      <p:sp>
        <p:nvSpPr>
          <p:cNvPr id="113" name="card_1_desc"/>
          <p:cNvSpPr/>
          <p:nvPr/>
        </p:nvSpPr>
        <p:spPr>
          <a:xfrm>
            <a:off x="3337560" y="2606040"/>
            <a:ext cx="2286000" cy="365760"/>
          </a:xfrm>
          <a:prstGeom prst="rect">
            <a:avLst/>
          </a:prstGeom>
          <a:noFill/>
          <a:ln/>
        </p:spPr>
        <p:txBody>
          <a:bodyPr wrap="square" lIns="0" tIns="0" rIns="0" bIns="0" rtlCol="0"/>
          <a:lstStyle/>
          <a:p>
            <a:pPr indent="0" marL="0">
              <a:lnSpc>
                <a:spcPct val="120000"/>
              </a:lnSpc>
              <a:buNone/>
            </a:pPr>
            <a:r>
              <a:rPr lang="ja-JP" sz="850" dirty="0">
                <a:solidFill>
                  <a:srgbClr val="5E5C6A"/>
                </a:solidFill>
                <a:latin typeface="Noto Sans JP"/>
                <a:ea typeface="Noto Sans JP"/>
                <a:cs typeface="Noto Sans JP"/>
              </a:rPr>
              <a:t>エデュース社による業務要件定義を開始。</a:t>
            </a:r>
          </a:p>
          <a:p>
            <a:pPr indent="0" marL="0">
              <a:lnSpc>
                <a:spcPct val="120000"/>
              </a:lnSpc>
              <a:buNone/>
            </a:pPr>
            <a:r>
              <a:rPr lang="ja-JP" sz="850" dirty="0">
                <a:solidFill>
                  <a:srgbClr val="5E5C6A"/>
                </a:solidFill>
                <a:latin typeface="Noto Sans JP"/>
                <a:ea typeface="Noto Sans JP"/>
                <a:cs typeface="Noto Sans JP"/>
              </a:rPr>
              <a:t>DB構築方針は未確定。</a:t>
            </a:r>
          </a:p>
        </p:txBody>
      </p:sp>
      <p:sp>
        <p:nvSpPr>
          <p:cNvPr id="114" name="card_2_bg"/>
          <p:cNvSpPr/>
          <p:nvPr/>
        </p:nvSpPr>
        <p:spPr>
          <a:xfrm>
            <a:off x="5943600" y="1600200"/>
            <a:ext cx="2651760" cy="1371600"/>
          </a:xfrm>
          <a:prstGeom prst="rect">
            <a:avLst/>
          </a:prstGeom>
          <a:solidFill>
            <a:srgbClr val="FAFAFB"/>
          </a:solidFill>
          <a:ln/>
        </p:spPr>
      </p:sp>
      <p:sp>
        <p:nvSpPr>
          <p:cNvPr id="115" name="card_2_ln"/>
          <p:cNvSpPr/>
          <p:nvPr/>
        </p:nvSpPr>
        <p:spPr>
          <a:xfrm>
            <a:off x="5943600" y="1600200"/>
            <a:ext cx="36576" cy="1371600"/>
          </a:xfrm>
          <a:prstGeom prst="rect">
            <a:avLst/>
          </a:prstGeom>
          <a:solidFill>
            <a:srgbClr val="8B7AB8"/>
          </a:solidFill>
          <a:ln/>
        </p:spPr>
      </p:sp>
      <p:sp>
        <p:nvSpPr>
          <p:cNvPr id="116" name="card_2_en"/>
          <p:cNvSpPr/>
          <p:nvPr/>
        </p:nvSpPr>
        <p:spPr>
          <a:xfrm>
            <a:off x="6126480" y="1737360"/>
            <a:ext cx="246888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COMMON</a:t>
            </a:r>
          </a:p>
        </p:txBody>
      </p:sp>
      <p:sp>
        <p:nvSpPr>
          <p:cNvPr id="117" name="card_2_jp"/>
          <p:cNvSpPr/>
          <p:nvPr/>
        </p:nvSpPr>
        <p:spPr>
          <a:xfrm>
            <a:off x="6126480" y="1947672"/>
            <a:ext cx="2468880" cy="320040"/>
          </a:xfrm>
          <a:prstGeom prst="rect">
            <a:avLst/>
          </a:prstGeom>
          <a:noFill/>
          <a:ln/>
        </p:spPr>
        <p:txBody>
          <a:bodyPr wrap="square" lIns="0" tIns="0" rIns="0" bIns="0" rtlCol="0"/>
          <a:lstStyle/>
          <a:p>
            <a:pPr indent="0" marL="0">
              <a:buNone/>
            </a:pPr>
            <a:r>
              <a:rPr lang="ja-JP" sz="1600" b="1" dirty="0">
                <a:solidFill>
                  <a:srgbClr val="3A3A42"/>
                </a:solidFill>
                <a:latin typeface="Noto Sans JP"/>
                <a:ea typeface="Noto Sans JP"/>
                <a:cs typeface="Noto Sans JP"/>
              </a:rPr>
              <a:t>共通</a:t>
            </a:r>
          </a:p>
        </p:txBody>
      </p:sp>
      <p:sp>
        <p:nvSpPr>
          <p:cNvPr id="118" name="card_2_pill_bg"/>
          <p:cNvSpPr/>
          <p:nvPr/>
        </p:nvSpPr>
        <p:spPr>
          <a:xfrm>
            <a:off x="6126480" y="2331720"/>
            <a:ext cx="1828800" cy="228600"/>
          </a:xfrm>
          <a:prstGeom prst="rect">
            <a:avLst/>
          </a:prstGeom>
          <a:solidFill>
            <a:srgbClr val="8B7AB8"/>
          </a:solidFill>
          <a:ln/>
        </p:spPr>
      </p:sp>
      <p:sp>
        <p:nvSpPr>
          <p:cNvPr id="119" name="card_2_pill_tx"/>
          <p:cNvSpPr/>
          <p:nvPr/>
        </p:nvSpPr>
        <p:spPr>
          <a:xfrm>
            <a:off x="6126480" y="2331720"/>
            <a:ext cx="1828800" cy="228600"/>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Noto Sans JP"/>
                <a:ea typeface="Noto Sans JP"/>
                <a:cs typeface="Noto Sans JP"/>
              </a:rPr>
              <a:t>業務一元化を志向</a:t>
            </a:r>
          </a:p>
        </p:txBody>
      </p:sp>
      <p:sp>
        <p:nvSpPr>
          <p:cNvPr id="120" name="card_2_desc"/>
          <p:cNvSpPr/>
          <p:nvPr/>
        </p:nvSpPr>
        <p:spPr>
          <a:xfrm>
            <a:off x="6126480" y="2606040"/>
            <a:ext cx="2286000" cy="365760"/>
          </a:xfrm>
          <a:prstGeom prst="rect">
            <a:avLst/>
          </a:prstGeom>
          <a:noFill/>
          <a:ln/>
        </p:spPr>
        <p:txBody>
          <a:bodyPr wrap="square" lIns="0" tIns="0" rIns="0" bIns="0" rtlCol="0"/>
          <a:lstStyle/>
          <a:p>
            <a:pPr indent="0" marL="0">
              <a:lnSpc>
                <a:spcPct val="120000"/>
              </a:lnSpc>
              <a:buNone/>
            </a:pPr>
            <a:r>
              <a:rPr lang="ja-JP" sz="850" dirty="0">
                <a:solidFill>
                  <a:srgbClr val="5E5C6A"/>
                </a:solidFill>
                <a:latin typeface="Noto Sans JP"/>
                <a:ea typeface="Noto Sans JP"/>
                <a:cs typeface="Noto Sans JP"/>
              </a:rPr>
              <a:t>To-Be業務フローが一部定義された段階。一元化の方向性。</a:t>
            </a:r>
          </a:p>
        </p:txBody>
      </p:sp>
      <p:sp>
        <p:nvSpPr>
          <p:cNvPr id="121" name="issues_title"/>
          <p:cNvSpPr/>
          <p:nvPr/>
        </p:nvSpPr>
        <p:spPr>
          <a:xfrm>
            <a:off x="365760" y="3154680"/>
            <a:ext cx="841248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当社が捉える主要論点</a:t>
            </a:r>
          </a:p>
        </p:txBody>
      </p:sp>
      <p:sp>
        <p:nvSpPr>
          <p:cNvPr id="122" name="issues_line"/>
          <p:cNvSpPr/>
          <p:nvPr/>
        </p:nvSpPr>
        <p:spPr>
          <a:xfrm>
            <a:off x="365760" y="3474720"/>
            <a:ext cx="8412480" cy="0"/>
          </a:xfrm>
          <a:prstGeom prst="line">
            <a:avLst/>
          </a:prstGeom>
          <a:noFill/>
          <a:ln w="19050">
            <a:solidFill>
              <a:srgbClr val="8B7AB8"/>
            </a:solidFill>
            <a:prstDash val="solid"/>
          </a:ln>
        </p:spPr>
      </p:sp>
      <p:sp>
        <p:nvSpPr>
          <p:cNvPr id="123" name="iss_tag_0"/>
          <p:cNvSpPr/>
          <p:nvPr/>
        </p:nvSpPr>
        <p:spPr>
          <a:xfrm>
            <a:off x="365760" y="3675888"/>
            <a:ext cx="256032" cy="256032"/>
          </a:xfrm>
          <a:prstGeom prst="rect">
            <a:avLst/>
          </a:prstGeom>
          <a:solidFill>
            <a:srgbClr val="8B7AB8"/>
          </a:solidFill>
          <a:ln/>
        </p:spPr>
      </p:sp>
      <p:sp>
        <p:nvSpPr>
          <p:cNvPr id="124" name="iss_tag_tx_0"/>
          <p:cNvSpPr/>
          <p:nvPr/>
        </p:nvSpPr>
        <p:spPr>
          <a:xfrm>
            <a:off x="365760" y="3675888"/>
            <a:ext cx="256032" cy="256032"/>
          </a:xfrm>
          <a:prstGeom prst="rect">
            <a:avLst/>
          </a:prstGeom>
          <a:noFill/>
          <a:ln/>
        </p:spPr>
        <p:txBody>
          <a:bodyPr wrap="square" lIns="0" tIns="0" rIns="0" bIns="0" rtlCol="0" anchor="ctr"/>
          <a:lstStyle/>
          <a:p>
            <a:pPr algn="ctr" indent="0" marL="0">
              <a:buNone/>
            </a:pPr>
            <a:r>
              <a:rPr lang="ja-JP" sz="900" b="1" dirty="0">
                <a:solidFill>
                  <a:srgbClr val="FFFFFF"/>
                </a:solidFill>
                <a:latin typeface="Noto Sans JP"/>
                <a:ea typeface="Noto Sans JP"/>
                <a:cs typeface="Noto Sans JP"/>
              </a:rPr>
              <a:t>A</a:t>
            </a:r>
          </a:p>
        </p:txBody>
      </p:sp>
      <p:sp>
        <p:nvSpPr>
          <p:cNvPr id="125" name="iss_tx_0"/>
          <p:cNvSpPr/>
          <p:nvPr/>
        </p:nvSpPr>
        <p:spPr>
          <a:xfrm>
            <a:off x="731520" y="3657600"/>
            <a:ext cx="3840480" cy="29260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「今すぐの打ち手」と「将来の統合DB・AI活用」の整合性確保</a:t>
            </a:r>
          </a:p>
        </p:txBody>
      </p:sp>
      <p:sp>
        <p:nvSpPr>
          <p:cNvPr id="126" name="iss_tag_1"/>
          <p:cNvSpPr/>
          <p:nvPr/>
        </p:nvSpPr>
        <p:spPr>
          <a:xfrm>
            <a:off x="4572000" y="3675888"/>
            <a:ext cx="256032" cy="256032"/>
          </a:xfrm>
          <a:prstGeom prst="rect">
            <a:avLst/>
          </a:prstGeom>
          <a:solidFill>
            <a:srgbClr val="8B7AB8"/>
          </a:solidFill>
          <a:ln/>
        </p:spPr>
      </p:sp>
      <p:sp>
        <p:nvSpPr>
          <p:cNvPr id="127" name="iss_tag_tx_1"/>
          <p:cNvSpPr/>
          <p:nvPr/>
        </p:nvSpPr>
        <p:spPr>
          <a:xfrm>
            <a:off x="4572000" y="3675888"/>
            <a:ext cx="256032" cy="256032"/>
          </a:xfrm>
          <a:prstGeom prst="rect">
            <a:avLst/>
          </a:prstGeom>
          <a:noFill/>
          <a:ln/>
        </p:spPr>
        <p:txBody>
          <a:bodyPr wrap="square" lIns="0" tIns="0" rIns="0" bIns="0" rtlCol="0" anchor="ctr"/>
          <a:lstStyle/>
          <a:p>
            <a:pPr algn="ctr" indent="0" marL="0">
              <a:buNone/>
            </a:pPr>
            <a:r>
              <a:rPr lang="ja-JP" sz="900" b="1" dirty="0">
                <a:solidFill>
                  <a:srgbClr val="FFFFFF"/>
                </a:solidFill>
                <a:latin typeface="Noto Sans JP"/>
                <a:ea typeface="Noto Sans JP"/>
                <a:cs typeface="Noto Sans JP"/>
              </a:rPr>
              <a:t>B</a:t>
            </a:r>
          </a:p>
        </p:txBody>
      </p:sp>
      <p:sp>
        <p:nvSpPr>
          <p:cNvPr id="128" name="iss_tx_1"/>
          <p:cNvSpPr/>
          <p:nvPr/>
        </p:nvSpPr>
        <p:spPr>
          <a:xfrm>
            <a:off x="4937760" y="3657600"/>
            <a:ext cx="3840480" cy="29260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経理DB方針の不透明さが後工程のコード・マスタ・BIに波及するリスク</a:t>
            </a:r>
          </a:p>
        </p:txBody>
      </p:sp>
      <p:sp>
        <p:nvSpPr>
          <p:cNvPr id="129" name="iss_tag_2"/>
          <p:cNvSpPr/>
          <p:nvPr/>
        </p:nvSpPr>
        <p:spPr>
          <a:xfrm>
            <a:off x="365760" y="3995928"/>
            <a:ext cx="256032" cy="256032"/>
          </a:xfrm>
          <a:prstGeom prst="rect">
            <a:avLst/>
          </a:prstGeom>
          <a:solidFill>
            <a:srgbClr val="8B7AB8"/>
          </a:solidFill>
          <a:ln/>
        </p:spPr>
      </p:sp>
      <p:sp>
        <p:nvSpPr>
          <p:cNvPr id="130" name="iss_tag_tx_2"/>
          <p:cNvSpPr/>
          <p:nvPr/>
        </p:nvSpPr>
        <p:spPr>
          <a:xfrm>
            <a:off x="365760" y="3995928"/>
            <a:ext cx="256032" cy="256032"/>
          </a:xfrm>
          <a:prstGeom prst="rect">
            <a:avLst/>
          </a:prstGeom>
          <a:noFill/>
          <a:ln/>
        </p:spPr>
        <p:txBody>
          <a:bodyPr wrap="square" lIns="0" tIns="0" rIns="0" bIns="0" rtlCol="0" anchor="ctr"/>
          <a:lstStyle/>
          <a:p>
            <a:pPr algn="ctr" indent="0" marL="0">
              <a:buNone/>
            </a:pPr>
            <a:r>
              <a:rPr lang="ja-JP" sz="900" b="1" dirty="0">
                <a:solidFill>
                  <a:srgbClr val="FFFFFF"/>
                </a:solidFill>
                <a:latin typeface="Noto Sans JP"/>
                <a:ea typeface="Noto Sans JP"/>
                <a:cs typeface="Noto Sans JP"/>
              </a:rPr>
              <a:t>C</a:t>
            </a:r>
          </a:p>
        </p:txBody>
      </p:sp>
      <p:sp>
        <p:nvSpPr>
          <p:cNvPr id="131" name="iss_tx_2"/>
          <p:cNvSpPr/>
          <p:nvPr/>
        </p:nvSpPr>
        <p:spPr>
          <a:xfrm>
            <a:off x="731520" y="3977640"/>
            <a:ext cx="3840480" cy="29260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人事（パトスロゴス）× 経理（エデュース）のマスタ整合性</a:t>
            </a:r>
          </a:p>
        </p:txBody>
      </p:sp>
      <p:sp>
        <p:nvSpPr>
          <p:cNvPr id="132" name="iss_tag_3"/>
          <p:cNvSpPr/>
          <p:nvPr/>
        </p:nvSpPr>
        <p:spPr>
          <a:xfrm>
            <a:off x="4572000" y="3995928"/>
            <a:ext cx="256032" cy="256032"/>
          </a:xfrm>
          <a:prstGeom prst="rect">
            <a:avLst/>
          </a:prstGeom>
          <a:solidFill>
            <a:srgbClr val="8B7AB8"/>
          </a:solidFill>
          <a:ln/>
        </p:spPr>
      </p:sp>
      <p:sp>
        <p:nvSpPr>
          <p:cNvPr id="133" name="iss_tag_tx_3"/>
          <p:cNvSpPr/>
          <p:nvPr/>
        </p:nvSpPr>
        <p:spPr>
          <a:xfrm>
            <a:off x="4572000" y="3995928"/>
            <a:ext cx="256032" cy="256032"/>
          </a:xfrm>
          <a:prstGeom prst="rect">
            <a:avLst/>
          </a:prstGeom>
          <a:noFill/>
          <a:ln/>
        </p:spPr>
        <p:txBody>
          <a:bodyPr wrap="square" lIns="0" tIns="0" rIns="0" bIns="0" rtlCol="0" anchor="ctr"/>
          <a:lstStyle/>
          <a:p>
            <a:pPr algn="ctr" indent="0" marL="0">
              <a:buNone/>
            </a:pPr>
            <a:r>
              <a:rPr lang="ja-JP" sz="900" b="1" dirty="0">
                <a:solidFill>
                  <a:srgbClr val="FFFFFF"/>
                </a:solidFill>
                <a:latin typeface="Noto Sans JP"/>
                <a:ea typeface="Noto Sans JP"/>
                <a:cs typeface="Noto Sans JP"/>
              </a:rPr>
              <a:t>D</a:t>
            </a:r>
          </a:p>
        </p:txBody>
      </p:sp>
      <p:sp>
        <p:nvSpPr>
          <p:cNvPr id="134" name="iss_tx_3"/>
          <p:cNvSpPr/>
          <p:nvPr/>
        </p:nvSpPr>
        <p:spPr>
          <a:xfrm>
            <a:off x="4937760" y="3977640"/>
            <a:ext cx="3840480" cy="29260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生成AI利用に関する学園統一ルールの未整備</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03</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03 / DB</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統合DB（経理領域）構造設計</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07 / 18</a:t>
            </a:r>
            <a:endParaRPr lang="en-US" sz="800" dirty="0"/>
          </a:p>
        </p:txBody>
      </p:sp>
      <p:sp>
        <p:nvSpPr>
          <p:cNvPr id="100" name="l_title"/>
          <p:cNvSpPr/>
          <p:nvPr/>
        </p:nvSpPr>
        <p:spPr>
          <a:xfrm>
            <a:off x="365760" y="1600200"/>
            <a:ext cx="4114800" cy="274320"/>
          </a:xfrm>
          <a:prstGeom prst="rect">
            <a:avLst/>
          </a:prstGeom>
          <a:noFill/>
          <a:ln/>
        </p:spPr>
        <p:txBody>
          <a:bodyPr wrap="square" lIns="0" tIns="0" rIns="0" bIns="0" rtlCol="0"/>
          <a:lstStyle/>
          <a:p>
            <a:pPr indent="0" marL="0">
              <a:buNone/>
            </a:pPr>
            <a:r>
              <a:rPr lang="ja-JP" sz="1200" b="1" dirty="0">
                <a:solidFill>
                  <a:srgbClr val="3A3A42"/>
                </a:solidFill>
                <a:latin typeface="Noto Sans JP"/>
                <a:ea typeface="Noto Sans JP"/>
                <a:cs typeface="Noto Sans JP"/>
              </a:rPr>
              <a:t>本プロジェクトのねらい</a:t>
            </a:r>
          </a:p>
        </p:txBody>
      </p:sp>
      <p:sp>
        <p:nvSpPr>
          <p:cNvPr id="101" name="l_line"/>
          <p:cNvSpPr/>
          <p:nvPr/>
        </p:nvSpPr>
        <p:spPr>
          <a:xfrm>
            <a:off x="365760" y="1947672"/>
            <a:ext cx="4114800" cy="0"/>
          </a:xfrm>
          <a:prstGeom prst="line">
            <a:avLst/>
          </a:prstGeom>
          <a:noFill/>
          <a:ln w="19050">
            <a:solidFill>
              <a:srgbClr val="8B7AB8"/>
            </a:solidFill>
            <a:prstDash val="solid"/>
          </a:ln>
        </p:spPr>
      </p:sp>
      <p:sp>
        <p:nvSpPr>
          <p:cNvPr id="102" name="aim_n_0"/>
          <p:cNvSpPr/>
          <p:nvPr/>
        </p:nvSpPr>
        <p:spPr>
          <a:xfrm>
            <a:off x="365760" y="2148840"/>
            <a:ext cx="411480" cy="411480"/>
          </a:xfrm>
          <a:prstGeom prst="rect">
            <a:avLst/>
          </a:prstGeom>
          <a:solidFill>
            <a:srgbClr val="8B7AB8"/>
          </a:solidFill>
          <a:ln/>
        </p:spPr>
      </p:sp>
      <p:sp>
        <p:nvSpPr>
          <p:cNvPr id="103" name="aim_n_tx_0"/>
          <p:cNvSpPr/>
          <p:nvPr/>
        </p:nvSpPr>
        <p:spPr>
          <a:xfrm>
            <a:off x="365760" y="2148840"/>
            <a:ext cx="411480" cy="411480"/>
          </a:xfrm>
          <a:prstGeom prst="rect">
            <a:avLst/>
          </a:prstGeom>
          <a:noFill/>
          <a:ln/>
        </p:spPr>
        <p:txBody>
          <a:bodyPr wrap="square" lIns="0" tIns="0" rIns="0" bIns="0" rtlCol="0" anchor="ctr"/>
          <a:lstStyle/>
          <a:p>
            <a:pPr algn="ctr" indent="0" marL="0">
              <a:buNone/>
            </a:pPr>
            <a:r>
              <a:rPr lang="ja-JP" sz="1100" b="1" dirty="0">
                <a:solidFill>
                  <a:srgbClr val="FFFFFF"/>
                </a:solidFill>
                <a:latin typeface="Consolas"/>
                <a:ea typeface="Consolas"/>
                <a:cs typeface="Consolas"/>
              </a:rPr>
              <a:t>01</a:t>
            </a:r>
          </a:p>
        </p:txBody>
      </p:sp>
      <p:sp>
        <p:nvSpPr>
          <p:cNvPr id="104" name="aim_h_0"/>
          <p:cNvSpPr/>
          <p:nvPr/>
        </p:nvSpPr>
        <p:spPr>
          <a:xfrm>
            <a:off x="914400" y="2148840"/>
            <a:ext cx="356616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業務要件 → DB構造への翻訳</a:t>
            </a:r>
          </a:p>
        </p:txBody>
      </p:sp>
      <p:sp>
        <p:nvSpPr>
          <p:cNvPr id="105" name="aim_d_0"/>
          <p:cNvSpPr/>
          <p:nvPr/>
        </p:nvSpPr>
        <p:spPr>
          <a:xfrm>
            <a:off x="914400" y="2441448"/>
            <a:ext cx="3566160" cy="457200"/>
          </a:xfrm>
          <a:prstGeom prst="rect">
            <a:avLst/>
          </a:prstGeom>
          <a:noFill/>
          <a:ln/>
        </p:spPr>
        <p:txBody>
          <a:bodyPr wrap="square" lIns="0" tIns="0" rIns="0" bIns="0" rtlCol="0"/>
          <a:lstStyle/>
          <a:p>
            <a:pPr indent="0" marL="0">
              <a:lnSpc>
                <a:spcPct val="120000"/>
              </a:lnSpc>
              <a:buNone/>
            </a:pPr>
            <a:r>
              <a:rPr lang="ja-JP" sz="900" dirty="0">
                <a:solidFill>
                  <a:srgbClr val="5E5C6A"/>
                </a:solidFill>
                <a:latin typeface="Noto Sans JP"/>
                <a:ea typeface="Noto Sans JP"/>
                <a:cs typeface="Noto Sans JP"/>
              </a:rPr>
              <a:t>エデュース社の業務要件定義と並走し、発注者側でDB設計をコントロール</a:t>
            </a:r>
          </a:p>
        </p:txBody>
      </p:sp>
      <p:sp>
        <p:nvSpPr>
          <p:cNvPr id="106" name="aim_n_1"/>
          <p:cNvSpPr/>
          <p:nvPr/>
        </p:nvSpPr>
        <p:spPr>
          <a:xfrm>
            <a:off x="365760" y="2953512"/>
            <a:ext cx="411480" cy="411480"/>
          </a:xfrm>
          <a:prstGeom prst="rect">
            <a:avLst/>
          </a:prstGeom>
          <a:solidFill>
            <a:srgbClr val="8B7AB8"/>
          </a:solidFill>
          <a:ln/>
        </p:spPr>
      </p:sp>
      <p:sp>
        <p:nvSpPr>
          <p:cNvPr id="107" name="aim_n_tx_1"/>
          <p:cNvSpPr/>
          <p:nvPr/>
        </p:nvSpPr>
        <p:spPr>
          <a:xfrm>
            <a:off x="365760" y="2953512"/>
            <a:ext cx="411480" cy="411480"/>
          </a:xfrm>
          <a:prstGeom prst="rect">
            <a:avLst/>
          </a:prstGeom>
          <a:noFill/>
          <a:ln/>
        </p:spPr>
        <p:txBody>
          <a:bodyPr wrap="square" lIns="0" tIns="0" rIns="0" bIns="0" rtlCol="0" anchor="ctr"/>
          <a:lstStyle/>
          <a:p>
            <a:pPr algn="ctr" indent="0" marL="0">
              <a:buNone/>
            </a:pPr>
            <a:r>
              <a:rPr lang="ja-JP" sz="1100" b="1" dirty="0">
                <a:solidFill>
                  <a:srgbClr val="FFFFFF"/>
                </a:solidFill>
                <a:latin typeface="Consolas"/>
                <a:ea typeface="Consolas"/>
                <a:cs typeface="Consolas"/>
              </a:rPr>
              <a:t>02</a:t>
            </a:r>
          </a:p>
        </p:txBody>
      </p:sp>
      <p:sp>
        <p:nvSpPr>
          <p:cNvPr id="108" name="aim_h_1"/>
          <p:cNvSpPr/>
          <p:nvPr/>
        </p:nvSpPr>
        <p:spPr>
          <a:xfrm>
            <a:off x="914400" y="2953512"/>
            <a:ext cx="356616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学園全体で単一のコード体系</a:t>
            </a:r>
          </a:p>
        </p:txBody>
      </p:sp>
      <p:sp>
        <p:nvSpPr>
          <p:cNvPr id="109" name="aim_d_1"/>
          <p:cNvSpPr/>
          <p:nvPr/>
        </p:nvSpPr>
        <p:spPr>
          <a:xfrm>
            <a:off x="914400" y="3246120"/>
            <a:ext cx="3566160" cy="457200"/>
          </a:xfrm>
          <a:prstGeom prst="rect">
            <a:avLst/>
          </a:prstGeom>
          <a:noFill/>
          <a:ln/>
        </p:spPr>
        <p:txBody>
          <a:bodyPr wrap="square" lIns="0" tIns="0" rIns="0" bIns="0" rtlCol="0"/>
          <a:lstStyle/>
          <a:p>
            <a:pPr indent="0" marL="0">
              <a:lnSpc>
                <a:spcPct val="120000"/>
              </a:lnSpc>
              <a:buNone/>
            </a:pPr>
            <a:r>
              <a:rPr lang="ja-JP" sz="900" dirty="0">
                <a:solidFill>
                  <a:srgbClr val="5E5C6A"/>
                </a:solidFill>
                <a:latin typeface="Noto Sans JP"/>
                <a:ea typeface="Noto Sans JP"/>
                <a:cs typeface="Noto Sans JP"/>
              </a:rPr>
              <a:t>人事（パトスロゴス）とのマスタ整合性を確保し、横串の分析基盤を実現</a:t>
            </a:r>
          </a:p>
        </p:txBody>
      </p:sp>
      <p:sp>
        <p:nvSpPr>
          <p:cNvPr id="110" name="aim_n_2"/>
          <p:cNvSpPr/>
          <p:nvPr/>
        </p:nvSpPr>
        <p:spPr>
          <a:xfrm>
            <a:off x="365760" y="3758184"/>
            <a:ext cx="411480" cy="411480"/>
          </a:xfrm>
          <a:prstGeom prst="rect">
            <a:avLst/>
          </a:prstGeom>
          <a:solidFill>
            <a:srgbClr val="8B7AB8"/>
          </a:solidFill>
          <a:ln/>
        </p:spPr>
      </p:sp>
      <p:sp>
        <p:nvSpPr>
          <p:cNvPr id="111" name="aim_n_tx_2"/>
          <p:cNvSpPr/>
          <p:nvPr/>
        </p:nvSpPr>
        <p:spPr>
          <a:xfrm>
            <a:off x="365760" y="3758184"/>
            <a:ext cx="411480" cy="411480"/>
          </a:xfrm>
          <a:prstGeom prst="rect">
            <a:avLst/>
          </a:prstGeom>
          <a:noFill/>
          <a:ln/>
        </p:spPr>
        <p:txBody>
          <a:bodyPr wrap="square" lIns="0" tIns="0" rIns="0" bIns="0" rtlCol="0" anchor="ctr"/>
          <a:lstStyle/>
          <a:p>
            <a:pPr algn="ctr" indent="0" marL="0">
              <a:buNone/>
            </a:pPr>
            <a:r>
              <a:rPr lang="ja-JP" sz="1100" b="1" dirty="0">
                <a:solidFill>
                  <a:srgbClr val="FFFFFF"/>
                </a:solidFill>
                <a:latin typeface="Consolas"/>
                <a:ea typeface="Consolas"/>
                <a:cs typeface="Consolas"/>
              </a:rPr>
              <a:t>03</a:t>
            </a:r>
          </a:p>
        </p:txBody>
      </p:sp>
      <p:sp>
        <p:nvSpPr>
          <p:cNvPr id="112" name="aim_h_2"/>
          <p:cNvSpPr/>
          <p:nvPr/>
        </p:nvSpPr>
        <p:spPr>
          <a:xfrm>
            <a:off x="914400" y="3758184"/>
            <a:ext cx="356616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将来の分析・BI・AI活用を見据える</a:t>
            </a:r>
          </a:p>
        </p:txBody>
      </p:sp>
      <p:sp>
        <p:nvSpPr>
          <p:cNvPr id="113" name="aim_d_2"/>
          <p:cNvSpPr/>
          <p:nvPr/>
        </p:nvSpPr>
        <p:spPr>
          <a:xfrm>
            <a:off x="914400" y="4050792"/>
            <a:ext cx="3566160" cy="457200"/>
          </a:xfrm>
          <a:prstGeom prst="rect">
            <a:avLst/>
          </a:prstGeom>
          <a:noFill/>
          <a:ln/>
        </p:spPr>
        <p:txBody>
          <a:bodyPr wrap="square" lIns="0" tIns="0" rIns="0" bIns="0" rtlCol="0"/>
          <a:lstStyle/>
          <a:p>
            <a:pPr indent="0" marL="0">
              <a:lnSpc>
                <a:spcPct val="120000"/>
              </a:lnSpc>
              <a:buNone/>
            </a:pPr>
            <a:r>
              <a:rPr lang="ja-JP" sz="900" dirty="0">
                <a:solidFill>
                  <a:srgbClr val="5E5C6A"/>
                </a:solidFill>
                <a:latin typeface="Noto Sans JP"/>
                <a:ea typeface="Noto Sans JP"/>
                <a:cs typeface="Noto Sans JP"/>
              </a:rPr>
              <a:t>拡張性のあるDB設計で、5〜10年先まで活かせるデータ基盤を構築</a:t>
            </a:r>
          </a:p>
        </p:txBody>
      </p:sp>
      <p:sp>
        <p:nvSpPr>
          <p:cNvPr id="114" name="r_title"/>
          <p:cNvSpPr/>
          <p:nvPr/>
        </p:nvSpPr>
        <p:spPr>
          <a:xfrm>
            <a:off x="4663440" y="1600200"/>
            <a:ext cx="4114800" cy="274320"/>
          </a:xfrm>
          <a:prstGeom prst="rect">
            <a:avLst/>
          </a:prstGeom>
          <a:noFill/>
          <a:ln/>
        </p:spPr>
        <p:txBody>
          <a:bodyPr wrap="square" lIns="0" tIns="0" rIns="0" bIns="0" rtlCol="0"/>
          <a:lstStyle/>
          <a:p>
            <a:pPr indent="0" marL="0">
              <a:buNone/>
            </a:pPr>
            <a:r>
              <a:rPr lang="ja-JP" sz="1200" b="1" dirty="0">
                <a:solidFill>
                  <a:srgbClr val="3A3A42"/>
                </a:solidFill>
                <a:latin typeface="Noto Sans JP"/>
                <a:ea typeface="Noto Sans JP"/>
                <a:cs typeface="Noto Sans JP"/>
              </a:rPr>
              <a:t>主要成果物</a:t>
            </a:r>
          </a:p>
        </p:txBody>
      </p:sp>
      <p:sp>
        <p:nvSpPr>
          <p:cNvPr id="115" name="r_line"/>
          <p:cNvSpPr/>
          <p:nvPr/>
        </p:nvSpPr>
        <p:spPr>
          <a:xfrm>
            <a:off x="4663440" y="1947672"/>
            <a:ext cx="4114800" cy="0"/>
          </a:xfrm>
          <a:prstGeom prst="line">
            <a:avLst/>
          </a:prstGeom>
          <a:noFill/>
          <a:ln w="19050">
            <a:solidFill>
              <a:srgbClr val="8B7AB8"/>
            </a:solidFill>
            <a:prstDash val="solid"/>
          </a:ln>
        </p:spPr>
      </p:sp>
      <p:sp>
        <p:nvSpPr>
          <p:cNvPr id="116" name="del_b_0"/>
          <p:cNvSpPr/>
          <p:nvPr/>
        </p:nvSpPr>
        <p:spPr>
          <a:xfrm>
            <a:off x="4663440" y="2203704"/>
            <a:ext cx="164592" cy="164592"/>
          </a:xfrm>
          <a:prstGeom prst="rect">
            <a:avLst/>
          </a:prstGeom>
          <a:solidFill>
            <a:srgbClr val="8B7AB8"/>
          </a:solidFill>
          <a:ln/>
        </p:spPr>
      </p:sp>
      <p:sp>
        <p:nvSpPr>
          <p:cNvPr id="117" name="del_t_0"/>
          <p:cNvSpPr/>
          <p:nvPr/>
        </p:nvSpPr>
        <p:spPr>
          <a:xfrm>
            <a:off x="4937760" y="2148840"/>
            <a:ext cx="3840480" cy="274320"/>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統合DB構造設計提案書（論理／物理モデル／ER図）</a:t>
            </a:r>
          </a:p>
        </p:txBody>
      </p:sp>
      <p:sp>
        <p:nvSpPr>
          <p:cNvPr id="118" name="del_b_1"/>
          <p:cNvSpPr/>
          <p:nvPr/>
        </p:nvSpPr>
        <p:spPr>
          <a:xfrm>
            <a:off x="4663440" y="2551176"/>
            <a:ext cx="164592" cy="164592"/>
          </a:xfrm>
          <a:prstGeom prst="rect">
            <a:avLst/>
          </a:prstGeom>
          <a:solidFill>
            <a:srgbClr val="8B7AB8"/>
          </a:solidFill>
          <a:ln/>
        </p:spPr>
      </p:sp>
      <p:sp>
        <p:nvSpPr>
          <p:cNvPr id="119" name="del_t_1"/>
          <p:cNvSpPr/>
          <p:nvPr/>
        </p:nvSpPr>
        <p:spPr>
          <a:xfrm>
            <a:off x="4937760" y="2496312"/>
            <a:ext cx="3840480" cy="274320"/>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クラウド・アーキテクチャ提案書（AWS/GCP/Azure比較・コスト試算）</a:t>
            </a:r>
          </a:p>
        </p:txBody>
      </p:sp>
      <p:sp>
        <p:nvSpPr>
          <p:cNvPr id="120" name="del_b_2"/>
          <p:cNvSpPr/>
          <p:nvPr/>
        </p:nvSpPr>
        <p:spPr>
          <a:xfrm>
            <a:off x="4663440" y="2898648"/>
            <a:ext cx="164592" cy="164592"/>
          </a:xfrm>
          <a:prstGeom prst="rect">
            <a:avLst/>
          </a:prstGeom>
          <a:solidFill>
            <a:srgbClr val="8B7AB8"/>
          </a:solidFill>
          <a:ln/>
        </p:spPr>
      </p:sp>
      <p:sp>
        <p:nvSpPr>
          <p:cNvPr id="121" name="del_t_2"/>
          <p:cNvSpPr/>
          <p:nvPr/>
        </p:nvSpPr>
        <p:spPr>
          <a:xfrm>
            <a:off x="4937760" y="2843784"/>
            <a:ext cx="3840480" cy="274320"/>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データガバナンス運用ルール案</a:t>
            </a:r>
          </a:p>
        </p:txBody>
      </p:sp>
      <p:sp>
        <p:nvSpPr>
          <p:cNvPr id="122" name="del_b_3"/>
          <p:cNvSpPr/>
          <p:nvPr/>
        </p:nvSpPr>
        <p:spPr>
          <a:xfrm>
            <a:off x="4663440" y="3246120"/>
            <a:ext cx="164592" cy="164592"/>
          </a:xfrm>
          <a:prstGeom prst="rect">
            <a:avLst/>
          </a:prstGeom>
          <a:solidFill>
            <a:srgbClr val="8B7AB8"/>
          </a:solidFill>
          <a:ln/>
        </p:spPr>
      </p:sp>
      <p:sp>
        <p:nvSpPr>
          <p:cNvPr id="123" name="del_t_3"/>
          <p:cNvSpPr/>
          <p:nvPr/>
        </p:nvSpPr>
        <p:spPr>
          <a:xfrm>
            <a:off x="4937760" y="3191256"/>
            <a:ext cx="3840480" cy="274320"/>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マスタ連携方式設計（ETL / ELT）</a:t>
            </a:r>
          </a:p>
        </p:txBody>
      </p:sp>
      <p:sp>
        <p:nvSpPr>
          <p:cNvPr id="124" name="cost_bg"/>
          <p:cNvSpPr/>
          <p:nvPr/>
        </p:nvSpPr>
        <p:spPr>
          <a:xfrm>
            <a:off x="4663440" y="3657600"/>
            <a:ext cx="4114800" cy="822960"/>
          </a:xfrm>
          <a:prstGeom prst="rect">
            <a:avLst/>
          </a:prstGeom>
          <a:solidFill>
            <a:srgbClr val="8B7AB8"/>
          </a:solidFill>
          <a:ln/>
        </p:spPr>
      </p:sp>
      <p:sp>
        <p:nvSpPr>
          <p:cNvPr id="125" name="cost_l1"/>
          <p:cNvSpPr/>
          <p:nvPr/>
        </p:nvSpPr>
        <p:spPr>
          <a:xfrm>
            <a:off x="4892040" y="3767328"/>
            <a:ext cx="3657600" cy="201168"/>
          </a:xfrm>
          <a:prstGeom prst="rect">
            <a:avLst/>
          </a:prstGeom>
          <a:noFill/>
          <a:ln/>
        </p:spPr>
        <p:txBody>
          <a:bodyPr wrap="square" lIns="0" tIns="0" rIns="0" bIns="0" rtlCol="0"/>
          <a:lstStyle/>
          <a:p>
            <a:pPr indent="0" marL="0">
              <a:buNone/>
            </a:pPr>
            <a:r>
              <a:rPr lang="ja-JP" sz="800" b="1" spc="100" kern="0" dirty="0">
                <a:solidFill>
                  <a:srgbClr val="D9D1E8"/>
                </a:solidFill>
                <a:latin typeface="Consolas"/>
                <a:ea typeface="Consolas"/>
                <a:cs typeface="Consolas"/>
              </a:rPr>
              <a:t>想定期間 / 工数 / 費用（標準シナリオ）</a:t>
            </a:r>
          </a:p>
        </p:txBody>
      </p:sp>
      <p:sp>
        <p:nvSpPr>
          <p:cNvPr id="126" name="cost_l2"/>
          <p:cNvSpPr/>
          <p:nvPr/>
        </p:nvSpPr>
        <p:spPr>
          <a:xfrm>
            <a:off x="4892040" y="4023360"/>
            <a:ext cx="3657600" cy="411480"/>
          </a:xfrm>
          <a:prstGeom prst="rect">
            <a:avLst/>
          </a:prstGeom>
          <a:noFill/>
          <a:ln/>
        </p:spPr>
        <p:txBody>
          <a:bodyPr wrap="square" lIns="0" tIns="0" rIns="0" bIns="0" rtlCol="0"/>
          <a:lstStyle/>
          <a:p>
            <a:pPr indent="0" marL="0">
              <a:buNone/>
            </a:pPr>
            <a:r>
              <a:rPr lang="ja-JP" sz="1300" b="1" dirty="0">
                <a:solidFill>
                  <a:srgbClr val="FFFFFF"/>
                </a:solidFill>
                <a:latin typeface="Noto Sans JP"/>
                <a:ea typeface="Noto Sans JP"/>
                <a:cs typeface="Noto Sans JP"/>
              </a:rPr>
              <a:t>3〜4ヶ月  ／  244h  ／  ¥2,440,000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04</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04 / DB</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学園共通コード（共通マスタ）レビュー</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08 / 18</a:t>
            </a:r>
            <a:endParaRPr lang="en-US" sz="800" dirty="0"/>
          </a:p>
        </p:txBody>
      </p:sp>
      <p:sp>
        <p:nvSpPr>
          <p:cNvPr id="100" name="mas_title"/>
          <p:cNvSpPr/>
          <p:nvPr/>
        </p:nvSpPr>
        <p:spPr>
          <a:xfrm>
            <a:off x="365760" y="1600200"/>
            <a:ext cx="8412480" cy="274320"/>
          </a:xfrm>
          <a:prstGeom prst="rect">
            <a:avLst/>
          </a:prstGeom>
          <a:noFill/>
          <a:ln/>
        </p:spPr>
        <p:txBody>
          <a:bodyPr wrap="square" lIns="0" tIns="0" rIns="0" bIns="0" rtlCol="0"/>
          <a:lstStyle/>
          <a:p>
            <a:pPr indent="0" marL="0">
              <a:buNone/>
            </a:pPr>
            <a:r>
              <a:rPr lang="ja-JP" sz="1200" b="1" dirty="0">
                <a:solidFill>
                  <a:srgbClr val="3A3A42"/>
                </a:solidFill>
                <a:latin typeface="Noto Sans JP"/>
                <a:ea typeface="Noto Sans JP"/>
                <a:cs typeface="Noto Sans JP"/>
              </a:rPr>
              <a:t>レビュー対象の主要マスタ</a:t>
            </a:r>
          </a:p>
        </p:txBody>
      </p:sp>
      <p:sp>
        <p:nvSpPr>
          <p:cNvPr id="101" name="mas_line"/>
          <p:cNvSpPr/>
          <p:nvPr/>
        </p:nvSpPr>
        <p:spPr>
          <a:xfrm>
            <a:off x="365760" y="1947672"/>
            <a:ext cx="8412480" cy="0"/>
          </a:xfrm>
          <a:prstGeom prst="line">
            <a:avLst/>
          </a:prstGeom>
          <a:noFill/>
          <a:ln w="19050">
            <a:solidFill>
              <a:srgbClr val="8B7AB8"/>
            </a:solidFill>
            <a:prstDash val="solid"/>
          </a:ln>
        </p:spPr>
      </p:sp>
      <p:sp>
        <p:nvSpPr>
          <p:cNvPr id="102" name="m_bg_0"/>
          <p:cNvSpPr/>
          <p:nvPr/>
        </p:nvSpPr>
        <p:spPr>
          <a:xfrm>
            <a:off x="365760" y="2103120"/>
            <a:ext cx="4114800" cy="914400"/>
          </a:xfrm>
          <a:prstGeom prst="rect">
            <a:avLst/>
          </a:prstGeom>
          <a:solidFill>
            <a:srgbClr val="FAFAFB"/>
          </a:solidFill>
          <a:ln/>
        </p:spPr>
      </p:sp>
      <p:sp>
        <p:nvSpPr>
          <p:cNvPr id="103" name="m_ln_0"/>
          <p:cNvSpPr/>
          <p:nvPr/>
        </p:nvSpPr>
        <p:spPr>
          <a:xfrm>
            <a:off x="365760" y="2103120"/>
            <a:ext cx="45720" cy="914400"/>
          </a:xfrm>
          <a:prstGeom prst="rect">
            <a:avLst/>
          </a:prstGeom>
          <a:solidFill>
            <a:srgbClr val="8B7AB8"/>
          </a:solidFill>
          <a:ln/>
        </p:spPr>
      </p:sp>
      <p:sp>
        <p:nvSpPr>
          <p:cNvPr id="104" name="m_en_0"/>
          <p:cNvSpPr/>
          <p:nvPr/>
        </p:nvSpPr>
        <p:spPr>
          <a:xfrm>
            <a:off x="594360" y="2194560"/>
            <a:ext cx="388620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DEPARTMENT</a:t>
            </a:r>
          </a:p>
        </p:txBody>
      </p:sp>
      <p:sp>
        <p:nvSpPr>
          <p:cNvPr id="105" name="m_jp_0"/>
          <p:cNvSpPr/>
          <p:nvPr/>
        </p:nvSpPr>
        <p:spPr>
          <a:xfrm>
            <a:off x="594360" y="2395728"/>
            <a:ext cx="3840480" cy="310896"/>
          </a:xfrm>
          <a:prstGeom prst="rect">
            <a:avLst/>
          </a:prstGeom>
          <a:noFill/>
          <a:ln/>
        </p:spPr>
        <p:txBody>
          <a:bodyPr wrap="square" lIns="0" tIns="0" rIns="0" bIns="0" rtlCol="0"/>
          <a:lstStyle/>
          <a:p>
            <a:pPr indent="0" marL="0">
              <a:buNone/>
            </a:pPr>
            <a:r>
              <a:rPr lang="ja-JP" sz="1400" b="1" dirty="0">
                <a:solidFill>
                  <a:srgbClr val="3A3A42"/>
                </a:solidFill>
                <a:latin typeface="Noto Sans JP"/>
                <a:ea typeface="Noto Sans JP"/>
                <a:cs typeface="Noto Sans JP"/>
              </a:rPr>
              <a:t>部門コード</a:t>
            </a:r>
          </a:p>
        </p:txBody>
      </p:sp>
      <p:sp>
        <p:nvSpPr>
          <p:cNvPr id="106" name="m_d_0"/>
          <p:cNvSpPr/>
          <p:nvPr/>
        </p:nvSpPr>
        <p:spPr>
          <a:xfrm>
            <a:off x="594360" y="2743200"/>
            <a:ext cx="3840480" cy="22860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人事 × 経理 × 学事で横串に連携</a:t>
            </a:r>
          </a:p>
        </p:txBody>
      </p:sp>
      <p:sp>
        <p:nvSpPr>
          <p:cNvPr id="107" name="m_bg_1"/>
          <p:cNvSpPr/>
          <p:nvPr/>
        </p:nvSpPr>
        <p:spPr>
          <a:xfrm>
            <a:off x="4663440" y="2103120"/>
            <a:ext cx="4114800" cy="914400"/>
          </a:xfrm>
          <a:prstGeom prst="rect">
            <a:avLst/>
          </a:prstGeom>
          <a:solidFill>
            <a:srgbClr val="FAFAFB"/>
          </a:solidFill>
          <a:ln/>
        </p:spPr>
      </p:sp>
      <p:sp>
        <p:nvSpPr>
          <p:cNvPr id="108" name="m_ln_1"/>
          <p:cNvSpPr/>
          <p:nvPr/>
        </p:nvSpPr>
        <p:spPr>
          <a:xfrm>
            <a:off x="4663440" y="2103120"/>
            <a:ext cx="45720" cy="914400"/>
          </a:xfrm>
          <a:prstGeom prst="rect">
            <a:avLst/>
          </a:prstGeom>
          <a:solidFill>
            <a:srgbClr val="8B7AB8"/>
          </a:solidFill>
          <a:ln/>
        </p:spPr>
      </p:sp>
      <p:sp>
        <p:nvSpPr>
          <p:cNvPr id="109" name="m_en_1"/>
          <p:cNvSpPr/>
          <p:nvPr/>
        </p:nvSpPr>
        <p:spPr>
          <a:xfrm>
            <a:off x="4892040" y="2194560"/>
            <a:ext cx="388620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FACULTY</a:t>
            </a:r>
          </a:p>
        </p:txBody>
      </p:sp>
      <p:sp>
        <p:nvSpPr>
          <p:cNvPr id="110" name="m_jp_1"/>
          <p:cNvSpPr/>
          <p:nvPr/>
        </p:nvSpPr>
        <p:spPr>
          <a:xfrm>
            <a:off x="4892040" y="2395728"/>
            <a:ext cx="3840480" cy="310896"/>
          </a:xfrm>
          <a:prstGeom prst="rect">
            <a:avLst/>
          </a:prstGeom>
          <a:noFill/>
          <a:ln/>
        </p:spPr>
        <p:txBody>
          <a:bodyPr wrap="square" lIns="0" tIns="0" rIns="0" bIns="0" rtlCol="0"/>
          <a:lstStyle/>
          <a:p>
            <a:pPr indent="0" marL="0">
              <a:buNone/>
            </a:pPr>
            <a:r>
              <a:rPr lang="ja-JP" sz="1400" b="1" dirty="0">
                <a:solidFill>
                  <a:srgbClr val="3A3A42"/>
                </a:solidFill>
                <a:latin typeface="Noto Sans JP"/>
                <a:ea typeface="Noto Sans JP"/>
                <a:cs typeface="Noto Sans JP"/>
              </a:rPr>
              <a:t>教職員コード</a:t>
            </a:r>
          </a:p>
        </p:txBody>
      </p:sp>
      <p:sp>
        <p:nvSpPr>
          <p:cNvPr id="111" name="m_d_1"/>
          <p:cNvSpPr/>
          <p:nvPr/>
        </p:nvSpPr>
        <p:spPr>
          <a:xfrm>
            <a:off x="4892040" y="2743200"/>
            <a:ext cx="3840480" cy="22860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人事マスタを起点に全業務で一意化</a:t>
            </a:r>
          </a:p>
        </p:txBody>
      </p:sp>
      <p:sp>
        <p:nvSpPr>
          <p:cNvPr id="112" name="m_bg_2"/>
          <p:cNvSpPr/>
          <p:nvPr/>
        </p:nvSpPr>
        <p:spPr>
          <a:xfrm>
            <a:off x="365760" y="3127248"/>
            <a:ext cx="4114800" cy="914400"/>
          </a:xfrm>
          <a:prstGeom prst="rect">
            <a:avLst/>
          </a:prstGeom>
          <a:solidFill>
            <a:srgbClr val="FAFAFB"/>
          </a:solidFill>
          <a:ln/>
        </p:spPr>
      </p:sp>
      <p:sp>
        <p:nvSpPr>
          <p:cNvPr id="113" name="m_ln_2"/>
          <p:cNvSpPr/>
          <p:nvPr/>
        </p:nvSpPr>
        <p:spPr>
          <a:xfrm>
            <a:off x="365760" y="3127248"/>
            <a:ext cx="45720" cy="914400"/>
          </a:xfrm>
          <a:prstGeom prst="rect">
            <a:avLst/>
          </a:prstGeom>
          <a:solidFill>
            <a:srgbClr val="8B7AB8"/>
          </a:solidFill>
          <a:ln/>
        </p:spPr>
      </p:sp>
      <p:sp>
        <p:nvSpPr>
          <p:cNvPr id="114" name="m_en_2"/>
          <p:cNvSpPr/>
          <p:nvPr/>
        </p:nvSpPr>
        <p:spPr>
          <a:xfrm>
            <a:off x="594360" y="3218688"/>
            <a:ext cx="388620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ACCOUNT</a:t>
            </a:r>
          </a:p>
        </p:txBody>
      </p:sp>
      <p:sp>
        <p:nvSpPr>
          <p:cNvPr id="115" name="m_jp_2"/>
          <p:cNvSpPr/>
          <p:nvPr/>
        </p:nvSpPr>
        <p:spPr>
          <a:xfrm>
            <a:off x="594360" y="3419856"/>
            <a:ext cx="3840480" cy="310896"/>
          </a:xfrm>
          <a:prstGeom prst="rect">
            <a:avLst/>
          </a:prstGeom>
          <a:noFill/>
          <a:ln/>
        </p:spPr>
        <p:txBody>
          <a:bodyPr wrap="square" lIns="0" tIns="0" rIns="0" bIns="0" rtlCol="0"/>
          <a:lstStyle/>
          <a:p>
            <a:pPr indent="0" marL="0">
              <a:buNone/>
            </a:pPr>
            <a:r>
              <a:rPr lang="ja-JP" sz="1400" b="1" dirty="0">
                <a:solidFill>
                  <a:srgbClr val="3A3A42"/>
                </a:solidFill>
                <a:latin typeface="Noto Sans JP"/>
                <a:ea typeface="Noto Sans JP"/>
                <a:cs typeface="Noto Sans JP"/>
              </a:rPr>
              <a:t>勘定科目</a:t>
            </a:r>
          </a:p>
        </p:txBody>
      </p:sp>
      <p:sp>
        <p:nvSpPr>
          <p:cNvPr id="116" name="m_d_2"/>
          <p:cNvSpPr/>
          <p:nvPr/>
        </p:nvSpPr>
        <p:spPr>
          <a:xfrm>
            <a:off x="594360" y="3767328"/>
            <a:ext cx="3840480" cy="22860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補助科目・セグメント設計と連動</a:t>
            </a:r>
          </a:p>
        </p:txBody>
      </p:sp>
      <p:sp>
        <p:nvSpPr>
          <p:cNvPr id="117" name="m_bg_3"/>
          <p:cNvSpPr/>
          <p:nvPr/>
        </p:nvSpPr>
        <p:spPr>
          <a:xfrm>
            <a:off x="4663440" y="3127248"/>
            <a:ext cx="4114800" cy="914400"/>
          </a:xfrm>
          <a:prstGeom prst="rect">
            <a:avLst/>
          </a:prstGeom>
          <a:solidFill>
            <a:srgbClr val="FAFAFB"/>
          </a:solidFill>
          <a:ln/>
        </p:spPr>
      </p:sp>
      <p:sp>
        <p:nvSpPr>
          <p:cNvPr id="118" name="m_ln_3"/>
          <p:cNvSpPr/>
          <p:nvPr/>
        </p:nvSpPr>
        <p:spPr>
          <a:xfrm>
            <a:off x="4663440" y="3127248"/>
            <a:ext cx="45720" cy="914400"/>
          </a:xfrm>
          <a:prstGeom prst="rect">
            <a:avLst/>
          </a:prstGeom>
          <a:solidFill>
            <a:srgbClr val="8B7AB8"/>
          </a:solidFill>
          <a:ln/>
        </p:spPr>
      </p:sp>
      <p:sp>
        <p:nvSpPr>
          <p:cNvPr id="119" name="m_en_3"/>
          <p:cNvSpPr/>
          <p:nvPr/>
        </p:nvSpPr>
        <p:spPr>
          <a:xfrm>
            <a:off x="4892040" y="3218688"/>
            <a:ext cx="3886200" cy="182880"/>
          </a:xfrm>
          <a:prstGeom prst="rect">
            <a:avLst/>
          </a:prstGeom>
          <a:noFill/>
          <a:ln/>
        </p:spPr>
        <p:txBody>
          <a:bodyPr wrap="square" lIns="0" tIns="0" rIns="0" bIns="0" rtlCol="0"/>
          <a:lstStyle/>
          <a:p>
            <a:pPr indent="0" marL="0">
              <a:buNone/>
            </a:pPr>
            <a:r>
              <a:rPr lang="ja-JP" sz="800" b="1" spc="200" kern="0" dirty="0">
                <a:solidFill>
                  <a:srgbClr val="8B7AB8"/>
                </a:solidFill>
                <a:latin typeface="Consolas"/>
                <a:ea typeface="Consolas"/>
                <a:cs typeface="Consolas"/>
              </a:rPr>
              <a:t>BUDGET / PARTNER</a:t>
            </a:r>
          </a:p>
        </p:txBody>
      </p:sp>
      <p:sp>
        <p:nvSpPr>
          <p:cNvPr id="120" name="m_jp_3"/>
          <p:cNvSpPr/>
          <p:nvPr/>
        </p:nvSpPr>
        <p:spPr>
          <a:xfrm>
            <a:off x="4892040" y="3419856"/>
            <a:ext cx="3840480" cy="310896"/>
          </a:xfrm>
          <a:prstGeom prst="rect">
            <a:avLst/>
          </a:prstGeom>
          <a:noFill/>
          <a:ln/>
        </p:spPr>
        <p:txBody>
          <a:bodyPr wrap="square" lIns="0" tIns="0" rIns="0" bIns="0" rtlCol="0"/>
          <a:lstStyle/>
          <a:p>
            <a:pPr indent="0" marL="0">
              <a:buNone/>
            </a:pPr>
            <a:r>
              <a:rPr lang="ja-JP" sz="1400" b="1" dirty="0">
                <a:solidFill>
                  <a:srgbClr val="3A3A42"/>
                </a:solidFill>
                <a:latin typeface="Noto Sans JP"/>
                <a:ea typeface="Noto Sans JP"/>
                <a:cs typeface="Noto Sans JP"/>
              </a:rPr>
              <a:t>予算・取引先コード</a:t>
            </a:r>
          </a:p>
        </p:txBody>
      </p:sp>
      <p:sp>
        <p:nvSpPr>
          <p:cNvPr id="121" name="m_d_3"/>
          <p:cNvSpPr/>
          <p:nvPr/>
        </p:nvSpPr>
        <p:spPr>
          <a:xfrm>
            <a:off x="4892040" y="3767328"/>
            <a:ext cx="3840480" cy="228600"/>
          </a:xfrm>
          <a:prstGeom prst="rect">
            <a:avLst/>
          </a:prstGeom>
          <a:noFill/>
          <a:ln/>
        </p:spPr>
        <p:txBody>
          <a:bodyPr wrap="square" lIns="0" tIns="0" rIns="0" bIns="0" rtlCol="0"/>
          <a:lstStyle/>
          <a:p>
            <a:pPr indent="0" marL="0">
              <a:buNone/>
            </a:pPr>
            <a:r>
              <a:rPr lang="ja-JP" sz="850" dirty="0">
                <a:solidFill>
                  <a:srgbClr val="5E5C6A"/>
                </a:solidFill>
                <a:latin typeface="Noto Sans JP"/>
                <a:ea typeface="Noto Sans JP"/>
                <a:cs typeface="Noto Sans JP"/>
              </a:rPr>
              <a:t>採番ルール・改廃ルールのガバナンス設計</a:t>
            </a:r>
          </a:p>
        </p:txBody>
      </p:sp>
      <p:sp>
        <p:nvSpPr>
          <p:cNvPr id="122" name="p_title"/>
          <p:cNvSpPr/>
          <p:nvPr/>
        </p:nvSpPr>
        <p:spPr>
          <a:xfrm>
            <a:off x="365760" y="4288536"/>
            <a:ext cx="8412480" cy="256032"/>
          </a:xfrm>
          <a:prstGeom prst="rect">
            <a:avLst/>
          </a:prstGeom>
          <a:noFill/>
          <a:ln/>
        </p:spPr>
        <p:txBody>
          <a:bodyPr wrap="square" lIns="0" tIns="0" rIns="0" bIns="0" rtlCol="0"/>
          <a:lstStyle/>
          <a:p>
            <a:pPr indent="0" marL="0">
              <a:buNone/>
            </a:pPr>
            <a:r>
              <a:rPr lang="ja-JP" sz="1200" b="1" dirty="0">
                <a:solidFill>
                  <a:srgbClr val="3A3A42"/>
                </a:solidFill>
                <a:latin typeface="Noto Sans JP"/>
                <a:ea typeface="Noto Sans JP"/>
                <a:cs typeface="Noto Sans JP"/>
              </a:rPr>
              <a:t>設計方針</a:t>
            </a:r>
          </a:p>
        </p:txBody>
      </p:sp>
      <p:sp>
        <p:nvSpPr>
          <p:cNvPr id="123" name="p_line"/>
          <p:cNvSpPr/>
          <p:nvPr/>
        </p:nvSpPr>
        <p:spPr>
          <a:xfrm>
            <a:off x="365760" y="4599432"/>
            <a:ext cx="8412480" cy="0"/>
          </a:xfrm>
          <a:prstGeom prst="line">
            <a:avLst/>
          </a:prstGeom>
          <a:noFill/>
          <a:ln w="19050">
            <a:solidFill>
              <a:srgbClr val="8B7AB8"/>
            </a:solidFill>
            <a:prstDash val="solid"/>
          </a:ln>
        </p:spPr>
      </p:sp>
      <p:sp>
        <p:nvSpPr>
          <p:cNvPr id="124" name="p_n_bg_0"/>
          <p:cNvSpPr/>
          <p:nvPr/>
        </p:nvSpPr>
        <p:spPr>
          <a:xfrm>
            <a:off x="365760" y="4745736"/>
            <a:ext cx="274320" cy="274320"/>
          </a:xfrm>
          <a:prstGeom prst="rect">
            <a:avLst/>
          </a:prstGeom>
          <a:solidFill>
            <a:srgbClr val="8B7AB8"/>
          </a:solidFill>
          <a:ln/>
        </p:spPr>
      </p:sp>
      <p:sp>
        <p:nvSpPr>
          <p:cNvPr id="125" name="p_n_0"/>
          <p:cNvSpPr/>
          <p:nvPr/>
        </p:nvSpPr>
        <p:spPr>
          <a:xfrm>
            <a:off x="365760" y="4745736"/>
            <a:ext cx="274320" cy="274320"/>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01</a:t>
            </a:r>
          </a:p>
        </p:txBody>
      </p:sp>
      <p:sp>
        <p:nvSpPr>
          <p:cNvPr id="126" name="p_t_0"/>
          <p:cNvSpPr/>
          <p:nvPr/>
        </p:nvSpPr>
        <p:spPr>
          <a:xfrm>
            <a:off x="731520" y="4745736"/>
            <a:ext cx="246888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採番ルール／改廃ルールのガバナンス設計</a:t>
            </a:r>
          </a:p>
        </p:txBody>
      </p:sp>
      <p:sp>
        <p:nvSpPr>
          <p:cNvPr id="127" name="p_n_bg_1"/>
          <p:cNvSpPr/>
          <p:nvPr/>
        </p:nvSpPr>
        <p:spPr>
          <a:xfrm>
            <a:off x="3200400" y="4745736"/>
            <a:ext cx="274320" cy="274320"/>
          </a:xfrm>
          <a:prstGeom prst="rect">
            <a:avLst/>
          </a:prstGeom>
          <a:solidFill>
            <a:srgbClr val="8B7AB8"/>
          </a:solidFill>
          <a:ln/>
        </p:spPr>
      </p:sp>
      <p:sp>
        <p:nvSpPr>
          <p:cNvPr id="128" name="p_n_1"/>
          <p:cNvSpPr/>
          <p:nvPr/>
        </p:nvSpPr>
        <p:spPr>
          <a:xfrm>
            <a:off x="3200400" y="4745736"/>
            <a:ext cx="274320" cy="274320"/>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02</a:t>
            </a:r>
          </a:p>
        </p:txBody>
      </p:sp>
      <p:sp>
        <p:nvSpPr>
          <p:cNvPr id="129" name="p_t_1"/>
          <p:cNvSpPr/>
          <p:nvPr/>
        </p:nvSpPr>
        <p:spPr>
          <a:xfrm>
            <a:off x="3566160" y="4745736"/>
            <a:ext cx="246888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パトスロゴス側成果物との整合レビュー</a:t>
            </a:r>
          </a:p>
        </p:txBody>
      </p:sp>
      <p:sp>
        <p:nvSpPr>
          <p:cNvPr id="130" name="p_n_bg_2"/>
          <p:cNvSpPr/>
          <p:nvPr/>
        </p:nvSpPr>
        <p:spPr>
          <a:xfrm>
            <a:off x="6035040" y="4745736"/>
            <a:ext cx="274320" cy="274320"/>
          </a:xfrm>
          <a:prstGeom prst="rect">
            <a:avLst/>
          </a:prstGeom>
          <a:solidFill>
            <a:srgbClr val="8B7AB8"/>
          </a:solidFill>
          <a:ln/>
        </p:spPr>
      </p:sp>
      <p:sp>
        <p:nvSpPr>
          <p:cNvPr id="131" name="p_n_2"/>
          <p:cNvSpPr/>
          <p:nvPr/>
        </p:nvSpPr>
        <p:spPr>
          <a:xfrm>
            <a:off x="6035040" y="4745736"/>
            <a:ext cx="274320" cy="274320"/>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03</a:t>
            </a:r>
          </a:p>
        </p:txBody>
      </p:sp>
      <p:sp>
        <p:nvSpPr>
          <p:cNvPr id="132" name="p_t_2"/>
          <p:cNvSpPr/>
          <p:nvPr/>
        </p:nvSpPr>
        <p:spPr>
          <a:xfrm>
            <a:off x="6400800" y="4745736"/>
            <a:ext cx="246888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DWH／データマート／BI配置方針</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05</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05 / AI</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生成AI 利用規程・ガイドライン策定</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10 / 18</a:t>
            </a:r>
            <a:endParaRPr lang="en-US" sz="800" dirty="0"/>
          </a:p>
        </p:txBody>
      </p:sp>
      <p:sp>
        <p:nvSpPr>
          <p:cNvPr id="100" name="l_t"/>
          <p:cNvSpPr/>
          <p:nvPr/>
        </p:nvSpPr>
        <p:spPr>
          <a:xfrm>
            <a:off x="365760" y="1600200"/>
            <a:ext cx="3840480" cy="274320"/>
          </a:xfrm>
          <a:prstGeom prst="rect">
            <a:avLst/>
          </a:prstGeom>
          <a:noFill/>
          <a:ln/>
        </p:spPr>
        <p:txBody>
          <a:bodyPr wrap="square" lIns="0" tIns="0" rIns="0" bIns="0" rtlCol="0"/>
          <a:lstStyle/>
          <a:p>
            <a:pPr indent="0" marL="0">
              <a:buNone/>
            </a:pPr>
            <a:r>
              <a:rPr lang="ja-JP" sz="1200" b="1" dirty="0">
                <a:solidFill>
                  <a:srgbClr val="3A3A42"/>
                </a:solidFill>
                <a:latin typeface="Noto Sans JP"/>
                <a:ea typeface="Noto Sans JP"/>
                <a:cs typeface="Noto Sans JP"/>
              </a:rPr>
              <a:t>基本コンセプト</a:t>
            </a:r>
          </a:p>
        </p:txBody>
      </p:sp>
      <p:sp>
        <p:nvSpPr>
          <p:cNvPr id="101" name="l_ln"/>
          <p:cNvSpPr/>
          <p:nvPr/>
        </p:nvSpPr>
        <p:spPr>
          <a:xfrm>
            <a:off x="365760" y="1947672"/>
            <a:ext cx="3840480" cy="0"/>
          </a:xfrm>
          <a:prstGeom prst="line">
            <a:avLst/>
          </a:prstGeom>
          <a:noFill/>
          <a:ln w="19050">
            <a:solidFill>
              <a:srgbClr val="8B7AB8"/>
            </a:solidFill>
            <a:prstDash val="solid"/>
          </a:ln>
        </p:spPr>
      </p:sp>
      <p:sp>
        <p:nvSpPr>
          <p:cNvPr id="102" name="c_no_bg"/>
          <p:cNvSpPr/>
          <p:nvPr/>
        </p:nvSpPr>
        <p:spPr>
          <a:xfrm>
            <a:off x="365760" y="2148840"/>
            <a:ext cx="3840480" cy="640080"/>
          </a:xfrm>
          <a:prstGeom prst="rect">
            <a:avLst/>
          </a:prstGeom>
          <a:solidFill>
            <a:srgbClr val="FAFAFB"/>
          </a:solidFill>
          <a:ln/>
        </p:spPr>
      </p:sp>
      <p:sp>
        <p:nvSpPr>
          <p:cNvPr id="103" name="c_no_l"/>
          <p:cNvSpPr/>
          <p:nvPr/>
        </p:nvSpPr>
        <p:spPr>
          <a:xfrm>
            <a:off x="548640" y="2240280"/>
            <a:ext cx="3474720" cy="201168"/>
          </a:xfrm>
          <a:prstGeom prst="rect">
            <a:avLst/>
          </a:prstGeom>
          <a:noFill/>
          <a:ln/>
        </p:spPr>
        <p:txBody>
          <a:bodyPr wrap="square" lIns="0" tIns="0" rIns="0" bIns="0" rtlCol="0"/>
          <a:lstStyle/>
          <a:p>
            <a:pPr indent="0" marL="0">
              <a:buNone/>
            </a:pPr>
            <a:r>
              <a:rPr lang="ja-JP" sz="800" b="1" spc="150" kern="0" dirty="0">
                <a:solidFill>
                  <a:srgbClr val="9B98A6"/>
                </a:solidFill>
                <a:latin typeface="Consolas"/>
                <a:ea typeface="Consolas"/>
                <a:cs typeface="Consolas"/>
              </a:rPr>
              <a:t>従来型（NG）</a:t>
            </a:r>
          </a:p>
        </p:txBody>
      </p:sp>
      <p:sp>
        <p:nvSpPr>
          <p:cNvPr id="104" name="c_no_t"/>
          <p:cNvSpPr/>
          <p:nvPr/>
        </p:nvSpPr>
        <p:spPr>
          <a:xfrm>
            <a:off x="548640" y="2468880"/>
            <a:ext cx="3474720" cy="274320"/>
          </a:xfrm>
          <a:prstGeom prst="rect">
            <a:avLst/>
          </a:prstGeom>
          <a:noFill/>
          <a:ln/>
        </p:spPr>
        <p:txBody>
          <a:bodyPr wrap="square" lIns="0" tIns="0" rIns="0" bIns="0" rtlCol="0"/>
          <a:lstStyle/>
          <a:p>
            <a:pPr indent="0" marL="0">
              <a:buNone/>
            </a:pPr>
            <a:r>
              <a:rPr lang="ja-JP" sz="1200" b="1" dirty="0">
                <a:solidFill>
                  <a:srgbClr val="9B98A6"/>
                </a:solidFill>
                <a:latin typeface="Noto Sans JP"/>
                <a:ea typeface="Noto Sans JP"/>
                <a:cs typeface="Noto Sans JP"/>
              </a:rPr>
              <a:t>禁止するためのルール</a:t>
            </a:r>
          </a:p>
        </p:txBody>
      </p:sp>
      <p:sp>
        <p:nvSpPr>
          <p:cNvPr id="105" name="c_ok_bg"/>
          <p:cNvSpPr/>
          <p:nvPr/>
        </p:nvSpPr>
        <p:spPr>
          <a:xfrm>
            <a:off x="365760" y="2971800"/>
            <a:ext cx="3840480" cy="822960"/>
          </a:xfrm>
          <a:prstGeom prst="rect">
            <a:avLst/>
          </a:prstGeom>
          <a:solidFill>
            <a:srgbClr val="8B7AB8"/>
          </a:solidFill>
          <a:ln/>
        </p:spPr>
      </p:sp>
      <p:sp>
        <p:nvSpPr>
          <p:cNvPr id="106" name="c_ok_l"/>
          <p:cNvSpPr/>
          <p:nvPr/>
        </p:nvSpPr>
        <p:spPr>
          <a:xfrm>
            <a:off x="548640" y="3081528"/>
            <a:ext cx="3474720" cy="201168"/>
          </a:xfrm>
          <a:prstGeom prst="rect">
            <a:avLst/>
          </a:prstGeom>
          <a:noFill/>
          <a:ln/>
        </p:spPr>
        <p:txBody>
          <a:bodyPr wrap="square" lIns="0" tIns="0" rIns="0" bIns="0" rtlCol="0"/>
          <a:lstStyle/>
          <a:p>
            <a:pPr indent="0" marL="0">
              <a:buNone/>
            </a:pPr>
            <a:r>
              <a:rPr lang="ja-JP" sz="800" b="1" spc="150" kern="0" dirty="0">
                <a:solidFill>
                  <a:srgbClr val="D9D1E8"/>
                </a:solidFill>
                <a:latin typeface="Consolas"/>
                <a:ea typeface="Consolas"/>
                <a:cs typeface="Consolas"/>
              </a:rPr>
              <a:t>当社アプローチ</a:t>
            </a:r>
          </a:p>
        </p:txBody>
      </p:sp>
      <p:sp>
        <p:nvSpPr>
          <p:cNvPr id="107" name="c_ok_t"/>
          <p:cNvSpPr/>
          <p:nvPr/>
        </p:nvSpPr>
        <p:spPr>
          <a:xfrm>
            <a:off x="548640" y="3319272"/>
            <a:ext cx="3474720" cy="384048"/>
          </a:xfrm>
          <a:prstGeom prst="rect">
            <a:avLst/>
          </a:prstGeom>
          <a:noFill/>
          <a:ln/>
        </p:spPr>
        <p:txBody>
          <a:bodyPr wrap="square" lIns="0" tIns="0" rIns="0" bIns="0" rtlCol="0"/>
          <a:lstStyle/>
          <a:p>
            <a:pPr indent="0" marL="0">
              <a:buNone/>
            </a:pPr>
            <a:r>
              <a:rPr lang="ja-JP" sz="1400" b="1" dirty="0">
                <a:solidFill>
                  <a:srgbClr val="FFFFFF"/>
                </a:solidFill>
                <a:latin typeface="Noto Sans JP"/>
                <a:ea typeface="Noto Sans JP"/>
                <a:cs typeface="Noto Sans JP"/>
              </a:rPr>
              <a:t>安全に推進するためのルール</a:t>
            </a:r>
          </a:p>
        </p:txBody>
      </p:sp>
      <p:sp>
        <p:nvSpPr>
          <p:cNvPr id="108" name="l_supp"/>
          <p:cNvSpPr/>
          <p:nvPr/>
        </p:nvSpPr>
        <p:spPr>
          <a:xfrm>
            <a:off x="365760" y="3977640"/>
            <a:ext cx="3840480" cy="640080"/>
          </a:xfrm>
          <a:prstGeom prst="rect">
            <a:avLst/>
          </a:prstGeom>
          <a:noFill/>
          <a:ln/>
        </p:spPr>
        <p:txBody>
          <a:bodyPr wrap="square" lIns="0" tIns="0" rIns="0" bIns="0" rtlCol="0"/>
          <a:lstStyle/>
          <a:p>
            <a:pPr indent="0" marL="0">
              <a:lnSpc>
                <a:spcPct val="140000"/>
              </a:lnSpc>
              <a:buNone/>
            </a:pPr>
            <a:r>
              <a:rPr lang="ja-JP" sz="900" dirty="0">
                <a:solidFill>
                  <a:srgbClr val="5E5C6A"/>
                </a:solidFill>
                <a:latin typeface="Noto Sans JP"/>
                <a:ea typeface="Noto Sans JP"/>
                <a:cs typeface="Noto Sans JP"/>
              </a:rPr>
              <a:t>将来的なAI技術の発展と活用を見据え</a:t>
            </a:r>
          </a:p>
          <a:p>
            <a:pPr indent="0" marL="0">
              <a:lnSpc>
                <a:spcPct val="140000"/>
              </a:lnSpc>
              <a:buNone/>
            </a:pPr>
            <a:r>
              <a:rPr lang="ja-JP" sz="900" dirty="0">
                <a:solidFill>
                  <a:srgbClr val="5E5C6A"/>
                </a:solidFill>
                <a:latin typeface="Noto Sans JP"/>
                <a:ea typeface="Noto Sans JP"/>
                <a:cs typeface="Noto Sans JP"/>
              </a:rPr>
              <a:t>まずは規程整備から段階的に着手します。</a:t>
            </a:r>
          </a:p>
        </p:txBody>
      </p:sp>
      <p:sp>
        <p:nvSpPr>
          <p:cNvPr id="109" name="r_t"/>
          <p:cNvSpPr/>
          <p:nvPr/>
        </p:nvSpPr>
        <p:spPr>
          <a:xfrm>
            <a:off x="4480560" y="1600200"/>
            <a:ext cx="4297680" cy="274320"/>
          </a:xfrm>
          <a:prstGeom prst="rect">
            <a:avLst/>
          </a:prstGeom>
          <a:noFill/>
          <a:ln/>
        </p:spPr>
        <p:txBody>
          <a:bodyPr wrap="square" lIns="0" tIns="0" rIns="0" bIns="0" rtlCol="0"/>
          <a:lstStyle/>
          <a:p>
            <a:pPr indent="0" marL="0">
              <a:buNone/>
            </a:pPr>
            <a:r>
              <a:rPr lang="ja-JP" sz="1200" b="1" dirty="0">
                <a:solidFill>
                  <a:srgbClr val="3A3A42"/>
                </a:solidFill>
                <a:latin typeface="Noto Sans JP"/>
                <a:ea typeface="Noto Sans JP"/>
                <a:cs typeface="Noto Sans JP"/>
              </a:rPr>
              <a:t>主要成果物</a:t>
            </a:r>
          </a:p>
        </p:txBody>
      </p:sp>
      <p:sp>
        <p:nvSpPr>
          <p:cNvPr id="110" name="r_ln"/>
          <p:cNvSpPr/>
          <p:nvPr/>
        </p:nvSpPr>
        <p:spPr>
          <a:xfrm>
            <a:off x="4480560" y="1947672"/>
            <a:ext cx="4297680" cy="0"/>
          </a:xfrm>
          <a:prstGeom prst="line">
            <a:avLst/>
          </a:prstGeom>
          <a:noFill/>
          <a:ln w="19050">
            <a:solidFill>
              <a:srgbClr val="8B7AB8"/>
            </a:solidFill>
            <a:prstDash val="solid"/>
          </a:ln>
        </p:spPr>
      </p:sp>
      <p:sp>
        <p:nvSpPr>
          <p:cNvPr id="111" name="d_n_0"/>
          <p:cNvSpPr/>
          <p:nvPr/>
        </p:nvSpPr>
        <p:spPr>
          <a:xfrm>
            <a:off x="4480560" y="2103120"/>
            <a:ext cx="274320" cy="274320"/>
          </a:xfrm>
          <a:prstGeom prst="rect">
            <a:avLst/>
          </a:prstGeom>
          <a:noFill/>
          <a:ln/>
        </p:spPr>
        <p:txBody>
          <a:bodyPr wrap="square" lIns="0" tIns="0" rIns="0" bIns="0" rtlCol="0"/>
          <a:lstStyle/>
          <a:p>
            <a:pPr indent="0" marL="0">
              <a:buNone/>
            </a:pPr>
            <a:r>
              <a:rPr lang="ja-JP" sz="900" b="1" dirty="0">
                <a:solidFill>
                  <a:srgbClr val="8B7AB8"/>
                </a:solidFill>
                <a:latin typeface="Consolas"/>
                <a:ea typeface="Consolas"/>
                <a:cs typeface="Consolas"/>
              </a:rPr>
              <a:t>01</a:t>
            </a:r>
          </a:p>
        </p:txBody>
      </p:sp>
      <p:sp>
        <p:nvSpPr>
          <p:cNvPr id="112" name="d_h_0"/>
          <p:cNvSpPr/>
          <p:nvPr/>
        </p:nvSpPr>
        <p:spPr>
          <a:xfrm>
            <a:off x="4846320" y="2084832"/>
            <a:ext cx="3931920" cy="228600"/>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生成AI 利用ガイドライン／規程</a:t>
            </a:r>
          </a:p>
        </p:txBody>
      </p:sp>
      <p:sp>
        <p:nvSpPr>
          <p:cNvPr id="113" name="d_d_0"/>
          <p:cNvSpPr/>
          <p:nvPr/>
        </p:nvSpPr>
        <p:spPr>
          <a:xfrm>
            <a:off x="4846320" y="2304288"/>
            <a:ext cx="3931920" cy="201168"/>
          </a:xfrm>
          <a:prstGeom prst="rect">
            <a:avLst/>
          </a:prstGeom>
          <a:noFill/>
          <a:ln/>
        </p:spPr>
        <p:txBody>
          <a:bodyPr wrap="square" lIns="0" tIns="0" rIns="0" bIns="0" rtlCol="0"/>
          <a:lstStyle/>
          <a:p>
            <a:pPr indent="0" marL="0">
              <a:buNone/>
            </a:pPr>
            <a:r>
              <a:rPr lang="ja-JP" sz="800" dirty="0">
                <a:solidFill>
                  <a:srgbClr val="5E5C6A"/>
                </a:solidFill>
                <a:latin typeface="Noto Sans JP"/>
                <a:ea typeface="Noto Sans JP"/>
                <a:cs typeface="Noto Sans JP"/>
              </a:rPr>
              <a:t>学園機密・個人情報・学生情報の取扱い区分</a:t>
            </a:r>
          </a:p>
        </p:txBody>
      </p:sp>
      <p:sp>
        <p:nvSpPr>
          <p:cNvPr id="114" name="d_n_1"/>
          <p:cNvSpPr/>
          <p:nvPr/>
        </p:nvSpPr>
        <p:spPr>
          <a:xfrm>
            <a:off x="4480560" y="2560320"/>
            <a:ext cx="274320" cy="274320"/>
          </a:xfrm>
          <a:prstGeom prst="rect">
            <a:avLst/>
          </a:prstGeom>
          <a:noFill/>
          <a:ln/>
        </p:spPr>
        <p:txBody>
          <a:bodyPr wrap="square" lIns="0" tIns="0" rIns="0" bIns="0" rtlCol="0"/>
          <a:lstStyle/>
          <a:p>
            <a:pPr indent="0" marL="0">
              <a:buNone/>
            </a:pPr>
            <a:r>
              <a:rPr lang="ja-JP" sz="900" b="1" dirty="0">
                <a:solidFill>
                  <a:srgbClr val="8B7AB8"/>
                </a:solidFill>
                <a:latin typeface="Consolas"/>
                <a:ea typeface="Consolas"/>
                <a:cs typeface="Consolas"/>
              </a:rPr>
              <a:t>02</a:t>
            </a:r>
          </a:p>
        </p:txBody>
      </p:sp>
      <p:sp>
        <p:nvSpPr>
          <p:cNvPr id="115" name="d_h_1"/>
          <p:cNvSpPr/>
          <p:nvPr/>
        </p:nvSpPr>
        <p:spPr>
          <a:xfrm>
            <a:off x="4846320" y="2542032"/>
            <a:ext cx="3931920" cy="228600"/>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利用可能／不可ツール判定基準</a:t>
            </a:r>
          </a:p>
        </p:txBody>
      </p:sp>
      <p:sp>
        <p:nvSpPr>
          <p:cNvPr id="116" name="d_d_1"/>
          <p:cNvSpPr/>
          <p:nvPr/>
        </p:nvSpPr>
        <p:spPr>
          <a:xfrm>
            <a:off x="4846320" y="2761488"/>
            <a:ext cx="3931920" cy="201168"/>
          </a:xfrm>
          <a:prstGeom prst="rect">
            <a:avLst/>
          </a:prstGeom>
          <a:noFill/>
          <a:ln/>
        </p:spPr>
        <p:txBody>
          <a:bodyPr wrap="square" lIns="0" tIns="0" rIns="0" bIns="0" rtlCol="0"/>
          <a:lstStyle/>
          <a:p>
            <a:pPr indent="0" marL="0">
              <a:buNone/>
            </a:pPr>
            <a:r>
              <a:rPr lang="ja-JP" sz="800" dirty="0">
                <a:solidFill>
                  <a:srgbClr val="5E5C6A"/>
                </a:solidFill>
                <a:latin typeface="Noto Sans JP"/>
                <a:ea typeface="Noto Sans JP"/>
                <a:cs typeface="Noto Sans JP"/>
              </a:rPr>
              <a:t>承認プロセスと対象ツール一覧</a:t>
            </a:r>
          </a:p>
        </p:txBody>
      </p:sp>
      <p:sp>
        <p:nvSpPr>
          <p:cNvPr id="117" name="d_n_2"/>
          <p:cNvSpPr/>
          <p:nvPr/>
        </p:nvSpPr>
        <p:spPr>
          <a:xfrm>
            <a:off x="4480560" y="3017520"/>
            <a:ext cx="274320" cy="274320"/>
          </a:xfrm>
          <a:prstGeom prst="rect">
            <a:avLst/>
          </a:prstGeom>
          <a:noFill/>
          <a:ln/>
        </p:spPr>
        <p:txBody>
          <a:bodyPr wrap="square" lIns="0" tIns="0" rIns="0" bIns="0" rtlCol="0"/>
          <a:lstStyle/>
          <a:p>
            <a:pPr indent="0" marL="0">
              <a:buNone/>
            </a:pPr>
            <a:r>
              <a:rPr lang="ja-JP" sz="900" b="1" dirty="0">
                <a:solidFill>
                  <a:srgbClr val="8B7AB8"/>
                </a:solidFill>
                <a:latin typeface="Consolas"/>
                <a:ea typeface="Consolas"/>
                <a:cs typeface="Consolas"/>
              </a:rPr>
              <a:t>03</a:t>
            </a:r>
          </a:p>
        </p:txBody>
      </p:sp>
      <p:sp>
        <p:nvSpPr>
          <p:cNvPr id="118" name="d_h_2"/>
          <p:cNvSpPr/>
          <p:nvPr/>
        </p:nvSpPr>
        <p:spPr>
          <a:xfrm>
            <a:off x="4846320" y="2999232"/>
            <a:ext cx="3931920" cy="228600"/>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著作権・アウトプット責任ルール</a:t>
            </a:r>
          </a:p>
        </p:txBody>
      </p:sp>
      <p:sp>
        <p:nvSpPr>
          <p:cNvPr id="119" name="d_d_2"/>
          <p:cNvSpPr/>
          <p:nvPr/>
        </p:nvSpPr>
        <p:spPr>
          <a:xfrm>
            <a:off x="4846320" y="3218688"/>
            <a:ext cx="3931920" cy="201168"/>
          </a:xfrm>
          <a:prstGeom prst="rect">
            <a:avLst/>
          </a:prstGeom>
          <a:noFill/>
          <a:ln/>
        </p:spPr>
        <p:txBody>
          <a:bodyPr wrap="square" lIns="0" tIns="0" rIns="0" bIns="0" rtlCol="0"/>
          <a:lstStyle/>
          <a:p>
            <a:pPr indent="0" marL="0">
              <a:buNone/>
            </a:pPr>
            <a:r>
              <a:rPr lang="ja-JP" sz="800" dirty="0">
                <a:solidFill>
                  <a:srgbClr val="5E5C6A"/>
                </a:solidFill>
                <a:latin typeface="Noto Sans JP"/>
                <a:ea typeface="Noto Sans JP"/>
                <a:cs typeface="Noto Sans JP"/>
              </a:rPr>
              <a:t>生成物の権利と学園としての責任範囲</a:t>
            </a:r>
          </a:p>
        </p:txBody>
      </p:sp>
      <p:sp>
        <p:nvSpPr>
          <p:cNvPr id="120" name="d_n_3"/>
          <p:cNvSpPr/>
          <p:nvPr/>
        </p:nvSpPr>
        <p:spPr>
          <a:xfrm>
            <a:off x="4480560" y="3474720"/>
            <a:ext cx="274320" cy="274320"/>
          </a:xfrm>
          <a:prstGeom prst="rect">
            <a:avLst/>
          </a:prstGeom>
          <a:noFill/>
          <a:ln/>
        </p:spPr>
        <p:txBody>
          <a:bodyPr wrap="square" lIns="0" tIns="0" rIns="0" bIns="0" rtlCol="0"/>
          <a:lstStyle/>
          <a:p>
            <a:pPr indent="0" marL="0">
              <a:buNone/>
            </a:pPr>
            <a:r>
              <a:rPr lang="ja-JP" sz="900" b="1" dirty="0">
                <a:solidFill>
                  <a:srgbClr val="8B7AB8"/>
                </a:solidFill>
                <a:latin typeface="Consolas"/>
                <a:ea typeface="Consolas"/>
                <a:cs typeface="Consolas"/>
              </a:rPr>
              <a:t>04</a:t>
            </a:r>
          </a:p>
        </p:txBody>
      </p:sp>
      <p:sp>
        <p:nvSpPr>
          <p:cNvPr id="121" name="d_h_3"/>
          <p:cNvSpPr/>
          <p:nvPr/>
        </p:nvSpPr>
        <p:spPr>
          <a:xfrm>
            <a:off x="4846320" y="3456432"/>
            <a:ext cx="3931920" cy="228600"/>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インシデント対応フロー</a:t>
            </a:r>
          </a:p>
        </p:txBody>
      </p:sp>
      <p:sp>
        <p:nvSpPr>
          <p:cNvPr id="122" name="d_d_3"/>
          <p:cNvSpPr/>
          <p:nvPr/>
        </p:nvSpPr>
        <p:spPr>
          <a:xfrm>
            <a:off x="4846320" y="3675888"/>
            <a:ext cx="3931920" cy="201168"/>
          </a:xfrm>
          <a:prstGeom prst="rect">
            <a:avLst/>
          </a:prstGeom>
          <a:noFill/>
          <a:ln/>
        </p:spPr>
        <p:txBody>
          <a:bodyPr wrap="square" lIns="0" tIns="0" rIns="0" bIns="0" rtlCol="0"/>
          <a:lstStyle/>
          <a:p>
            <a:pPr indent="0" marL="0">
              <a:buNone/>
            </a:pPr>
            <a:r>
              <a:rPr lang="ja-JP" sz="800" dirty="0">
                <a:solidFill>
                  <a:srgbClr val="5E5C6A"/>
                </a:solidFill>
                <a:latin typeface="Noto Sans JP"/>
                <a:ea typeface="Noto Sans JP"/>
                <a:cs typeface="Noto Sans JP"/>
              </a:rPr>
              <a:t>情報漏洩・誤出力時のエスカレーション</a:t>
            </a:r>
          </a:p>
        </p:txBody>
      </p:sp>
      <p:sp>
        <p:nvSpPr>
          <p:cNvPr id="123" name="d_n_4"/>
          <p:cNvSpPr/>
          <p:nvPr/>
        </p:nvSpPr>
        <p:spPr>
          <a:xfrm>
            <a:off x="4480560" y="3931920"/>
            <a:ext cx="274320" cy="274320"/>
          </a:xfrm>
          <a:prstGeom prst="rect">
            <a:avLst/>
          </a:prstGeom>
          <a:noFill/>
          <a:ln/>
        </p:spPr>
        <p:txBody>
          <a:bodyPr wrap="square" lIns="0" tIns="0" rIns="0" bIns="0" rtlCol="0"/>
          <a:lstStyle/>
          <a:p>
            <a:pPr indent="0" marL="0">
              <a:buNone/>
            </a:pPr>
            <a:r>
              <a:rPr lang="ja-JP" sz="900" b="1" dirty="0">
                <a:solidFill>
                  <a:srgbClr val="8B7AB8"/>
                </a:solidFill>
                <a:latin typeface="Consolas"/>
                <a:ea typeface="Consolas"/>
                <a:cs typeface="Consolas"/>
              </a:rPr>
              <a:t>05</a:t>
            </a:r>
          </a:p>
        </p:txBody>
      </p:sp>
      <p:sp>
        <p:nvSpPr>
          <p:cNvPr id="124" name="d_h_4"/>
          <p:cNvSpPr/>
          <p:nvPr/>
        </p:nvSpPr>
        <p:spPr>
          <a:xfrm>
            <a:off x="4846320" y="3913632"/>
            <a:ext cx="3931920" cy="228600"/>
          </a:xfrm>
          <a:prstGeom prst="rect">
            <a:avLst/>
          </a:prstGeom>
          <a:noFill/>
          <a:ln/>
        </p:spPr>
        <p:txBody>
          <a:bodyPr wrap="square" lIns="0" tIns="0" rIns="0" bIns="0" rtlCol="0"/>
          <a:lstStyle/>
          <a:p>
            <a:pPr indent="0" marL="0">
              <a:buNone/>
            </a:pPr>
            <a:r>
              <a:rPr lang="ja-JP" sz="1050" b="1" dirty="0">
                <a:solidFill>
                  <a:srgbClr val="3A3A42"/>
                </a:solidFill>
                <a:latin typeface="Noto Sans JP"/>
                <a:ea typeface="Noto Sans JP"/>
                <a:cs typeface="Noto Sans JP"/>
              </a:rPr>
              <a:t>学内説明資料／研修資料</a:t>
            </a:r>
          </a:p>
        </p:txBody>
      </p:sp>
      <p:sp>
        <p:nvSpPr>
          <p:cNvPr id="125" name="d_d_4"/>
          <p:cNvSpPr/>
          <p:nvPr/>
        </p:nvSpPr>
        <p:spPr>
          <a:xfrm>
            <a:off x="4846320" y="4133088"/>
            <a:ext cx="3931920" cy="201168"/>
          </a:xfrm>
          <a:prstGeom prst="rect">
            <a:avLst/>
          </a:prstGeom>
          <a:noFill/>
          <a:ln/>
        </p:spPr>
        <p:txBody>
          <a:bodyPr wrap="square" lIns="0" tIns="0" rIns="0" bIns="0" rtlCol="0"/>
          <a:lstStyle/>
          <a:p>
            <a:pPr indent="0" marL="0">
              <a:buNone/>
            </a:pPr>
            <a:r>
              <a:rPr lang="ja-JP" sz="800" dirty="0">
                <a:solidFill>
                  <a:srgbClr val="5E5C6A"/>
                </a:solidFill>
                <a:latin typeface="Noto Sans JP"/>
                <a:ea typeface="Noto Sans JP"/>
                <a:cs typeface="Noto Sans JP"/>
              </a:rPr>
              <a:t>プロジェクトCと連動した教材</a:t>
            </a:r>
          </a:p>
        </p:txBody>
      </p:sp>
      <p:sp>
        <p:nvSpPr>
          <p:cNvPr id="126" name="cb_bg"/>
          <p:cNvSpPr/>
          <p:nvPr/>
        </p:nvSpPr>
        <p:spPr>
          <a:xfrm>
            <a:off x="365760" y="4498848"/>
            <a:ext cx="8412480" cy="320040"/>
          </a:xfrm>
          <a:prstGeom prst="rect">
            <a:avLst/>
          </a:prstGeom>
          <a:solidFill>
            <a:srgbClr val="8B7AB8"/>
          </a:solidFill>
          <a:ln/>
        </p:spPr>
      </p:sp>
      <p:sp>
        <p:nvSpPr>
          <p:cNvPr id="127" name="cb_t"/>
          <p:cNvSpPr/>
          <p:nvPr/>
        </p:nvSpPr>
        <p:spPr>
          <a:xfrm>
            <a:off x="548640" y="4498848"/>
            <a:ext cx="8229600" cy="320040"/>
          </a:xfrm>
          <a:prstGeom prst="rect">
            <a:avLst/>
          </a:prstGeom>
          <a:noFill/>
          <a:ln/>
        </p:spPr>
        <p:txBody>
          <a:bodyPr wrap="square" lIns="0" tIns="0" rIns="0" bIns="0" rtlCol="0" anchor="ctr"/>
          <a:lstStyle/>
          <a:p>
            <a:pPr indent="0" marL="0">
              <a:buNone/>
            </a:pPr>
            <a:r>
              <a:rPr lang="ja-JP" sz="950" b="1" spc="50" kern="0" dirty="0">
                <a:solidFill>
                  <a:srgbClr val="FFFFFF"/>
                </a:solidFill>
                <a:latin typeface="Consolas"/>
                <a:ea typeface="Consolas"/>
                <a:cs typeface="Consolas"/>
              </a:rPr>
              <a:t>PROJECT B  想定期間 / 工数 / 費用（標準シナリオ）    2〜3ヶ月  ／  123h  ／  ¥1,230,000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06</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06 / AI</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社内AI推進担当者 育成プログラム</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11 / 18</a:t>
            </a:r>
            <a:endParaRPr lang="en-US" sz="800" dirty="0"/>
          </a:p>
        </p:txBody>
      </p:sp>
      <p:sp>
        <p:nvSpPr>
          <p:cNvPr id="100" name="intro"/>
          <p:cNvSpPr/>
          <p:nvPr/>
        </p:nvSpPr>
        <p:spPr>
          <a:xfrm>
            <a:off x="365760" y="1600200"/>
            <a:ext cx="8412480" cy="320040"/>
          </a:xfrm>
          <a:prstGeom prst="rect">
            <a:avLst/>
          </a:prstGeom>
          <a:noFill/>
          <a:ln/>
        </p:spPr>
        <p:txBody>
          <a:bodyPr wrap="square" lIns="0" tIns="0" rIns="0" bIns="0" rtlCol="0"/>
          <a:lstStyle/>
          <a:p>
            <a:pPr indent="0" marL="0">
              <a:buNone/>
            </a:pPr>
            <a:r>
              <a:rPr lang="ja-JP" sz="1000" dirty="0">
                <a:solidFill>
                  <a:srgbClr val="5E5C6A"/>
                </a:solidFill>
                <a:latin typeface="Noto Sans JP"/>
                <a:ea typeface="Noto Sans JP"/>
                <a:cs typeface="Noto Sans JP"/>
              </a:rPr>
              <a:t>AI活用を各部署で自走できる「社内リーダー（DXチャンピオン）」を育成し、現場発の改善サイクルを回せる組織へ。</a:t>
            </a:r>
          </a:p>
        </p:txBody>
      </p:sp>
      <p:sp>
        <p:nvSpPr>
          <p:cNvPr id="101" name="ln_i"/>
          <p:cNvSpPr/>
          <p:nvPr/>
        </p:nvSpPr>
        <p:spPr>
          <a:xfrm>
            <a:off x="365760" y="2103120"/>
            <a:ext cx="8412480" cy="0"/>
          </a:xfrm>
          <a:prstGeom prst="line">
            <a:avLst/>
          </a:prstGeom>
          <a:noFill/>
          <a:ln w="6350">
            <a:solidFill>
              <a:srgbClr val="E8E6EC"/>
            </a:solidFill>
            <a:prstDash val="solid"/>
          </a:ln>
        </p:spPr>
      </p:sp>
      <p:sp>
        <p:nvSpPr>
          <p:cNvPr id="102" name="m_lbl_0"/>
          <p:cNvSpPr/>
          <p:nvPr/>
        </p:nvSpPr>
        <p:spPr>
          <a:xfrm>
            <a:off x="365760" y="2240280"/>
            <a:ext cx="1402080" cy="274320"/>
          </a:xfrm>
          <a:prstGeom prst="rect">
            <a:avLst/>
          </a:prstGeom>
          <a:noFill/>
          <a:ln/>
        </p:spPr>
        <p:txBody>
          <a:bodyPr wrap="square" lIns="0" tIns="0" rIns="0" bIns="0" rtlCol="0"/>
          <a:lstStyle/>
          <a:p>
            <a:pPr algn="ctr" indent="0" marL="0">
              <a:buNone/>
            </a:pPr>
            <a:r>
              <a:rPr lang="ja-JP" sz="900" b="1" spc="100" kern="0" dirty="0">
                <a:solidFill>
                  <a:srgbClr val="8B7AB8"/>
                </a:solidFill>
                <a:latin typeface="Consolas"/>
                <a:ea typeface="Consolas"/>
                <a:cs typeface="Consolas"/>
              </a:rPr>
              <a:t>Month 1</a:t>
            </a:r>
          </a:p>
        </p:txBody>
      </p:sp>
      <p:sp>
        <p:nvSpPr>
          <p:cNvPr id="103" name="m_lbl_1"/>
          <p:cNvSpPr/>
          <p:nvPr/>
        </p:nvSpPr>
        <p:spPr>
          <a:xfrm>
            <a:off x="1767840" y="2240280"/>
            <a:ext cx="1402080" cy="274320"/>
          </a:xfrm>
          <a:prstGeom prst="rect">
            <a:avLst/>
          </a:prstGeom>
          <a:noFill/>
          <a:ln/>
        </p:spPr>
        <p:txBody>
          <a:bodyPr wrap="square" lIns="0" tIns="0" rIns="0" bIns="0" rtlCol="0"/>
          <a:lstStyle/>
          <a:p>
            <a:pPr algn="ctr" indent="0" marL="0">
              <a:buNone/>
            </a:pPr>
            <a:r>
              <a:rPr lang="ja-JP" sz="900" b="1" spc="100" kern="0" dirty="0">
                <a:solidFill>
                  <a:srgbClr val="8B7AB8"/>
                </a:solidFill>
                <a:latin typeface="Consolas"/>
                <a:ea typeface="Consolas"/>
                <a:cs typeface="Consolas"/>
              </a:rPr>
              <a:t>Month 2</a:t>
            </a:r>
          </a:p>
        </p:txBody>
      </p:sp>
      <p:sp>
        <p:nvSpPr>
          <p:cNvPr id="104" name="m_lbl_2"/>
          <p:cNvSpPr/>
          <p:nvPr/>
        </p:nvSpPr>
        <p:spPr>
          <a:xfrm>
            <a:off x="3169920" y="2240280"/>
            <a:ext cx="1402080" cy="274320"/>
          </a:xfrm>
          <a:prstGeom prst="rect">
            <a:avLst/>
          </a:prstGeom>
          <a:noFill/>
          <a:ln/>
        </p:spPr>
        <p:txBody>
          <a:bodyPr wrap="square" lIns="0" tIns="0" rIns="0" bIns="0" rtlCol="0"/>
          <a:lstStyle/>
          <a:p>
            <a:pPr algn="ctr" indent="0" marL="0">
              <a:buNone/>
            </a:pPr>
            <a:r>
              <a:rPr lang="ja-JP" sz="900" b="1" spc="100" kern="0" dirty="0">
                <a:solidFill>
                  <a:srgbClr val="8B7AB8"/>
                </a:solidFill>
                <a:latin typeface="Consolas"/>
                <a:ea typeface="Consolas"/>
                <a:cs typeface="Consolas"/>
              </a:rPr>
              <a:t>Month 3</a:t>
            </a:r>
          </a:p>
        </p:txBody>
      </p:sp>
      <p:sp>
        <p:nvSpPr>
          <p:cNvPr id="105" name="m_lbl_3"/>
          <p:cNvSpPr/>
          <p:nvPr/>
        </p:nvSpPr>
        <p:spPr>
          <a:xfrm>
            <a:off x="4572000" y="2240280"/>
            <a:ext cx="1402080" cy="274320"/>
          </a:xfrm>
          <a:prstGeom prst="rect">
            <a:avLst/>
          </a:prstGeom>
          <a:noFill/>
          <a:ln/>
        </p:spPr>
        <p:txBody>
          <a:bodyPr wrap="square" lIns="0" tIns="0" rIns="0" bIns="0" rtlCol="0"/>
          <a:lstStyle/>
          <a:p>
            <a:pPr algn="ctr" indent="0" marL="0">
              <a:buNone/>
            </a:pPr>
            <a:r>
              <a:rPr lang="ja-JP" sz="900" b="1" spc="100" kern="0" dirty="0">
                <a:solidFill>
                  <a:srgbClr val="8B7AB8"/>
                </a:solidFill>
                <a:latin typeface="Consolas"/>
                <a:ea typeface="Consolas"/>
                <a:cs typeface="Consolas"/>
              </a:rPr>
              <a:t>Month 4</a:t>
            </a:r>
          </a:p>
        </p:txBody>
      </p:sp>
      <p:sp>
        <p:nvSpPr>
          <p:cNvPr id="106" name="m_lbl_4"/>
          <p:cNvSpPr/>
          <p:nvPr/>
        </p:nvSpPr>
        <p:spPr>
          <a:xfrm>
            <a:off x="5974080" y="2240280"/>
            <a:ext cx="1402080" cy="274320"/>
          </a:xfrm>
          <a:prstGeom prst="rect">
            <a:avLst/>
          </a:prstGeom>
          <a:noFill/>
          <a:ln/>
        </p:spPr>
        <p:txBody>
          <a:bodyPr wrap="square" lIns="0" tIns="0" rIns="0" bIns="0" rtlCol="0"/>
          <a:lstStyle/>
          <a:p>
            <a:pPr algn="ctr" indent="0" marL="0">
              <a:buNone/>
            </a:pPr>
            <a:r>
              <a:rPr lang="ja-JP" sz="900" b="1" spc="100" kern="0" dirty="0">
                <a:solidFill>
                  <a:srgbClr val="8B7AB8"/>
                </a:solidFill>
                <a:latin typeface="Consolas"/>
                <a:ea typeface="Consolas"/>
                <a:cs typeface="Consolas"/>
              </a:rPr>
              <a:t>Month 5</a:t>
            </a:r>
          </a:p>
        </p:txBody>
      </p:sp>
      <p:sp>
        <p:nvSpPr>
          <p:cNvPr id="107" name="m_lbl_5"/>
          <p:cNvSpPr/>
          <p:nvPr/>
        </p:nvSpPr>
        <p:spPr>
          <a:xfrm>
            <a:off x="7376160" y="2240280"/>
            <a:ext cx="1402080" cy="274320"/>
          </a:xfrm>
          <a:prstGeom prst="rect">
            <a:avLst/>
          </a:prstGeom>
          <a:noFill/>
          <a:ln/>
        </p:spPr>
        <p:txBody>
          <a:bodyPr wrap="square" lIns="0" tIns="0" rIns="0" bIns="0" rtlCol="0"/>
          <a:lstStyle/>
          <a:p>
            <a:pPr algn="ctr" indent="0" marL="0">
              <a:buNone/>
            </a:pPr>
            <a:r>
              <a:rPr lang="ja-JP" sz="900" b="1" spc="100" kern="0" dirty="0">
                <a:solidFill>
                  <a:srgbClr val="8B7AB8"/>
                </a:solidFill>
                <a:latin typeface="Consolas"/>
                <a:ea typeface="Consolas"/>
                <a:cs typeface="Consolas"/>
              </a:rPr>
              <a:t>Month 6</a:t>
            </a:r>
          </a:p>
        </p:txBody>
      </p:sp>
      <p:sp>
        <p:nvSpPr>
          <p:cNvPr id="108" name="axis"/>
          <p:cNvSpPr/>
          <p:nvPr/>
        </p:nvSpPr>
        <p:spPr>
          <a:xfrm>
            <a:off x="365760" y="2606040"/>
            <a:ext cx="8412480" cy="0"/>
          </a:xfrm>
          <a:prstGeom prst="line">
            <a:avLst/>
          </a:prstGeom>
          <a:noFill/>
          <a:ln w="12700">
            <a:solidFill>
              <a:srgbClr val="5E5C6A"/>
            </a:solidFill>
            <a:prstDash val="solid"/>
          </a:ln>
        </p:spPr>
      </p:sp>
      <p:sp>
        <p:nvSpPr>
          <p:cNvPr id="109" name="b_0"/>
          <p:cNvSpPr/>
          <p:nvPr/>
        </p:nvSpPr>
        <p:spPr>
          <a:xfrm>
            <a:off x="365760" y="2743200"/>
            <a:ext cx="2804160" cy="292608"/>
          </a:xfrm>
          <a:prstGeom prst="rect">
            <a:avLst/>
          </a:prstGeom>
          <a:solidFill>
            <a:srgbClr val="8B7AB8"/>
          </a:solidFill>
          <a:ln/>
        </p:spPr>
      </p:sp>
      <p:sp>
        <p:nvSpPr>
          <p:cNvPr id="110" name="b_t_0"/>
          <p:cNvSpPr/>
          <p:nvPr/>
        </p:nvSpPr>
        <p:spPr>
          <a:xfrm>
            <a:off x="548640" y="2743200"/>
            <a:ext cx="2529840" cy="292608"/>
          </a:xfrm>
          <a:prstGeom prst="rect">
            <a:avLst/>
          </a:prstGeom>
          <a:noFill/>
          <a:ln/>
        </p:spPr>
        <p:txBody>
          <a:bodyPr wrap="square" lIns="0" tIns="0" rIns="0" bIns="0" rtlCol="0" anchor="ctr"/>
          <a:lstStyle/>
          <a:p>
            <a:pPr indent="0" marL="0">
              <a:buNone/>
            </a:pPr>
            <a:r>
              <a:rPr lang="ja-JP" sz="950" b="1" dirty="0">
                <a:solidFill>
                  <a:srgbClr val="FFFFFF"/>
                </a:solidFill>
                <a:latin typeface="Noto Sans JP"/>
                <a:ea typeface="Noto Sans JP"/>
                <a:cs typeface="Noto Sans JP"/>
              </a:rPr>
              <a:t>AI基礎研修</a:t>
            </a:r>
          </a:p>
        </p:txBody>
      </p:sp>
      <p:sp>
        <p:nvSpPr>
          <p:cNvPr id="111" name="b_d_0"/>
          <p:cNvSpPr/>
          <p:nvPr/>
        </p:nvSpPr>
        <p:spPr>
          <a:xfrm>
            <a:off x="3307080" y="2743200"/>
            <a:ext cx="5471160" cy="292608"/>
          </a:xfrm>
          <a:prstGeom prst="rect">
            <a:avLst/>
          </a:prstGeom>
          <a:noFill/>
          <a:ln/>
        </p:spPr>
        <p:txBody>
          <a:bodyPr wrap="square" lIns="0" tIns="0" rIns="0" bIns="0" rtlCol="0" anchor="ctr"/>
          <a:lstStyle/>
          <a:p>
            <a:pPr indent="0" marL="0">
              <a:buNone/>
            </a:pPr>
            <a:r>
              <a:rPr lang="ja-JP" sz="850" dirty="0">
                <a:solidFill>
                  <a:srgbClr val="5E5C6A"/>
                </a:solidFill>
                <a:latin typeface="Noto Sans JP"/>
                <a:ea typeface="Noto Sans JP"/>
                <a:cs typeface="Noto Sans JP"/>
              </a:rPr>
              <a:t>全社向け・半日〜1日</a:t>
            </a:r>
          </a:p>
        </p:txBody>
      </p:sp>
      <p:sp>
        <p:nvSpPr>
          <p:cNvPr id="112" name="b_1"/>
          <p:cNvSpPr/>
          <p:nvPr/>
        </p:nvSpPr>
        <p:spPr>
          <a:xfrm>
            <a:off x="1767840" y="3108960"/>
            <a:ext cx="4206240" cy="292608"/>
          </a:xfrm>
          <a:prstGeom prst="rect">
            <a:avLst/>
          </a:prstGeom>
          <a:solidFill>
            <a:srgbClr val="8B7AB8"/>
          </a:solidFill>
          <a:ln/>
        </p:spPr>
      </p:sp>
      <p:sp>
        <p:nvSpPr>
          <p:cNvPr id="113" name="b_t_1"/>
          <p:cNvSpPr/>
          <p:nvPr/>
        </p:nvSpPr>
        <p:spPr>
          <a:xfrm>
            <a:off x="1950720" y="3108960"/>
            <a:ext cx="3931920" cy="292608"/>
          </a:xfrm>
          <a:prstGeom prst="rect">
            <a:avLst/>
          </a:prstGeom>
          <a:noFill/>
          <a:ln/>
        </p:spPr>
        <p:txBody>
          <a:bodyPr wrap="square" lIns="0" tIns="0" rIns="0" bIns="0" rtlCol="0" anchor="ctr"/>
          <a:lstStyle/>
          <a:p>
            <a:pPr indent="0" marL="0">
              <a:buNone/>
            </a:pPr>
            <a:r>
              <a:rPr lang="ja-JP" sz="950" b="1" dirty="0">
                <a:solidFill>
                  <a:srgbClr val="FFFFFF"/>
                </a:solidFill>
                <a:latin typeface="Noto Sans JP"/>
                <a:ea typeface="Noto Sans JP"/>
                <a:cs typeface="Noto Sans JP"/>
              </a:rPr>
              <a:t>プロンプト実践研修</a:t>
            </a:r>
          </a:p>
        </p:txBody>
      </p:sp>
      <p:sp>
        <p:nvSpPr>
          <p:cNvPr id="114" name="b_d_1"/>
          <p:cNvSpPr/>
          <p:nvPr/>
        </p:nvSpPr>
        <p:spPr>
          <a:xfrm>
            <a:off x="6111240" y="3108960"/>
            <a:ext cx="2667000" cy="292608"/>
          </a:xfrm>
          <a:prstGeom prst="rect">
            <a:avLst/>
          </a:prstGeom>
          <a:noFill/>
          <a:ln/>
        </p:spPr>
        <p:txBody>
          <a:bodyPr wrap="square" lIns="0" tIns="0" rIns="0" bIns="0" rtlCol="0" anchor="ctr"/>
          <a:lstStyle/>
          <a:p>
            <a:pPr indent="0" marL="0">
              <a:buNone/>
            </a:pPr>
            <a:r>
              <a:rPr lang="ja-JP" sz="850" dirty="0">
                <a:solidFill>
                  <a:srgbClr val="5E5C6A"/>
                </a:solidFill>
                <a:latin typeface="Noto Sans JP"/>
                <a:ea typeface="Noto Sans JP"/>
                <a:cs typeface="Noto Sans JP"/>
              </a:rPr>
              <a:t>部門別（経理・人事・学事・総務）</a:t>
            </a:r>
          </a:p>
        </p:txBody>
      </p:sp>
      <p:sp>
        <p:nvSpPr>
          <p:cNvPr id="115" name="b_2"/>
          <p:cNvSpPr/>
          <p:nvPr/>
        </p:nvSpPr>
        <p:spPr>
          <a:xfrm>
            <a:off x="365760" y="3474720"/>
            <a:ext cx="8412480" cy="292608"/>
          </a:xfrm>
          <a:prstGeom prst="rect">
            <a:avLst/>
          </a:prstGeom>
          <a:solidFill>
            <a:srgbClr val="6B5C96"/>
          </a:solidFill>
          <a:ln/>
        </p:spPr>
      </p:sp>
      <p:sp>
        <p:nvSpPr>
          <p:cNvPr id="116" name="b_t_2"/>
          <p:cNvSpPr/>
          <p:nvPr/>
        </p:nvSpPr>
        <p:spPr>
          <a:xfrm>
            <a:off x="548640" y="3474720"/>
            <a:ext cx="8138160" cy="292608"/>
          </a:xfrm>
          <a:prstGeom prst="rect">
            <a:avLst/>
          </a:prstGeom>
          <a:noFill/>
          <a:ln/>
        </p:spPr>
        <p:txBody>
          <a:bodyPr wrap="square" lIns="0" tIns="0" rIns="0" bIns="0" rtlCol="0" anchor="ctr"/>
          <a:lstStyle/>
          <a:p>
            <a:pPr indent="0" marL="0">
              <a:buNone/>
            </a:pPr>
            <a:r>
              <a:rPr lang="ja-JP" sz="950" b="1" dirty="0">
                <a:solidFill>
                  <a:srgbClr val="FFFFFF"/>
                </a:solidFill>
                <a:latin typeface="Noto Sans JP"/>
                <a:ea typeface="Noto Sans JP"/>
                <a:cs typeface="Noto Sans JP"/>
              </a:rPr>
              <a:t>推進担当者 月次セッション</a:t>
            </a:r>
          </a:p>
        </p:txBody>
      </p:sp>
      <p:sp>
        <p:nvSpPr>
          <p:cNvPr id="117" name="b_3"/>
          <p:cNvSpPr/>
          <p:nvPr/>
        </p:nvSpPr>
        <p:spPr>
          <a:xfrm>
            <a:off x="5974080" y="3840480"/>
            <a:ext cx="2804160" cy="292608"/>
          </a:xfrm>
          <a:prstGeom prst="rect">
            <a:avLst/>
          </a:prstGeom>
          <a:solidFill>
            <a:srgbClr val="D9D1E8"/>
          </a:solidFill>
          <a:ln/>
        </p:spPr>
      </p:sp>
      <p:sp>
        <p:nvSpPr>
          <p:cNvPr id="118" name="b_t_3"/>
          <p:cNvSpPr/>
          <p:nvPr/>
        </p:nvSpPr>
        <p:spPr>
          <a:xfrm>
            <a:off x="6156960" y="3840480"/>
            <a:ext cx="2529840" cy="292608"/>
          </a:xfrm>
          <a:prstGeom prst="rect">
            <a:avLst/>
          </a:prstGeom>
          <a:noFill/>
          <a:ln/>
        </p:spPr>
        <p:txBody>
          <a:bodyPr wrap="square" lIns="0" tIns="0" rIns="0" bIns="0" rtlCol="0" anchor="ctr"/>
          <a:lstStyle/>
          <a:p>
            <a:pPr indent="0" marL="0">
              <a:buNone/>
            </a:pPr>
            <a:r>
              <a:rPr lang="ja-JP" sz="950" b="1" dirty="0">
                <a:solidFill>
                  <a:srgbClr val="3A3A42"/>
                </a:solidFill>
                <a:latin typeface="Noto Sans JP"/>
                <a:ea typeface="Noto Sans JP"/>
                <a:cs typeface="Noto Sans JP"/>
              </a:rPr>
              <a:t>フォローアップ＆ナレッジ化</a:t>
            </a:r>
          </a:p>
        </p:txBody>
      </p:sp>
      <p:sp>
        <p:nvSpPr>
          <p:cNvPr id="119" name="cb_bg"/>
          <p:cNvSpPr/>
          <p:nvPr/>
        </p:nvSpPr>
        <p:spPr>
          <a:xfrm>
            <a:off x="365760" y="4498848"/>
            <a:ext cx="8412480" cy="320040"/>
          </a:xfrm>
          <a:prstGeom prst="rect">
            <a:avLst/>
          </a:prstGeom>
          <a:solidFill>
            <a:srgbClr val="8B7AB8"/>
          </a:solidFill>
          <a:ln/>
        </p:spPr>
      </p:sp>
      <p:sp>
        <p:nvSpPr>
          <p:cNvPr id="120" name="cb_t"/>
          <p:cNvSpPr/>
          <p:nvPr/>
        </p:nvSpPr>
        <p:spPr>
          <a:xfrm>
            <a:off x="548640" y="4498848"/>
            <a:ext cx="8229600" cy="320040"/>
          </a:xfrm>
          <a:prstGeom prst="rect">
            <a:avLst/>
          </a:prstGeom>
          <a:noFill/>
          <a:ln/>
        </p:spPr>
        <p:txBody>
          <a:bodyPr wrap="square" lIns="0" tIns="0" rIns="0" bIns="0" rtlCol="0" anchor="ctr"/>
          <a:lstStyle/>
          <a:p>
            <a:pPr indent="0" marL="0">
              <a:buNone/>
            </a:pPr>
            <a:r>
              <a:rPr lang="ja-JP" sz="900" b="1" spc="50" kern="0" dirty="0">
                <a:solidFill>
                  <a:srgbClr val="FFFFFF"/>
                </a:solidFill>
                <a:latin typeface="Consolas"/>
                <a:ea typeface="Consolas"/>
                <a:cs typeface="Consolas"/>
              </a:rPr>
              <a:t>PROJECT C  想定期間 / 工数 / 費用（標準シナリオ）    6ヶ月  ／  216h  ／  ¥2,160,000  （単発研修のみなら ¥50,000〜 / 日）</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07</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07 / COST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月額顧問  工数積み上げ</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13 / 18</a:t>
            </a:r>
            <a:endParaRPr lang="en-US" sz="800" dirty="0"/>
          </a:p>
        </p:txBody>
      </p:sp>
      <p:sp>
        <p:nvSpPr>
          <p:cNvPr id="100" name="l_t"/>
          <p:cNvSpPr/>
          <p:nvPr/>
        </p:nvSpPr>
        <p:spPr>
          <a:xfrm>
            <a:off x="365760" y="1600200"/>
            <a:ext cx="512064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主要アクティビティ別  月次工数（標準シナリオ）</a:t>
            </a:r>
          </a:p>
        </p:txBody>
      </p:sp>
      <p:sp>
        <p:nvSpPr>
          <p:cNvPr id="101" name="l_ln"/>
          <p:cNvSpPr/>
          <p:nvPr/>
        </p:nvSpPr>
        <p:spPr>
          <a:xfrm>
            <a:off x="365760" y="1947672"/>
            <a:ext cx="5120640" cy="0"/>
          </a:xfrm>
          <a:prstGeom prst="line">
            <a:avLst/>
          </a:prstGeom>
          <a:noFill/>
          <a:ln w="19050">
            <a:solidFill>
              <a:srgbClr val="8B7AB8"/>
            </a:solidFill>
            <a:prstDash val="solid"/>
          </a:ln>
        </p:spPr>
      </p:sp>
      <p:sp>
        <p:nvSpPr>
          <p:cNvPr id="102" name="h_1"/>
          <p:cNvSpPr/>
          <p:nvPr/>
        </p:nvSpPr>
        <p:spPr>
          <a:xfrm>
            <a:off x="457200" y="2103120"/>
            <a:ext cx="457200" cy="384048"/>
          </a:xfrm>
          <a:prstGeom prst="rect">
            <a:avLst/>
          </a:prstGeom>
          <a:noFill/>
          <a:ln/>
        </p:spPr>
        <p:txBody>
          <a:bodyPr wrap="square" lIns="0" tIns="0" rIns="0" bIns="0" rtlCol="0" anchor="ctr"/>
          <a:lstStyle/>
          <a:p>
            <a:pPr indent="0" marL="0">
              <a:buNone/>
            </a:pPr>
            <a:r>
              <a:rPr lang="ja-JP" sz="800" b="1" dirty="0">
                <a:solidFill>
                  <a:srgbClr val="9B98A6"/>
                </a:solidFill>
                <a:latin typeface="Consolas"/>
                <a:ea typeface="Consolas"/>
                <a:cs typeface="Consolas"/>
              </a:rPr>
              <a:t>#</a:t>
            </a:r>
          </a:p>
        </p:txBody>
      </p:sp>
      <p:sp>
        <p:nvSpPr>
          <p:cNvPr id="103" name="h_2"/>
          <p:cNvSpPr/>
          <p:nvPr/>
        </p:nvSpPr>
        <p:spPr>
          <a:xfrm>
            <a:off x="914400" y="2103120"/>
            <a:ext cx="3474720" cy="384048"/>
          </a:xfrm>
          <a:prstGeom prst="rect">
            <a:avLst/>
          </a:prstGeom>
          <a:noFill/>
          <a:ln/>
        </p:spPr>
        <p:txBody>
          <a:bodyPr wrap="square" lIns="0" tIns="0" rIns="0" bIns="0" rtlCol="0" anchor="ctr"/>
          <a:lstStyle/>
          <a:p>
            <a:pPr indent="0" marL="0">
              <a:buNone/>
            </a:pPr>
            <a:r>
              <a:rPr lang="ja-JP" sz="800" b="1" spc="100" kern="0" dirty="0">
                <a:solidFill>
                  <a:srgbClr val="9B98A6"/>
                </a:solidFill>
                <a:latin typeface="Consolas"/>
                <a:ea typeface="Consolas"/>
                <a:cs typeface="Consolas"/>
              </a:rPr>
              <a:t>アクティビティ</a:t>
            </a:r>
          </a:p>
        </p:txBody>
      </p:sp>
      <p:sp>
        <p:nvSpPr>
          <p:cNvPr id="104" name="h_3"/>
          <p:cNvSpPr/>
          <p:nvPr/>
        </p:nvSpPr>
        <p:spPr>
          <a:xfrm>
            <a:off x="4389120" y="2103120"/>
            <a:ext cx="1005840" cy="384048"/>
          </a:xfrm>
          <a:prstGeom prst="rect">
            <a:avLst/>
          </a:prstGeom>
          <a:noFill/>
          <a:ln/>
        </p:spPr>
        <p:txBody>
          <a:bodyPr wrap="square" lIns="0" tIns="0" rIns="0" bIns="0" rtlCol="0" anchor="ctr"/>
          <a:lstStyle/>
          <a:p>
            <a:pPr algn="r" indent="0" marL="0">
              <a:buNone/>
            </a:pPr>
            <a:r>
              <a:rPr lang="ja-JP" sz="800" b="1" spc="100" kern="0" dirty="0">
                <a:solidFill>
                  <a:srgbClr val="9B98A6"/>
                </a:solidFill>
                <a:latin typeface="Consolas"/>
                <a:ea typeface="Consolas"/>
                <a:cs typeface="Consolas"/>
              </a:rPr>
              <a:t>工数 / 月</a:t>
            </a:r>
          </a:p>
        </p:txBody>
      </p:sp>
      <p:sp>
        <p:nvSpPr>
          <p:cNvPr id="105" name="tag_bg_0"/>
          <p:cNvSpPr/>
          <p:nvPr/>
        </p:nvSpPr>
        <p:spPr>
          <a:xfrm>
            <a:off x="457200" y="2551176"/>
            <a:ext cx="292608" cy="256032"/>
          </a:xfrm>
          <a:prstGeom prst="rect">
            <a:avLst/>
          </a:prstGeom>
          <a:solidFill>
            <a:srgbClr val="8B7AB8"/>
          </a:solidFill>
          <a:ln/>
        </p:spPr>
      </p:sp>
      <p:sp>
        <p:nvSpPr>
          <p:cNvPr id="106" name="tag_0"/>
          <p:cNvSpPr/>
          <p:nvPr/>
        </p:nvSpPr>
        <p:spPr>
          <a:xfrm>
            <a:off x="457200" y="2551176"/>
            <a:ext cx="292608" cy="256032"/>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A</a:t>
            </a:r>
          </a:p>
        </p:txBody>
      </p:sp>
      <p:sp>
        <p:nvSpPr>
          <p:cNvPr id="107" name="nm_0"/>
          <p:cNvSpPr/>
          <p:nvPr/>
        </p:nvSpPr>
        <p:spPr>
          <a:xfrm>
            <a:off x="914400" y="2487168"/>
            <a:ext cx="3474720" cy="38404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現場課題起点の即効支援</a:t>
            </a:r>
          </a:p>
        </p:txBody>
      </p:sp>
      <p:sp>
        <p:nvSpPr>
          <p:cNvPr id="108" name="hr_0"/>
          <p:cNvSpPr/>
          <p:nvPr/>
        </p:nvSpPr>
        <p:spPr>
          <a:xfrm>
            <a:off x="4389120" y="2487168"/>
            <a:ext cx="1005840" cy="384048"/>
          </a:xfrm>
          <a:prstGeom prst="rect">
            <a:avLst/>
          </a:prstGeom>
          <a:noFill/>
          <a:ln/>
        </p:spPr>
        <p:txBody>
          <a:bodyPr wrap="square" lIns="0" tIns="0" rIns="0" bIns="0" rtlCol="0" anchor="ctr"/>
          <a:lstStyle/>
          <a:p>
            <a:pPr algn="r" indent="0" marL="0">
              <a:buNone/>
            </a:pPr>
            <a:r>
              <a:rPr lang="ja-JP" sz="1050" b="1" dirty="0">
                <a:solidFill>
                  <a:srgbClr val="3A3A42"/>
                </a:solidFill>
                <a:latin typeface="Consolas"/>
                <a:ea typeface="Consolas"/>
                <a:cs typeface="Consolas"/>
              </a:rPr>
              <a:t>10.0 h</a:t>
            </a:r>
          </a:p>
        </p:txBody>
      </p:sp>
      <p:sp>
        <p:nvSpPr>
          <p:cNvPr id="109" name="tag_bg_1"/>
          <p:cNvSpPr/>
          <p:nvPr/>
        </p:nvSpPr>
        <p:spPr>
          <a:xfrm>
            <a:off x="457200" y="2935224"/>
            <a:ext cx="292608" cy="256032"/>
          </a:xfrm>
          <a:prstGeom prst="rect">
            <a:avLst/>
          </a:prstGeom>
          <a:solidFill>
            <a:srgbClr val="8B7AB8"/>
          </a:solidFill>
          <a:ln/>
        </p:spPr>
      </p:sp>
      <p:sp>
        <p:nvSpPr>
          <p:cNvPr id="110" name="tag_1"/>
          <p:cNvSpPr/>
          <p:nvPr/>
        </p:nvSpPr>
        <p:spPr>
          <a:xfrm>
            <a:off x="457200" y="2935224"/>
            <a:ext cx="292608" cy="256032"/>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B</a:t>
            </a:r>
          </a:p>
        </p:txBody>
      </p:sp>
      <p:sp>
        <p:nvSpPr>
          <p:cNvPr id="111" name="nm_1"/>
          <p:cNvSpPr/>
          <p:nvPr/>
        </p:nvSpPr>
        <p:spPr>
          <a:xfrm>
            <a:off x="914400" y="2871216"/>
            <a:ext cx="3474720" cy="38404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To-Beフロー／システム／データフロー レビュー</a:t>
            </a:r>
          </a:p>
        </p:txBody>
      </p:sp>
      <p:sp>
        <p:nvSpPr>
          <p:cNvPr id="112" name="hr_1"/>
          <p:cNvSpPr/>
          <p:nvPr/>
        </p:nvSpPr>
        <p:spPr>
          <a:xfrm>
            <a:off x="4389120" y="2871216"/>
            <a:ext cx="1005840" cy="384048"/>
          </a:xfrm>
          <a:prstGeom prst="rect">
            <a:avLst/>
          </a:prstGeom>
          <a:noFill/>
          <a:ln/>
        </p:spPr>
        <p:txBody>
          <a:bodyPr wrap="square" lIns="0" tIns="0" rIns="0" bIns="0" rtlCol="0" anchor="ctr"/>
          <a:lstStyle/>
          <a:p>
            <a:pPr algn="r" indent="0" marL="0">
              <a:buNone/>
            </a:pPr>
            <a:r>
              <a:rPr lang="ja-JP" sz="1050" b="1" dirty="0">
                <a:solidFill>
                  <a:srgbClr val="3A3A42"/>
                </a:solidFill>
                <a:latin typeface="Consolas"/>
                <a:ea typeface="Consolas"/>
                <a:cs typeface="Consolas"/>
              </a:rPr>
              <a:t>12.0 h</a:t>
            </a:r>
          </a:p>
        </p:txBody>
      </p:sp>
      <p:sp>
        <p:nvSpPr>
          <p:cNvPr id="113" name="tag_bg_2"/>
          <p:cNvSpPr/>
          <p:nvPr/>
        </p:nvSpPr>
        <p:spPr>
          <a:xfrm>
            <a:off x="457200" y="3319272"/>
            <a:ext cx="292608" cy="256032"/>
          </a:xfrm>
          <a:prstGeom prst="rect">
            <a:avLst/>
          </a:prstGeom>
          <a:solidFill>
            <a:srgbClr val="8B7AB8"/>
          </a:solidFill>
          <a:ln/>
        </p:spPr>
      </p:sp>
      <p:sp>
        <p:nvSpPr>
          <p:cNvPr id="114" name="tag_2"/>
          <p:cNvSpPr/>
          <p:nvPr/>
        </p:nvSpPr>
        <p:spPr>
          <a:xfrm>
            <a:off x="457200" y="3319272"/>
            <a:ext cx="292608" cy="256032"/>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C</a:t>
            </a:r>
          </a:p>
        </p:txBody>
      </p:sp>
      <p:sp>
        <p:nvSpPr>
          <p:cNvPr id="115" name="nm_2"/>
          <p:cNvSpPr/>
          <p:nvPr/>
        </p:nvSpPr>
        <p:spPr>
          <a:xfrm>
            <a:off x="914400" y="3255264"/>
            <a:ext cx="3474720" cy="38404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エデュース要件定義並走・ベンダー調整</a:t>
            </a:r>
          </a:p>
        </p:txBody>
      </p:sp>
      <p:sp>
        <p:nvSpPr>
          <p:cNvPr id="116" name="hr_2"/>
          <p:cNvSpPr/>
          <p:nvPr/>
        </p:nvSpPr>
        <p:spPr>
          <a:xfrm>
            <a:off x="4389120" y="3255264"/>
            <a:ext cx="1005840" cy="384048"/>
          </a:xfrm>
          <a:prstGeom prst="rect">
            <a:avLst/>
          </a:prstGeom>
          <a:noFill/>
          <a:ln/>
        </p:spPr>
        <p:txBody>
          <a:bodyPr wrap="square" lIns="0" tIns="0" rIns="0" bIns="0" rtlCol="0" anchor="ctr"/>
          <a:lstStyle/>
          <a:p>
            <a:pPr algn="r" indent="0" marL="0">
              <a:buNone/>
            </a:pPr>
            <a:r>
              <a:rPr lang="ja-JP" sz="1050" b="1" dirty="0">
                <a:solidFill>
                  <a:srgbClr val="3A3A42"/>
                </a:solidFill>
                <a:latin typeface="Consolas"/>
                <a:ea typeface="Consolas"/>
                <a:cs typeface="Consolas"/>
              </a:rPr>
              <a:t>16.0 h</a:t>
            </a:r>
          </a:p>
        </p:txBody>
      </p:sp>
      <p:sp>
        <p:nvSpPr>
          <p:cNvPr id="117" name="tag_bg_3"/>
          <p:cNvSpPr/>
          <p:nvPr/>
        </p:nvSpPr>
        <p:spPr>
          <a:xfrm>
            <a:off x="457200" y="3703320"/>
            <a:ext cx="292608" cy="256032"/>
          </a:xfrm>
          <a:prstGeom prst="rect">
            <a:avLst/>
          </a:prstGeom>
          <a:solidFill>
            <a:srgbClr val="8B7AB8"/>
          </a:solidFill>
          <a:ln/>
        </p:spPr>
      </p:sp>
      <p:sp>
        <p:nvSpPr>
          <p:cNvPr id="118" name="tag_3"/>
          <p:cNvSpPr/>
          <p:nvPr/>
        </p:nvSpPr>
        <p:spPr>
          <a:xfrm>
            <a:off x="457200" y="3703320"/>
            <a:ext cx="292608" cy="256032"/>
          </a:xfrm>
          <a:prstGeom prst="rect">
            <a:avLst/>
          </a:prstGeom>
          <a:noFill/>
          <a:ln/>
        </p:spPr>
        <p:txBody>
          <a:bodyPr wrap="square" lIns="0" tIns="0" rIns="0" bIns="0" rtlCol="0" anchor="ctr"/>
          <a:lstStyle/>
          <a:p>
            <a:pPr algn="ctr" indent="0" marL="0">
              <a:buNone/>
            </a:pPr>
            <a:r>
              <a:rPr lang="ja-JP" sz="850" b="1" dirty="0">
                <a:solidFill>
                  <a:srgbClr val="FFFFFF"/>
                </a:solidFill>
                <a:latin typeface="Consolas"/>
                <a:ea typeface="Consolas"/>
                <a:cs typeface="Consolas"/>
              </a:rPr>
              <a:t>D</a:t>
            </a:r>
          </a:p>
        </p:txBody>
      </p:sp>
      <p:sp>
        <p:nvSpPr>
          <p:cNvPr id="119" name="nm_3"/>
          <p:cNvSpPr/>
          <p:nvPr/>
        </p:nvSpPr>
        <p:spPr>
          <a:xfrm>
            <a:off x="914400" y="3639312"/>
            <a:ext cx="3474720" cy="384048"/>
          </a:xfrm>
          <a:prstGeom prst="rect">
            <a:avLst/>
          </a:prstGeom>
          <a:noFill/>
          <a:ln/>
        </p:spPr>
        <p:txBody>
          <a:bodyPr wrap="square" lIns="0" tIns="0" rIns="0" bIns="0" rtlCol="0" anchor="ctr"/>
          <a:lstStyle/>
          <a:p>
            <a:pPr indent="0" marL="0">
              <a:buNone/>
            </a:pPr>
            <a:r>
              <a:rPr lang="ja-JP" sz="950" dirty="0">
                <a:solidFill>
                  <a:srgbClr val="3A3A42"/>
                </a:solidFill>
                <a:latin typeface="Noto Sans JP"/>
                <a:ea typeface="Noto Sans JP"/>
                <a:cs typeface="Noto Sans JP"/>
              </a:rPr>
              <a:t>AI・業務効率化ツール情報提供・MTG運営</a:t>
            </a:r>
          </a:p>
        </p:txBody>
      </p:sp>
      <p:sp>
        <p:nvSpPr>
          <p:cNvPr id="120" name="hr_3"/>
          <p:cNvSpPr/>
          <p:nvPr/>
        </p:nvSpPr>
        <p:spPr>
          <a:xfrm>
            <a:off x="4389120" y="3639312"/>
            <a:ext cx="1005840" cy="384048"/>
          </a:xfrm>
          <a:prstGeom prst="rect">
            <a:avLst/>
          </a:prstGeom>
          <a:noFill/>
          <a:ln/>
        </p:spPr>
        <p:txBody>
          <a:bodyPr wrap="square" lIns="0" tIns="0" rIns="0" bIns="0" rtlCol="0" anchor="ctr"/>
          <a:lstStyle/>
          <a:p>
            <a:pPr algn="r" indent="0" marL="0">
              <a:buNone/>
            </a:pPr>
            <a:r>
              <a:rPr lang="ja-JP" sz="1050" b="1" dirty="0">
                <a:solidFill>
                  <a:srgbClr val="3A3A42"/>
                </a:solidFill>
                <a:latin typeface="Consolas"/>
                <a:ea typeface="Consolas"/>
                <a:cs typeface="Consolas"/>
              </a:rPr>
              <a:t>17.0 h</a:t>
            </a:r>
          </a:p>
        </p:txBody>
      </p:sp>
      <p:sp>
        <p:nvSpPr>
          <p:cNvPr id="121" name="sum_bg"/>
          <p:cNvSpPr/>
          <p:nvPr/>
        </p:nvSpPr>
        <p:spPr>
          <a:xfrm>
            <a:off x="365760" y="4114800"/>
            <a:ext cx="5120640" cy="457200"/>
          </a:xfrm>
          <a:prstGeom prst="rect">
            <a:avLst/>
          </a:prstGeom>
          <a:solidFill>
            <a:srgbClr val="8B7AB8"/>
          </a:solidFill>
          <a:ln/>
        </p:spPr>
      </p:sp>
      <p:sp>
        <p:nvSpPr>
          <p:cNvPr id="122" name="sum_l"/>
          <p:cNvSpPr/>
          <p:nvPr/>
        </p:nvSpPr>
        <p:spPr>
          <a:xfrm>
            <a:off x="548640" y="4114800"/>
            <a:ext cx="3474720" cy="457200"/>
          </a:xfrm>
          <a:prstGeom prst="rect">
            <a:avLst/>
          </a:prstGeom>
          <a:noFill/>
          <a:ln/>
        </p:spPr>
        <p:txBody>
          <a:bodyPr wrap="square" lIns="0" tIns="0" rIns="0" bIns="0" rtlCol="0" anchor="ctr"/>
          <a:lstStyle/>
          <a:p>
            <a:pPr indent="0" marL="0">
              <a:buNone/>
            </a:pPr>
            <a:r>
              <a:rPr lang="ja-JP" sz="1000" b="1" dirty="0">
                <a:solidFill>
                  <a:srgbClr val="FFFFFF"/>
                </a:solidFill>
                <a:latin typeface="Noto Sans JP"/>
                <a:ea typeface="Noto Sans JP"/>
                <a:cs typeface="Noto Sans JP"/>
              </a:rPr>
              <a:t>月次合計</a:t>
            </a:r>
          </a:p>
        </p:txBody>
      </p:sp>
      <p:sp>
        <p:nvSpPr>
          <p:cNvPr id="123" name="sum_v"/>
          <p:cNvSpPr/>
          <p:nvPr/>
        </p:nvSpPr>
        <p:spPr>
          <a:xfrm>
            <a:off x="4023360" y="4114800"/>
            <a:ext cx="1371600" cy="457200"/>
          </a:xfrm>
          <a:prstGeom prst="rect">
            <a:avLst/>
          </a:prstGeom>
          <a:noFill/>
          <a:ln/>
        </p:spPr>
        <p:txBody>
          <a:bodyPr wrap="square" lIns="0" tIns="0" rIns="0" bIns="0" rtlCol="0" anchor="ctr"/>
          <a:lstStyle/>
          <a:p>
            <a:pPr algn="r" indent="0" marL="0">
              <a:buNone/>
            </a:pPr>
            <a:r>
              <a:rPr lang="ja-JP" sz="1400" b="1" dirty="0">
                <a:solidFill>
                  <a:srgbClr val="FFFFFF"/>
                </a:solidFill>
                <a:latin typeface="Consolas"/>
                <a:ea typeface="Consolas"/>
                <a:cs typeface="Consolas"/>
              </a:rPr>
              <a:t>55.0 h / 月</a:t>
            </a:r>
          </a:p>
        </p:txBody>
      </p:sp>
      <p:sp>
        <p:nvSpPr>
          <p:cNvPr id="124" name="r_t"/>
          <p:cNvSpPr/>
          <p:nvPr/>
        </p:nvSpPr>
        <p:spPr>
          <a:xfrm>
            <a:off x="5669280" y="1600200"/>
            <a:ext cx="310896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シナリオ比較</a:t>
            </a:r>
          </a:p>
        </p:txBody>
      </p:sp>
      <p:sp>
        <p:nvSpPr>
          <p:cNvPr id="125" name="r_ln"/>
          <p:cNvSpPr/>
          <p:nvPr/>
        </p:nvSpPr>
        <p:spPr>
          <a:xfrm>
            <a:off x="5669280" y="1947672"/>
            <a:ext cx="3108960" cy="0"/>
          </a:xfrm>
          <a:prstGeom prst="line">
            <a:avLst/>
          </a:prstGeom>
          <a:noFill/>
          <a:ln w="19050">
            <a:solidFill>
              <a:srgbClr val="8B7AB8"/>
            </a:solidFill>
            <a:prstDash val="solid"/>
          </a:ln>
        </p:spPr>
      </p:sp>
      <p:sp>
        <p:nvSpPr>
          <p:cNvPr id="126" name="sc_bg_0"/>
          <p:cNvSpPr/>
          <p:nvPr/>
        </p:nvSpPr>
        <p:spPr>
          <a:xfrm>
            <a:off x="5669280" y="2103120"/>
            <a:ext cx="3108960" cy="685800"/>
          </a:xfrm>
          <a:prstGeom prst="rect">
            <a:avLst/>
          </a:prstGeom>
          <a:solidFill>
            <a:srgbClr val="FAFAFB"/>
          </a:solidFill>
          <a:ln/>
        </p:spPr>
      </p:sp>
      <p:sp>
        <p:nvSpPr>
          <p:cNvPr id="127" name="sc_l_0"/>
          <p:cNvSpPr/>
          <p:nvPr/>
        </p:nvSpPr>
        <p:spPr>
          <a:xfrm>
            <a:off x="5897880" y="2194560"/>
            <a:ext cx="2651760" cy="201168"/>
          </a:xfrm>
          <a:prstGeom prst="rect">
            <a:avLst/>
          </a:prstGeom>
          <a:noFill/>
          <a:ln/>
        </p:spPr>
        <p:txBody>
          <a:bodyPr wrap="square" lIns="0" tIns="0" rIns="0" bIns="0" rtlCol="0"/>
          <a:lstStyle/>
          <a:p>
            <a:pPr indent="0" marL="0">
              <a:buNone/>
            </a:pPr>
            <a:r>
              <a:rPr lang="ja-JP" sz="900" b="1" spc="100" kern="0" dirty="0">
                <a:solidFill>
                  <a:srgbClr val="9B98A6"/>
                </a:solidFill>
                <a:latin typeface="Consolas"/>
                <a:ea typeface="Consolas"/>
                <a:cs typeface="Consolas"/>
              </a:rPr>
              <a:t>控えめ</a:t>
            </a:r>
          </a:p>
        </p:txBody>
      </p:sp>
      <p:sp>
        <p:nvSpPr>
          <p:cNvPr id="128" name="sc_v_0"/>
          <p:cNvSpPr/>
          <p:nvPr/>
        </p:nvSpPr>
        <p:spPr>
          <a:xfrm>
            <a:off x="5897880" y="2395728"/>
            <a:ext cx="2651760" cy="365760"/>
          </a:xfrm>
          <a:prstGeom prst="rect">
            <a:avLst/>
          </a:prstGeom>
          <a:noFill/>
          <a:ln/>
        </p:spPr>
        <p:txBody>
          <a:bodyPr wrap="square" lIns="0" tIns="0" rIns="0" bIns="0" rtlCol="0"/>
          <a:lstStyle/>
          <a:p>
            <a:pPr indent="0" marL="0">
              <a:buNone/>
            </a:pPr>
            <a:r>
              <a:rPr lang="ja-JP" sz="2000" b="1" dirty="0">
                <a:solidFill>
                  <a:srgbClr val="3A3A42"/>
                </a:solidFill>
                <a:latin typeface="Consolas"/>
                <a:ea typeface="Consolas"/>
                <a:cs typeface="Consolas"/>
              </a:rPr>
              <a:t>31.5 h</a:t>
            </a:r>
          </a:p>
        </p:txBody>
      </p:sp>
      <p:sp>
        <p:nvSpPr>
          <p:cNvPr id="129" name="sc_bg_1"/>
          <p:cNvSpPr/>
          <p:nvPr/>
        </p:nvSpPr>
        <p:spPr>
          <a:xfrm>
            <a:off x="5669280" y="2880360"/>
            <a:ext cx="3108960" cy="685800"/>
          </a:xfrm>
          <a:prstGeom prst="rect">
            <a:avLst/>
          </a:prstGeom>
          <a:solidFill>
            <a:srgbClr val="8B7AB8"/>
          </a:solidFill>
          <a:ln/>
        </p:spPr>
      </p:sp>
      <p:sp>
        <p:nvSpPr>
          <p:cNvPr id="130" name="sc_l_1"/>
          <p:cNvSpPr/>
          <p:nvPr/>
        </p:nvSpPr>
        <p:spPr>
          <a:xfrm>
            <a:off x="5897880" y="2971800"/>
            <a:ext cx="2651760" cy="201168"/>
          </a:xfrm>
          <a:prstGeom prst="rect">
            <a:avLst/>
          </a:prstGeom>
          <a:noFill/>
          <a:ln/>
        </p:spPr>
        <p:txBody>
          <a:bodyPr wrap="square" lIns="0" tIns="0" rIns="0" bIns="0" rtlCol="0"/>
          <a:lstStyle/>
          <a:p>
            <a:pPr indent="0" marL="0">
              <a:buNone/>
            </a:pPr>
            <a:r>
              <a:rPr lang="ja-JP" sz="900" b="1" spc="100" kern="0" dirty="0">
                <a:solidFill>
                  <a:srgbClr val="D9D1E8"/>
                </a:solidFill>
                <a:latin typeface="Consolas"/>
                <a:ea typeface="Consolas"/>
                <a:cs typeface="Consolas"/>
              </a:rPr>
              <a:t>標準（推奨）</a:t>
            </a:r>
          </a:p>
        </p:txBody>
      </p:sp>
      <p:sp>
        <p:nvSpPr>
          <p:cNvPr id="131" name="sc_v_1"/>
          <p:cNvSpPr/>
          <p:nvPr/>
        </p:nvSpPr>
        <p:spPr>
          <a:xfrm>
            <a:off x="5897880" y="3172968"/>
            <a:ext cx="2651760" cy="365760"/>
          </a:xfrm>
          <a:prstGeom prst="rect">
            <a:avLst/>
          </a:prstGeom>
          <a:noFill/>
          <a:ln/>
        </p:spPr>
        <p:txBody>
          <a:bodyPr wrap="square" lIns="0" tIns="0" rIns="0" bIns="0" rtlCol="0"/>
          <a:lstStyle/>
          <a:p>
            <a:pPr indent="0" marL="0">
              <a:buNone/>
            </a:pPr>
            <a:r>
              <a:rPr lang="ja-JP" sz="2000" b="1" dirty="0">
                <a:solidFill>
                  <a:srgbClr val="FFFFFF"/>
                </a:solidFill>
                <a:latin typeface="Consolas"/>
                <a:ea typeface="Consolas"/>
                <a:cs typeface="Consolas"/>
              </a:rPr>
              <a:t>55.0 h</a:t>
            </a:r>
          </a:p>
        </p:txBody>
      </p:sp>
      <p:sp>
        <p:nvSpPr>
          <p:cNvPr id="132" name="sc_bg_2"/>
          <p:cNvSpPr/>
          <p:nvPr/>
        </p:nvSpPr>
        <p:spPr>
          <a:xfrm>
            <a:off x="5669280" y="3657600"/>
            <a:ext cx="3108960" cy="685800"/>
          </a:xfrm>
          <a:prstGeom prst="rect">
            <a:avLst/>
          </a:prstGeom>
          <a:solidFill>
            <a:srgbClr val="FAFAFB"/>
          </a:solidFill>
          <a:ln/>
        </p:spPr>
      </p:sp>
      <p:sp>
        <p:nvSpPr>
          <p:cNvPr id="133" name="sc_l_2"/>
          <p:cNvSpPr/>
          <p:nvPr/>
        </p:nvSpPr>
        <p:spPr>
          <a:xfrm>
            <a:off x="5897880" y="3749040"/>
            <a:ext cx="2651760" cy="201168"/>
          </a:xfrm>
          <a:prstGeom prst="rect">
            <a:avLst/>
          </a:prstGeom>
          <a:noFill/>
          <a:ln/>
        </p:spPr>
        <p:txBody>
          <a:bodyPr wrap="square" lIns="0" tIns="0" rIns="0" bIns="0" rtlCol="0"/>
          <a:lstStyle/>
          <a:p>
            <a:pPr indent="0" marL="0">
              <a:buNone/>
            </a:pPr>
            <a:r>
              <a:rPr lang="ja-JP" sz="900" b="1" spc="100" kern="0" dirty="0">
                <a:solidFill>
                  <a:srgbClr val="9B98A6"/>
                </a:solidFill>
                <a:latin typeface="Consolas"/>
                <a:ea typeface="Consolas"/>
                <a:cs typeface="Consolas"/>
              </a:rPr>
              <a:t>手厚い</a:t>
            </a:r>
          </a:p>
        </p:txBody>
      </p:sp>
      <p:sp>
        <p:nvSpPr>
          <p:cNvPr id="134" name="sc_v_2"/>
          <p:cNvSpPr/>
          <p:nvPr/>
        </p:nvSpPr>
        <p:spPr>
          <a:xfrm>
            <a:off x="5897880" y="3950208"/>
            <a:ext cx="2651760" cy="365760"/>
          </a:xfrm>
          <a:prstGeom prst="rect">
            <a:avLst/>
          </a:prstGeom>
          <a:noFill/>
          <a:ln/>
        </p:spPr>
        <p:txBody>
          <a:bodyPr wrap="square" lIns="0" tIns="0" rIns="0" bIns="0" rtlCol="0"/>
          <a:lstStyle/>
          <a:p>
            <a:pPr indent="0" marL="0">
              <a:buNone/>
            </a:pPr>
            <a:r>
              <a:rPr lang="ja-JP" sz="2000" b="1" dirty="0">
                <a:solidFill>
                  <a:srgbClr val="3A3A42"/>
                </a:solidFill>
                <a:latin typeface="Consolas"/>
                <a:ea typeface="Consolas"/>
                <a:cs typeface="Consolas"/>
              </a:rPr>
              <a:t>86.0 h</a:t>
            </a:r>
          </a:p>
        </p:txBody>
      </p:sp>
      <p:sp>
        <p:nvSpPr>
          <p:cNvPr id="135" name="note"/>
          <p:cNvSpPr/>
          <p:nvPr/>
        </p:nvSpPr>
        <p:spPr>
          <a:xfrm>
            <a:off x="365760" y="4480560"/>
            <a:ext cx="8412480" cy="365760"/>
          </a:xfrm>
          <a:prstGeom prst="rect">
            <a:avLst/>
          </a:prstGeom>
          <a:noFill/>
          <a:ln/>
        </p:spPr>
        <p:txBody>
          <a:bodyPr wrap="square" lIns="0" tIns="0" rIns="0" bIns="0" rtlCol="0" anchor="ctr"/>
          <a:lstStyle/>
          <a:p>
            <a:pPr indent="0" marL="0">
              <a:buNone/>
            </a:pPr>
            <a:r>
              <a:rPr lang="ja-JP" sz="900" dirty="0">
                <a:solidFill>
                  <a:srgbClr val="5E5C6A"/>
                </a:solidFill>
                <a:latin typeface="Noto Sans JP"/>
                <a:ea typeface="Noto Sans JP"/>
                <a:cs typeface="Noto Sans JP"/>
              </a:rPr>
              <a:t>プレミアム（16h/月）は標準シナリオの約29%のみカバー。フェーズ別にカスタム月額プランへの切替を推奨。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08</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08 / COST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プロジェクト型  工数積み上げ</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14 / 18</a:t>
            </a:r>
            <a:endParaRPr lang="en-US" sz="800" dirty="0"/>
          </a:p>
        </p:txBody>
      </p:sp>
      <p:sp>
        <p:nvSpPr>
          <p:cNvPr id="100" name="l_t"/>
          <p:cNvSpPr/>
          <p:nvPr/>
        </p:nvSpPr>
        <p:spPr>
          <a:xfrm>
            <a:off x="365760" y="1600200"/>
            <a:ext cx="841248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3プロジェクトの工数・費用（標準シナリオ）</a:t>
            </a:r>
          </a:p>
        </p:txBody>
      </p:sp>
      <p:sp>
        <p:nvSpPr>
          <p:cNvPr id="101" name="l_ln"/>
          <p:cNvSpPr/>
          <p:nvPr/>
        </p:nvSpPr>
        <p:spPr>
          <a:xfrm>
            <a:off x="365760" y="1947672"/>
            <a:ext cx="8412480" cy="0"/>
          </a:xfrm>
          <a:prstGeom prst="line">
            <a:avLst/>
          </a:prstGeom>
          <a:noFill/>
          <a:ln w="19050">
            <a:solidFill>
              <a:srgbClr val="8B7AB8"/>
            </a:solidFill>
            <a:prstDash val="solid"/>
          </a:ln>
        </p:spPr>
      </p:sp>
      <p:sp>
        <p:nvSpPr>
          <p:cNvPr id="102" name="p_bg_0"/>
          <p:cNvSpPr/>
          <p:nvPr/>
        </p:nvSpPr>
        <p:spPr>
          <a:xfrm>
            <a:off x="365760" y="2148840"/>
            <a:ext cx="2706624" cy="2011680"/>
          </a:xfrm>
          <a:prstGeom prst="rect">
            <a:avLst/>
          </a:prstGeom>
          <a:solidFill>
            <a:srgbClr val="8B7AB8"/>
          </a:solidFill>
          <a:ln/>
        </p:spPr>
      </p:sp>
      <p:sp>
        <p:nvSpPr>
          <p:cNvPr id="103" name="p_tag_0"/>
          <p:cNvSpPr/>
          <p:nvPr/>
        </p:nvSpPr>
        <p:spPr>
          <a:xfrm>
            <a:off x="594360" y="2331720"/>
            <a:ext cx="731520" cy="731520"/>
          </a:xfrm>
          <a:prstGeom prst="rect">
            <a:avLst/>
          </a:prstGeom>
          <a:noFill/>
          <a:ln/>
        </p:spPr>
        <p:txBody>
          <a:bodyPr wrap="square" lIns="0" tIns="0" rIns="0" bIns="0" rtlCol="0"/>
          <a:lstStyle/>
          <a:p>
            <a:pPr indent="0" marL="0">
              <a:buNone/>
            </a:pPr>
            <a:r>
              <a:rPr lang="ja-JP" sz="4800" b="1" dirty="0">
                <a:solidFill>
                  <a:srgbClr val="D9D1E8"/>
                </a:solidFill>
                <a:latin typeface="Georgia"/>
                <a:ea typeface="Georgia"/>
                <a:cs typeface="Georgia"/>
              </a:rPr>
              <a:t>A</a:t>
            </a:r>
          </a:p>
        </p:txBody>
      </p:sp>
      <p:sp>
        <p:nvSpPr>
          <p:cNvPr id="104" name="p_n1_0"/>
          <p:cNvSpPr/>
          <p:nvPr/>
        </p:nvSpPr>
        <p:spPr>
          <a:xfrm>
            <a:off x="594360" y="3017520"/>
            <a:ext cx="2249424" cy="274320"/>
          </a:xfrm>
          <a:prstGeom prst="rect">
            <a:avLst/>
          </a:prstGeom>
          <a:noFill/>
          <a:ln/>
        </p:spPr>
        <p:txBody>
          <a:bodyPr wrap="square" lIns="0" tIns="0" rIns="0" bIns="0" rtlCol="0"/>
          <a:lstStyle/>
          <a:p>
            <a:pPr indent="0" marL="0">
              <a:buNone/>
            </a:pPr>
            <a:r>
              <a:rPr lang="ja-JP" sz="1250" b="1" dirty="0">
                <a:solidFill>
                  <a:srgbClr val="FFFFFF"/>
                </a:solidFill>
                <a:latin typeface="Noto Sans JP"/>
                <a:ea typeface="Noto Sans JP"/>
                <a:cs typeface="Noto Sans JP"/>
              </a:rPr>
              <a:t>統合DB 構造設計</a:t>
            </a:r>
          </a:p>
        </p:txBody>
      </p:sp>
      <p:sp>
        <p:nvSpPr>
          <p:cNvPr id="105" name="p_n2_0"/>
          <p:cNvSpPr/>
          <p:nvPr/>
        </p:nvSpPr>
        <p:spPr>
          <a:xfrm>
            <a:off x="594360" y="3291840"/>
            <a:ext cx="2249424" cy="274320"/>
          </a:xfrm>
          <a:prstGeom prst="rect">
            <a:avLst/>
          </a:prstGeom>
          <a:noFill/>
          <a:ln/>
        </p:spPr>
        <p:txBody>
          <a:bodyPr wrap="square" lIns="0" tIns="0" rIns="0" bIns="0" rtlCol="0"/>
          <a:lstStyle/>
          <a:p>
            <a:pPr indent="0" marL="0">
              <a:buNone/>
            </a:pPr>
            <a:r>
              <a:rPr lang="ja-JP" sz="1050" dirty="0">
                <a:solidFill>
                  <a:srgbClr val="D9D1E8"/>
                </a:solidFill>
                <a:latin typeface="Noto Sans JP"/>
                <a:ea typeface="Noto Sans JP"/>
                <a:cs typeface="Noto Sans JP"/>
              </a:rPr>
              <a:t>＋ 共通マスタレビュー</a:t>
            </a:r>
          </a:p>
        </p:txBody>
      </p:sp>
      <p:sp>
        <p:nvSpPr>
          <p:cNvPr id="106" name="p_s_0"/>
          <p:cNvSpPr/>
          <p:nvPr/>
        </p:nvSpPr>
        <p:spPr>
          <a:xfrm>
            <a:off x="594360" y="3611880"/>
            <a:ext cx="2249424" cy="0"/>
          </a:xfrm>
          <a:prstGeom prst="line">
            <a:avLst/>
          </a:prstGeom>
          <a:noFill/>
          <a:ln w="6350">
            <a:solidFill>
              <a:srgbClr val="D9D1E8"/>
            </a:solidFill>
            <a:prstDash val="solid"/>
          </a:ln>
        </p:spPr>
      </p:sp>
      <p:sp>
        <p:nvSpPr>
          <p:cNvPr id="107" name="p_pe_0"/>
          <p:cNvSpPr/>
          <p:nvPr/>
        </p:nvSpPr>
        <p:spPr>
          <a:xfrm>
            <a:off x="594360" y="3703320"/>
            <a:ext cx="2249424" cy="182880"/>
          </a:xfrm>
          <a:prstGeom prst="rect">
            <a:avLst/>
          </a:prstGeom>
          <a:noFill/>
          <a:ln/>
        </p:spPr>
        <p:txBody>
          <a:bodyPr wrap="square" lIns="0" tIns="0" rIns="0" bIns="0" rtlCol="0"/>
          <a:lstStyle/>
          <a:p>
            <a:pPr indent="0" marL="0">
              <a:buNone/>
            </a:pPr>
            <a:r>
              <a:rPr lang="ja-JP" sz="900" dirty="0">
                <a:solidFill>
                  <a:srgbClr val="D9D1E8"/>
                </a:solidFill>
                <a:latin typeface="Consolas"/>
                <a:ea typeface="Consolas"/>
                <a:cs typeface="Consolas"/>
              </a:rPr>
              <a:t>3〜4ヶ月  /  244h</a:t>
            </a:r>
          </a:p>
        </p:txBody>
      </p:sp>
      <p:sp>
        <p:nvSpPr>
          <p:cNvPr id="108" name="p_c_0"/>
          <p:cNvSpPr/>
          <p:nvPr/>
        </p:nvSpPr>
        <p:spPr>
          <a:xfrm>
            <a:off x="594360" y="3904488"/>
            <a:ext cx="2249424" cy="274320"/>
          </a:xfrm>
          <a:prstGeom prst="rect">
            <a:avLst/>
          </a:prstGeom>
          <a:noFill/>
          <a:ln/>
        </p:spPr>
        <p:txBody>
          <a:bodyPr wrap="square" lIns="0" tIns="0" rIns="0" bIns="0" rtlCol="0"/>
          <a:lstStyle/>
          <a:p>
            <a:pPr indent="0" marL="0">
              <a:buNone/>
            </a:pPr>
            <a:r>
              <a:rPr lang="ja-JP" sz="1500" b="1" dirty="0">
                <a:solidFill>
                  <a:srgbClr val="FFFFFF"/>
                </a:solidFill>
                <a:latin typeface="Consolas"/>
                <a:ea typeface="Consolas"/>
                <a:cs typeface="Consolas"/>
              </a:rPr>
              <a:t>¥2,440,000</a:t>
            </a:r>
          </a:p>
        </p:txBody>
      </p:sp>
      <p:sp>
        <p:nvSpPr>
          <p:cNvPr id="109" name="p_bg_1"/>
          <p:cNvSpPr/>
          <p:nvPr/>
        </p:nvSpPr>
        <p:spPr>
          <a:xfrm>
            <a:off x="3218688" y="2148840"/>
            <a:ext cx="2706624" cy="2011680"/>
          </a:xfrm>
          <a:prstGeom prst="rect">
            <a:avLst/>
          </a:prstGeom>
          <a:solidFill>
            <a:srgbClr val="8B7AB8"/>
          </a:solidFill>
          <a:ln/>
        </p:spPr>
      </p:sp>
      <p:sp>
        <p:nvSpPr>
          <p:cNvPr id="110" name="p_tag_1"/>
          <p:cNvSpPr/>
          <p:nvPr/>
        </p:nvSpPr>
        <p:spPr>
          <a:xfrm>
            <a:off x="3447288" y="2331720"/>
            <a:ext cx="731520" cy="731520"/>
          </a:xfrm>
          <a:prstGeom prst="rect">
            <a:avLst/>
          </a:prstGeom>
          <a:noFill/>
          <a:ln/>
        </p:spPr>
        <p:txBody>
          <a:bodyPr wrap="square" lIns="0" tIns="0" rIns="0" bIns="0" rtlCol="0"/>
          <a:lstStyle/>
          <a:p>
            <a:pPr indent="0" marL="0">
              <a:buNone/>
            </a:pPr>
            <a:r>
              <a:rPr lang="ja-JP" sz="4800" b="1" dirty="0">
                <a:solidFill>
                  <a:srgbClr val="D9D1E8"/>
                </a:solidFill>
                <a:latin typeface="Georgia"/>
                <a:ea typeface="Georgia"/>
                <a:cs typeface="Georgia"/>
              </a:rPr>
              <a:t>B</a:t>
            </a:r>
          </a:p>
        </p:txBody>
      </p:sp>
      <p:sp>
        <p:nvSpPr>
          <p:cNvPr id="111" name="p_n1_1"/>
          <p:cNvSpPr/>
          <p:nvPr/>
        </p:nvSpPr>
        <p:spPr>
          <a:xfrm>
            <a:off x="3447288" y="3017520"/>
            <a:ext cx="2249424" cy="274320"/>
          </a:xfrm>
          <a:prstGeom prst="rect">
            <a:avLst/>
          </a:prstGeom>
          <a:noFill/>
          <a:ln/>
        </p:spPr>
        <p:txBody>
          <a:bodyPr wrap="square" lIns="0" tIns="0" rIns="0" bIns="0" rtlCol="0"/>
          <a:lstStyle/>
          <a:p>
            <a:pPr indent="0" marL="0">
              <a:buNone/>
            </a:pPr>
            <a:r>
              <a:rPr lang="ja-JP" sz="1250" b="1" dirty="0">
                <a:solidFill>
                  <a:srgbClr val="FFFFFF"/>
                </a:solidFill>
                <a:latin typeface="Noto Sans JP"/>
                <a:ea typeface="Noto Sans JP"/>
                <a:cs typeface="Noto Sans JP"/>
              </a:rPr>
              <a:t>生成AI 利用規程</a:t>
            </a:r>
          </a:p>
        </p:txBody>
      </p:sp>
      <p:sp>
        <p:nvSpPr>
          <p:cNvPr id="112" name="p_n2_1"/>
          <p:cNvSpPr/>
          <p:nvPr/>
        </p:nvSpPr>
        <p:spPr>
          <a:xfrm>
            <a:off x="3447288" y="3291840"/>
            <a:ext cx="2249424" cy="274320"/>
          </a:xfrm>
          <a:prstGeom prst="rect">
            <a:avLst/>
          </a:prstGeom>
          <a:noFill/>
          <a:ln/>
        </p:spPr>
        <p:txBody>
          <a:bodyPr wrap="square" lIns="0" tIns="0" rIns="0" bIns="0" rtlCol="0"/>
          <a:lstStyle/>
          <a:p>
            <a:pPr indent="0" marL="0">
              <a:buNone/>
            </a:pPr>
            <a:r>
              <a:rPr lang="ja-JP" sz="1050" dirty="0">
                <a:solidFill>
                  <a:srgbClr val="D9D1E8"/>
                </a:solidFill>
                <a:latin typeface="Noto Sans JP"/>
                <a:ea typeface="Noto Sans JP"/>
                <a:cs typeface="Noto Sans JP"/>
              </a:rPr>
              <a:t>／ ガイドライン策定</a:t>
            </a:r>
          </a:p>
        </p:txBody>
      </p:sp>
      <p:sp>
        <p:nvSpPr>
          <p:cNvPr id="113" name="p_s_1"/>
          <p:cNvSpPr/>
          <p:nvPr/>
        </p:nvSpPr>
        <p:spPr>
          <a:xfrm>
            <a:off x="3447288" y="3611880"/>
            <a:ext cx="2249424" cy="0"/>
          </a:xfrm>
          <a:prstGeom prst="line">
            <a:avLst/>
          </a:prstGeom>
          <a:noFill/>
          <a:ln w="6350">
            <a:solidFill>
              <a:srgbClr val="D9D1E8"/>
            </a:solidFill>
            <a:prstDash val="solid"/>
          </a:ln>
        </p:spPr>
      </p:sp>
      <p:sp>
        <p:nvSpPr>
          <p:cNvPr id="114" name="p_pe_1"/>
          <p:cNvSpPr/>
          <p:nvPr/>
        </p:nvSpPr>
        <p:spPr>
          <a:xfrm>
            <a:off x="3447288" y="3703320"/>
            <a:ext cx="2249424" cy="182880"/>
          </a:xfrm>
          <a:prstGeom prst="rect">
            <a:avLst/>
          </a:prstGeom>
          <a:noFill/>
          <a:ln/>
        </p:spPr>
        <p:txBody>
          <a:bodyPr wrap="square" lIns="0" tIns="0" rIns="0" bIns="0" rtlCol="0"/>
          <a:lstStyle/>
          <a:p>
            <a:pPr indent="0" marL="0">
              <a:buNone/>
            </a:pPr>
            <a:r>
              <a:rPr lang="ja-JP" sz="900" dirty="0">
                <a:solidFill>
                  <a:srgbClr val="D9D1E8"/>
                </a:solidFill>
                <a:latin typeface="Consolas"/>
                <a:ea typeface="Consolas"/>
                <a:cs typeface="Consolas"/>
              </a:rPr>
              <a:t>2〜3ヶ月  /  123h</a:t>
            </a:r>
          </a:p>
        </p:txBody>
      </p:sp>
      <p:sp>
        <p:nvSpPr>
          <p:cNvPr id="115" name="p_c_1"/>
          <p:cNvSpPr/>
          <p:nvPr/>
        </p:nvSpPr>
        <p:spPr>
          <a:xfrm>
            <a:off x="3447288" y="3904488"/>
            <a:ext cx="2249424" cy="274320"/>
          </a:xfrm>
          <a:prstGeom prst="rect">
            <a:avLst/>
          </a:prstGeom>
          <a:noFill/>
          <a:ln/>
        </p:spPr>
        <p:txBody>
          <a:bodyPr wrap="square" lIns="0" tIns="0" rIns="0" bIns="0" rtlCol="0"/>
          <a:lstStyle/>
          <a:p>
            <a:pPr indent="0" marL="0">
              <a:buNone/>
            </a:pPr>
            <a:r>
              <a:rPr lang="ja-JP" sz="1500" b="1" dirty="0">
                <a:solidFill>
                  <a:srgbClr val="FFFFFF"/>
                </a:solidFill>
                <a:latin typeface="Consolas"/>
                <a:ea typeface="Consolas"/>
                <a:cs typeface="Consolas"/>
              </a:rPr>
              <a:t>¥1,230,000</a:t>
            </a:r>
          </a:p>
        </p:txBody>
      </p:sp>
      <p:sp>
        <p:nvSpPr>
          <p:cNvPr id="116" name="p_bg_2"/>
          <p:cNvSpPr/>
          <p:nvPr/>
        </p:nvSpPr>
        <p:spPr>
          <a:xfrm>
            <a:off x="6071616" y="2148840"/>
            <a:ext cx="2706624" cy="2011680"/>
          </a:xfrm>
          <a:prstGeom prst="rect">
            <a:avLst/>
          </a:prstGeom>
          <a:solidFill>
            <a:srgbClr val="8B7AB8"/>
          </a:solidFill>
          <a:ln/>
        </p:spPr>
      </p:sp>
      <p:sp>
        <p:nvSpPr>
          <p:cNvPr id="117" name="p_tag_2"/>
          <p:cNvSpPr/>
          <p:nvPr/>
        </p:nvSpPr>
        <p:spPr>
          <a:xfrm>
            <a:off x="6300216" y="2331720"/>
            <a:ext cx="731520" cy="731520"/>
          </a:xfrm>
          <a:prstGeom prst="rect">
            <a:avLst/>
          </a:prstGeom>
          <a:noFill/>
          <a:ln/>
        </p:spPr>
        <p:txBody>
          <a:bodyPr wrap="square" lIns="0" tIns="0" rIns="0" bIns="0" rtlCol="0"/>
          <a:lstStyle/>
          <a:p>
            <a:pPr indent="0" marL="0">
              <a:buNone/>
            </a:pPr>
            <a:r>
              <a:rPr lang="ja-JP" sz="4800" b="1" dirty="0">
                <a:solidFill>
                  <a:srgbClr val="D9D1E8"/>
                </a:solidFill>
                <a:latin typeface="Georgia"/>
                <a:ea typeface="Georgia"/>
                <a:cs typeface="Georgia"/>
              </a:rPr>
              <a:t>C</a:t>
            </a:r>
          </a:p>
        </p:txBody>
      </p:sp>
      <p:sp>
        <p:nvSpPr>
          <p:cNvPr id="118" name="p_n1_2"/>
          <p:cNvSpPr/>
          <p:nvPr/>
        </p:nvSpPr>
        <p:spPr>
          <a:xfrm>
            <a:off x="6300216" y="3017520"/>
            <a:ext cx="2249424" cy="274320"/>
          </a:xfrm>
          <a:prstGeom prst="rect">
            <a:avLst/>
          </a:prstGeom>
          <a:noFill/>
          <a:ln/>
        </p:spPr>
        <p:txBody>
          <a:bodyPr wrap="square" lIns="0" tIns="0" rIns="0" bIns="0" rtlCol="0"/>
          <a:lstStyle/>
          <a:p>
            <a:pPr indent="0" marL="0">
              <a:buNone/>
            </a:pPr>
            <a:r>
              <a:rPr lang="ja-JP" sz="1250" b="1" dirty="0">
                <a:solidFill>
                  <a:srgbClr val="FFFFFF"/>
                </a:solidFill>
                <a:latin typeface="Noto Sans JP"/>
                <a:ea typeface="Noto Sans JP"/>
                <a:cs typeface="Noto Sans JP"/>
              </a:rPr>
              <a:t>AI推進担当者</a:t>
            </a:r>
          </a:p>
        </p:txBody>
      </p:sp>
      <p:sp>
        <p:nvSpPr>
          <p:cNvPr id="119" name="p_n2_2"/>
          <p:cNvSpPr/>
          <p:nvPr/>
        </p:nvSpPr>
        <p:spPr>
          <a:xfrm>
            <a:off x="6300216" y="3291840"/>
            <a:ext cx="2249424" cy="274320"/>
          </a:xfrm>
          <a:prstGeom prst="rect">
            <a:avLst/>
          </a:prstGeom>
          <a:noFill/>
          <a:ln/>
        </p:spPr>
        <p:txBody>
          <a:bodyPr wrap="square" lIns="0" tIns="0" rIns="0" bIns="0" rtlCol="0"/>
          <a:lstStyle/>
          <a:p>
            <a:pPr indent="0" marL="0">
              <a:buNone/>
            </a:pPr>
            <a:r>
              <a:rPr lang="ja-JP" sz="1050" dirty="0">
                <a:solidFill>
                  <a:srgbClr val="D9D1E8"/>
                </a:solidFill>
                <a:latin typeface="Noto Sans JP"/>
                <a:ea typeface="Noto Sans JP"/>
                <a:cs typeface="Noto Sans JP"/>
              </a:rPr>
              <a:t>育成プログラム</a:t>
            </a:r>
          </a:p>
        </p:txBody>
      </p:sp>
      <p:sp>
        <p:nvSpPr>
          <p:cNvPr id="120" name="p_s_2"/>
          <p:cNvSpPr/>
          <p:nvPr/>
        </p:nvSpPr>
        <p:spPr>
          <a:xfrm>
            <a:off x="6300216" y="3611880"/>
            <a:ext cx="2249424" cy="0"/>
          </a:xfrm>
          <a:prstGeom prst="line">
            <a:avLst/>
          </a:prstGeom>
          <a:noFill/>
          <a:ln w="6350">
            <a:solidFill>
              <a:srgbClr val="D9D1E8"/>
            </a:solidFill>
            <a:prstDash val="solid"/>
          </a:ln>
        </p:spPr>
      </p:sp>
      <p:sp>
        <p:nvSpPr>
          <p:cNvPr id="121" name="p_pe_2"/>
          <p:cNvSpPr/>
          <p:nvPr/>
        </p:nvSpPr>
        <p:spPr>
          <a:xfrm>
            <a:off x="6300216" y="3703320"/>
            <a:ext cx="2249424" cy="182880"/>
          </a:xfrm>
          <a:prstGeom prst="rect">
            <a:avLst/>
          </a:prstGeom>
          <a:noFill/>
          <a:ln/>
        </p:spPr>
        <p:txBody>
          <a:bodyPr wrap="square" lIns="0" tIns="0" rIns="0" bIns="0" rtlCol="0"/>
          <a:lstStyle/>
          <a:p>
            <a:pPr indent="0" marL="0">
              <a:buNone/>
            </a:pPr>
            <a:r>
              <a:rPr lang="ja-JP" sz="900" dirty="0">
                <a:solidFill>
                  <a:srgbClr val="D9D1E8"/>
                </a:solidFill>
                <a:latin typeface="Consolas"/>
                <a:ea typeface="Consolas"/>
                <a:cs typeface="Consolas"/>
              </a:rPr>
              <a:t>6ヶ月  /  216h</a:t>
            </a:r>
          </a:p>
        </p:txBody>
      </p:sp>
      <p:sp>
        <p:nvSpPr>
          <p:cNvPr id="122" name="p_c_2"/>
          <p:cNvSpPr/>
          <p:nvPr/>
        </p:nvSpPr>
        <p:spPr>
          <a:xfrm>
            <a:off x="6300216" y="3904488"/>
            <a:ext cx="2249424" cy="274320"/>
          </a:xfrm>
          <a:prstGeom prst="rect">
            <a:avLst/>
          </a:prstGeom>
          <a:noFill/>
          <a:ln/>
        </p:spPr>
        <p:txBody>
          <a:bodyPr wrap="square" lIns="0" tIns="0" rIns="0" bIns="0" rtlCol="0"/>
          <a:lstStyle/>
          <a:p>
            <a:pPr indent="0" marL="0">
              <a:buNone/>
            </a:pPr>
            <a:r>
              <a:rPr lang="ja-JP" sz="1500" b="1" dirty="0">
                <a:solidFill>
                  <a:srgbClr val="FFFFFF"/>
                </a:solidFill>
                <a:latin typeface="Consolas"/>
                <a:ea typeface="Consolas"/>
                <a:cs typeface="Consolas"/>
              </a:rPr>
              <a:t>¥2,160,000</a:t>
            </a:r>
          </a:p>
        </p:txBody>
      </p:sp>
      <p:sp>
        <p:nvSpPr>
          <p:cNvPr id="123" name="tot_bg"/>
          <p:cNvSpPr/>
          <p:nvPr/>
        </p:nvSpPr>
        <p:spPr>
          <a:xfrm>
            <a:off x="365760" y="4343400"/>
            <a:ext cx="8412480" cy="502920"/>
          </a:xfrm>
          <a:prstGeom prst="rect">
            <a:avLst/>
          </a:prstGeom>
          <a:solidFill>
            <a:srgbClr val="6B5C96"/>
          </a:solidFill>
          <a:ln/>
        </p:spPr>
      </p:sp>
      <p:sp>
        <p:nvSpPr>
          <p:cNvPr id="124" name="tot_l"/>
          <p:cNvSpPr/>
          <p:nvPr/>
        </p:nvSpPr>
        <p:spPr>
          <a:xfrm>
            <a:off x="731520" y="4343400"/>
            <a:ext cx="3657600" cy="502920"/>
          </a:xfrm>
          <a:prstGeom prst="rect">
            <a:avLst/>
          </a:prstGeom>
          <a:noFill/>
          <a:ln/>
        </p:spPr>
        <p:txBody>
          <a:bodyPr wrap="square" lIns="0" tIns="0" rIns="0" bIns="0" rtlCol="0" anchor="ctr"/>
          <a:lstStyle/>
          <a:p>
            <a:pPr indent="0" marL="0">
              <a:buNone/>
            </a:pPr>
            <a:r>
              <a:rPr lang="ja-JP" sz="1100" b="1" dirty="0">
                <a:solidFill>
                  <a:srgbClr val="FFFFFF"/>
                </a:solidFill>
                <a:latin typeface="Noto Sans JP"/>
                <a:ea typeface="Noto Sans JP"/>
                <a:cs typeface="Noto Sans JP"/>
              </a:rPr>
              <a:t>プロジェクト 3本 合計</a:t>
            </a:r>
          </a:p>
        </p:txBody>
      </p:sp>
      <p:sp>
        <p:nvSpPr>
          <p:cNvPr id="125" name="tot_h"/>
          <p:cNvSpPr/>
          <p:nvPr/>
        </p:nvSpPr>
        <p:spPr>
          <a:xfrm>
            <a:off x="5029200" y="4343400"/>
            <a:ext cx="1828800" cy="502920"/>
          </a:xfrm>
          <a:prstGeom prst="rect">
            <a:avLst/>
          </a:prstGeom>
          <a:noFill/>
          <a:ln/>
        </p:spPr>
        <p:txBody>
          <a:bodyPr wrap="square" lIns="0" tIns="0" rIns="0" bIns="0" rtlCol="0" anchor="ctr"/>
          <a:lstStyle/>
          <a:p>
            <a:pPr algn="r" indent="0" marL="0">
              <a:buNone/>
            </a:pPr>
            <a:r>
              <a:rPr lang="ja-JP" sz="1400" b="1" dirty="0">
                <a:solidFill>
                  <a:srgbClr val="FFFFFF"/>
                </a:solidFill>
                <a:latin typeface="Consolas"/>
                <a:ea typeface="Consolas"/>
                <a:cs typeface="Consolas"/>
              </a:rPr>
              <a:t>583 h</a:t>
            </a:r>
          </a:p>
        </p:txBody>
      </p:sp>
      <p:sp>
        <p:nvSpPr>
          <p:cNvPr id="126" name="tot_v"/>
          <p:cNvSpPr/>
          <p:nvPr/>
        </p:nvSpPr>
        <p:spPr>
          <a:xfrm>
            <a:off x="6858000" y="4343400"/>
            <a:ext cx="1828800" cy="502920"/>
          </a:xfrm>
          <a:prstGeom prst="rect">
            <a:avLst/>
          </a:prstGeom>
          <a:noFill/>
          <a:ln/>
        </p:spPr>
        <p:txBody>
          <a:bodyPr wrap="square" lIns="0" tIns="0" rIns="0" bIns="0" rtlCol="0" anchor="ctr"/>
          <a:lstStyle/>
          <a:p>
            <a:pPr algn="r" indent="0" marL="0">
              <a:buNone/>
            </a:pPr>
            <a:r>
              <a:rPr lang="ja-JP" sz="1700" b="1" dirty="0">
                <a:solidFill>
                  <a:srgbClr val="FFFFFF"/>
                </a:solidFill>
                <a:latin typeface="Consolas"/>
                <a:ea typeface="Consolas"/>
                <a:cs typeface="Consolas"/>
              </a:rPr>
              <a:t>¥5,830,000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indent="0" marL="0">
              <a:buNone/>
            </a:pPr>
            <a:r>
              <a:rPr lang="en-US" sz="800" spc="200" kern="0" dirty="0">
                <a:solidFill>
                  <a:srgbClr val="9B98A6"/>
                </a:solidFill>
                <a:latin typeface="Consolas" pitchFamily="34" charset="0"/>
                <a:ea typeface="Consolas" pitchFamily="34" charset="-122"/>
                <a:cs typeface="Consolas" pitchFamily="34" charset="-120"/>
              </a:rPr>
              <a:t>CONTENT ／ 09</a:t>
            </a:r>
            <a:endParaRPr lang="en-US" sz="800" dirty="0"/>
          </a:p>
        </p:txBody>
      </p:sp>
      <p:sp>
        <p:nvSpPr>
          <p:cNvPr id="3" name="Shape 1"/>
          <p:cNvSpPr/>
          <p:nvPr/>
        </p:nvSpPr>
        <p:spPr>
          <a:xfrm>
            <a:off x="228600" y="320040"/>
            <a:ext cx="64008" cy="64008"/>
          </a:xfrm>
          <a:prstGeom prst="ellipse">
            <a:avLst/>
          </a:prstGeom>
          <a:solidFill>
            <a:srgbClr val="8B7AB8"/>
          </a:solidFill>
          <a:ln/>
        </p:spPr>
      </p:sp>
      <p:pic>
        <p:nvPicPr>
          <p:cNvPr id="4" name="Image 0" descr="logo-horizontal.png"/>
          <p:cNvPicPr>
            <a:picLocks noChangeAspect="1"/>
          </p:cNvPicPr>
          <p:nvPr/>
        </p:nvPicPr>
        <p:blipFill>
          <a:blip r:embed="rId1"/>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indent="0" marL="0">
              <a:buNone/>
            </a:pPr>
            <a:r>
              <a:rPr lang="en-US" sz="900" spc="400" kern="0" dirty="0">
                <a:solidFill>
                  <a:srgbClr val="8B7AB8"/>
                </a:solidFill>
                <a:latin typeface="Consolas" pitchFamily="34" charset="0"/>
                <a:ea typeface="Consolas" pitchFamily="34" charset="-122"/>
                <a:cs typeface="Consolas" pitchFamily="34" charset="-120"/>
              </a:rPr>
              <a:t>09 / COST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indent="0" marL="0">
              <a:buNone/>
            </a:pPr>
            <a:r>
              <a:rPr lang="en-US" sz="2200" b="1" dirty="0">
                <a:solidFill>
                  <a:srgbClr val="3A3A42"/>
                </a:solidFill>
                <a:latin typeface="Noto Sans JP" pitchFamily="34" charset="0"/>
                <a:ea typeface="Noto Sans JP" pitchFamily="34" charset="-122"/>
                <a:cs typeface="Noto Sans JP" pitchFamily="34" charset="-120"/>
              </a:rPr>
              <a:t>12ヶ月トータル費用（標準シナリオ）</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sp>
      <p:sp>
        <p:nvSpPr>
          <p:cNvPr id="10" name="Text 7"/>
          <p:cNvSpPr/>
          <p:nvPr/>
        </p:nvSpPr>
        <p:spPr>
          <a:xfrm>
            <a:off x="7955280" y="4846320"/>
            <a:ext cx="914400" cy="182880"/>
          </a:xfrm>
          <a:prstGeom prst="rect">
            <a:avLst/>
          </a:prstGeom>
          <a:noFill/>
          <a:ln/>
        </p:spPr>
        <p:txBody>
          <a:bodyPr wrap="square" lIns="0" tIns="0" rIns="0" bIns="0" rtlCol="0" anchor="ctr"/>
          <a:lstStyle/>
          <a:p>
            <a:pPr algn="r" indent="0" marL="0">
              <a:buNone/>
            </a:pPr>
            <a:r>
              <a:rPr lang="en-US" sz="800" dirty="0">
                <a:solidFill>
                  <a:srgbClr val="9B98A6"/>
                </a:solidFill>
                <a:latin typeface="Consolas" pitchFamily="34" charset="0"/>
                <a:ea typeface="Consolas" pitchFamily="34" charset="-122"/>
                <a:cs typeface="Consolas" pitchFamily="34" charset="-120"/>
              </a:rPr>
              <a:t>15 / 18</a:t>
            </a:r>
            <a:endParaRPr lang="en-US" sz="800" dirty="0"/>
          </a:p>
        </p:txBody>
      </p:sp>
      <p:sp>
        <p:nvSpPr>
          <p:cNvPr id="100" name="l_t"/>
          <p:cNvSpPr/>
          <p:nvPr/>
        </p:nvSpPr>
        <p:spPr>
          <a:xfrm>
            <a:off x="365760" y="1600200"/>
            <a:ext cx="530352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費用内訳</a:t>
            </a:r>
          </a:p>
        </p:txBody>
      </p:sp>
      <p:sp>
        <p:nvSpPr>
          <p:cNvPr id="101" name="l_ln"/>
          <p:cNvSpPr/>
          <p:nvPr/>
        </p:nvSpPr>
        <p:spPr>
          <a:xfrm>
            <a:off x="365760" y="1947672"/>
            <a:ext cx="5303520" cy="0"/>
          </a:xfrm>
          <a:prstGeom prst="line">
            <a:avLst/>
          </a:prstGeom>
          <a:noFill/>
          <a:ln w="19050">
            <a:solidFill>
              <a:srgbClr val="8B7AB8"/>
            </a:solidFill>
            <a:prstDash val="solid"/>
          </a:ln>
        </p:spPr>
      </p:sp>
      <p:sp>
        <p:nvSpPr>
          <p:cNvPr id="102" name="m_sec_bg"/>
          <p:cNvSpPr/>
          <p:nvPr/>
        </p:nvSpPr>
        <p:spPr>
          <a:xfrm>
            <a:off x="365760" y="2103120"/>
            <a:ext cx="5303520" cy="274320"/>
          </a:xfrm>
          <a:prstGeom prst="rect">
            <a:avLst/>
          </a:prstGeom>
          <a:solidFill>
            <a:srgbClr val="FAFAFB"/>
          </a:solidFill>
          <a:ln/>
        </p:spPr>
      </p:sp>
      <p:sp>
        <p:nvSpPr>
          <p:cNvPr id="103" name="m_sec_l"/>
          <p:cNvSpPr/>
          <p:nvPr/>
        </p:nvSpPr>
        <p:spPr>
          <a:xfrm>
            <a:off x="548640" y="2103120"/>
            <a:ext cx="3657600" cy="274320"/>
          </a:xfrm>
          <a:prstGeom prst="rect">
            <a:avLst/>
          </a:prstGeom>
          <a:noFill/>
          <a:ln/>
        </p:spPr>
        <p:txBody>
          <a:bodyPr wrap="square" lIns="0" tIns="0" rIns="0" bIns="0" rtlCol="0" anchor="ctr"/>
          <a:lstStyle/>
          <a:p>
            <a:pPr indent="0" marL="0">
              <a:buNone/>
            </a:pPr>
            <a:r>
              <a:rPr lang="ja-JP" sz="900" b="1" spc="100" kern="0" dirty="0">
                <a:solidFill>
                  <a:srgbClr val="8B7AB8"/>
                </a:solidFill>
                <a:latin typeface="Consolas"/>
                <a:ea typeface="Consolas"/>
                <a:cs typeface="Consolas"/>
              </a:rPr>
              <a:t>月額顧問  （フェーズ別切替）</a:t>
            </a:r>
          </a:p>
        </p:txBody>
      </p:sp>
      <p:sp>
        <p:nvSpPr>
          <p:cNvPr id="104" name="m_sec_v"/>
          <p:cNvSpPr/>
          <p:nvPr/>
        </p:nvSpPr>
        <p:spPr>
          <a:xfrm>
            <a:off x="4206240" y="2103120"/>
            <a:ext cx="1371600" cy="274320"/>
          </a:xfrm>
          <a:prstGeom prst="rect">
            <a:avLst/>
          </a:prstGeom>
          <a:noFill/>
          <a:ln/>
        </p:spPr>
        <p:txBody>
          <a:bodyPr wrap="square" lIns="0" tIns="0" rIns="0" bIns="0" rtlCol="0" anchor="ctr"/>
          <a:lstStyle/>
          <a:p>
            <a:pPr algn="r" indent="0" marL="0">
              <a:buNone/>
            </a:pPr>
            <a:r>
              <a:rPr lang="ja-JP" sz="1000" b="1" dirty="0">
                <a:solidFill>
                  <a:srgbClr val="3A3A42"/>
                </a:solidFill>
                <a:latin typeface="Consolas"/>
                <a:ea typeface="Consolas"/>
                <a:cs typeface="Consolas"/>
              </a:rPr>
              <a:t>¥6,000,000</a:t>
            </a:r>
          </a:p>
        </p:txBody>
      </p:sp>
      <p:sp>
        <p:nvSpPr>
          <p:cNvPr id="105" name="rr_p_0"/>
          <p:cNvSpPr/>
          <p:nvPr/>
        </p:nvSpPr>
        <p:spPr>
          <a:xfrm>
            <a:off x="548640" y="2423160"/>
            <a:ext cx="146304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立ち上げ</a:t>
            </a:r>
          </a:p>
        </p:txBody>
      </p:sp>
      <p:sp>
        <p:nvSpPr>
          <p:cNvPr id="106" name="rr_m_0"/>
          <p:cNvSpPr/>
          <p:nvPr/>
        </p:nvSpPr>
        <p:spPr>
          <a:xfrm>
            <a:off x="2011680" y="2423160"/>
            <a:ext cx="822960" cy="274320"/>
          </a:xfrm>
          <a:prstGeom prst="rect">
            <a:avLst/>
          </a:prstGeom>
          <a:noFill/>
          <a:ln/>
        </p:spPr>
        <p:txBody>
          <a:bodyPr wrap="square" lIns="0" tIns="0" rIns="0" bIns="0" rtlCol="0" anchor="ctr"/>
          <a:lstStyle/>
          <a:p>
            <a:pPr indent="0" marL="0">
              <a:buNone/>
            </a:pPr>
            <a:r>
              <a:rPr lang="ja-JP" sz="850" dirty="0">
                <a:solidFill>
                  <a:srgbClr val="9B98A6"/>
                </a:solidFill>
                <a:latin typeface="Consolas"/>
                <a:ea typeface="Consolas"/>
                <a:cs typeface="Consolas"/>
              </a:rPr>
              <a:t>M1〜M3</a:t>
            </a:r>
          </a:p>
        </p:txBody>
      </p:sp>
      <p:sp>
        <p:nvSpPr>
          <p:cNvPr id="107" name="rr_n_0"/>
          <p:cNvSpPr/>
          <p:nvPr/>
        </p:nvSpPr>
        <p:spPr>
          <a:xfrm>
            <a:off x="2834640" y="2423160"/>
            <a:ext cx="1554480" cy="274320"/>
          </a:xfrm>
          <a:prstGeom prst="rect">
            <a:avLst/>
          </a:prstGeom>
          <a:noFill/>
          <a:ln/>
        </p:spPr>
        <p:txBody>
          <a:bodyPr wrap="square" lIns="0" tIns="0" rIns="0" bIns="0" rtlCol="0" anchor="ctr"/>
          <a:lstStyle/>
          <a:p>
            <a:pPr indent="0" marL="0">
              <a:buNone/>
            </a:pPr>
            <a:r>
              <a:rPr lang="ja-JP" sz="850" dirty="0">
                <a:solidFill>
                  <a:srgbClr val="5E5C6A"/>
                </a:solidFill>
                <a:latin typeface="Noto Sans JP"/>
                <a:ea typeface="Noto Sans JP"/>
                <a:cs typeface="Noto Sans JP"/>
              </a:rPr>
              <a:t>スタンダードカスタム</a:t>
            </a:r>
          </a:p>
        </p:txBody>
      </p:sp>
      <p:sp>
        <p:nvSpPr>
          <p:cNvPr id="108" name="rr_c_0"/>
          <p:cNvSpPr/>
          <p:nvPr/>
        </p:nvSpPr>
        <p:spPr>
          <a:xfrm>
            <a:off x="4206240" y="2423160"/>
            <a:ext cx="1371600" cy="274320"/>
          </a:xfrm>
          <a:prstGeom prst="rect">
            <a:avLst/>
          </a:prstGeom>
          <a:noFill/>
          <a:ln/>
        </p:spPr>
        <p:txBody>
          <a:bodyPr wrap="square" lIns="0" tIns="0" rIns="0" bIns="0" rtlCol="0" anchor="ctr"/>
          <a:lstStyle/>
          <a:p>
            <a:pPr algn="r" indent="0" marL="0">
              <a:buNone/>
            </a:pPr>
            <a:r>
              <a:rPr lang="ja-JP" sz="950" dirty="0">
                <a:solidFill>
                  <a:srgbClr val="3A3A42"/>
                </a:solidFill>
                <a:latin typeface="Consolas"/>
                <a:ea typeface="Consolas"/>
                <a:cs typeface="Consolas"/>
              </a:rPr>
              <a:t>¥1,680,000</a:t>
            </a:r>
          </a:p>
        </p:txBody>
      </p:sp>
      <p:sp>
        <p:nvSpPr>
          <p:cNvPr id="109" name="rr_p_1"/>
          <p:cNvSpPr/>
          <p:nvPr/>
        </p:nvSpPr>
        <p:spPr>
          <a:xfrm>
            <a:off x="548640" y="2715768"/>
            <a:ext cx="146304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要件定義並走期</a:t>
            </a:r>
          </a:p>
        </p:txBody>
      </p:sp>
      <p:sp>
        <p:nvSpPr>
          <p:cNvPr id="110" name="rr_m_1"/>
          <p:cNvSpPr/>
          <p:nvPr/>
        </p:nvSpPr>
        <p:spPr>
          <a:xfrm>
            <a:off x="2011680" y="2715768"/>
            <a:ext cx="822960" cy="274320"/>
          </a:xfrm>
          <a:prstGeom prst="rect">
            <a:avLst/>
          </a:prstGeom>
          <a:noFill/>
          <a:ln/>
        </p:spPr>
        <p:txBody>
          <a:bodyPr wrap="square" lIns="0" tIns="0" rIns="0" bIns="0" rtlCol="0" anchor="ctr"/>
          <a:lstStyle/>
          <a:p>
            <a:pPr indent="0" marL="0">
              <a:buNone/>
            </a:pPr>
            <a:r>
              <a:rPr lang="ja-JP" sz="850" dirty="0">
                <a:solidFill>
                  <a:srgbClr val="9B98A6"/>
                </a:solidFill>
                <a:latin typeface="Consolas"/>
                <a:ea typeface="Consolas"/>
                <a:cs typeface="Consolas"/>
              </a:rPr>
              <a:t>M4〜M9</a:t>
            </a:r>
          </a:p>
        </p:txBody>
      </p:sp>
      <p:sp>
        <p:nvSpPr>
          <p:cNvPr id="111" name="rr_n_1"/>
          <p:cNvSpPr/>
          <p:nvPr/>
        </p:nvSpPr>
        <p:spPr>
          <a:xfrm>
            <a:off x="2834640" y="2715768"/>
            <a:ext cx="1554480" cy="274320"/>
          </a:xfrm>
          <a:prstGeom prst="rect">
            <a:avLst/>
          </a:prstGeom>
          <a:noFill/>
          <a:ln/>
        </p:spPr>
        <p:txBody>
          <a:bodyPr wrap="square" lIns="0" tIns="0" rIns="0" bIns="0" rtlCol="0" anchor="ctr"/>
          <a:lstStyle/>
          <a:p>
            <a:pPr indent="0" marL="0">
              <a:buNone/>
            </a:pPr>
            <a:r>
              <a:rPr lang="ja-JP" sz="850" dirty="0">
                <a:solidFill>
                  <a:srgbClr val="5E5C6A"/>
                </a:solidFill>
                <a:latin typeface="Noto Sans JP"/>
                <a:ea typeface="Noto Sans JP"/>
                <a:cs typeface="Noto Sans JP"/>
              </a:rPr>
              <a:t>スタンダードカスタム</a:t>
            </a:r>
          </a:p>
        </p:txBody>
      </p:sp>
      <p:sp>
        <p:nvSpPr>
          <p:cNvPr id="112" name="rr_c_1"/>
          <p:cNvSpPr/>
          <p:nvPr/>
        </p:nvSpPr>
        <p:spPr>
          <a:xfrm>
            <a:off x="4206240" y="2715768"/>
            <a:ext cx="1371600" cy="274320"/>
          </a:xfrm>
          <a:prstGeom prst="rect">
            <a:avLst/>
          </a:prstGeom>
          <a:noFill/>
          <a:ln/>
        </p:spPr>
        <p:txBody>
          <a:bodyPr wrap="square" lIns="0" tIns="0" rIns="0" bIns="0" rtlCol="0" anchor="ctr"/>
          <a:lstStyle/>
          <a:p>
            <a:pPr algn="r" indent="0" marL="0">
              <a:buNone/>
            </a:pPr>
            <a:r>
              <a:rPr lang="ja-JP" sz="950" dirty="0">
                <a:solidFill>
                  <a:srgbClr val="3A3A42"/>
                </a:solidFill>
                <a:latin typeface="Consolas"/>
                <a:ea typeface="Consolas"/>
                <a:cs typeface="Consolas"/>
              </a:rPr>
              <a:t>¥3,360,000</a:t>
            </a:r>
          </a:p>
        </p:txBody>
      </p:sp>
      <p:sp>
        <p:nvSpPr>
          <p:cNvPr id="113" name="rr_p_2"/>
          <p:cNvSpPr/>
          <p:nvPr/>
        </p:nvSpPr>
        <p:spPr>
          <a:xfrm>
            <a:off x="548640" y="3008376"/>
            <a:ext cx="146304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運用移行期</a:t>
            </a:r>
          </a:p>
        </p:txBody>
      </p:sp>
      <p:sp>
        <p:nvSpPr>
          <p:cNvPr id="114" name="rr_m_2"/>
          <p:cNvSpPr/>
          <p:nvPr/>
        </p:nvSpPr>
        <p:spPr>
          <a:xfrm>
            <a:off x="2011680" y="3008376"/>
            <a:ext cx="822960" cy="274320"/>
          </a:xfrm>
          <a:prstGeom prst="rect">
            <a:avLst/>
          </a:prstGeom>
          <a:noFill/>
          <a:ln/>
        </p:spPr>
        <p:txBody>
          <a:bodyPr wrap="square" lIns="0" tIns="0" rIns="0" bIns="0" rtlCol="0" anchor="ctr"/>
          <a:lstStyle/>
          <a:p>
            <a:pPr indent="0" marL="0">
              <a:buNone/>
            </a:pPr>
            <a:r>
              <a:rPr lang="ja-JP" sz="850" dirty="0">
                <a:solidFill>
                  <a:srgbClr val="9B98A6"/>
                </a:solidFill>
                <a:latin typeface="Consolas"/>
                <a:ea typeface="Consolas"/>
                <a:cs typeface="Consolas"/>
              </a:rPr>
              <a:t>M10〜M12</a:t>
            </a:r>
          </a:p>
        </p:txBody>
      </p:sp>
      <p:sp>
        <p:nvSpPr>
          <p:cNvPr id="115" name="rr_n_2"/>
          <p:cNvSpPr/>
          <p:nvPr/>
        </p:nvSpPr>
        <p:spPr>
          <a:xfrm>
            <a:off x="2834640" y="3008376"/>
            <a:ext cx="1554480" cy="274320"/>
          </a:xfrm>
          <a:prstGeom prst="rect">
            <a:avLst/>
          </a:prstGeom>
          <a:noFill/>
          <a:ln/>
        </p:spPr>
        <p:txBody>
          <a:bodyPr wrap="square" lIns="0" tIns="0" rIns="0" bIns="0" rtlCol="0" anchor="ctr"/>
          <a:lstStyle/>
          <a:p>
            <a:pPr indent="0" marL="0">
              <a:buNone/>
            </a:pPr>
            <a:r>
              <a:rPr lang="ja-JP" sz="850" dirty="0">
                <a:solidFill>
                  <a:srgbClr val="5E5C6A"/>
                </a:solidFill>
                <a:latin typeface="Noto Sans JP"/>
                <a:ea typeface="Noto Sans JP"/>
                <a:cs typeface="Noto Sans JP"/>
              </a:rPr>
              <a:t>ライトカスタム</a:t>
            </a:r>
          </a:p>
        </p:txBody>
      </p:sp>
      <p:sp>
        <p:nvSpPr>
          <p:cNvPr id="116" name="rr_c_2"/>
          <p:cNvSpPr/>
          <p:nvPr/>
        </p:nvSpPr>
        <p:spPr>
          <a:xfrm>
            <a:off x="4206240" y="3008376"/>
            <a:ext cx="1371600" cy="274320"/>
          </a:xfrm>
          <a:prstGeom prst="rect">
            <a:avLst/>
          </a:prstGeom>
          <a:noFill/>
          <a:ln/>
        </p:spPr>
        <p:txBody>
          <a:bodyPr wrap="square" lIns="0" tIns="0" rIns="0" bIns="0" rtlCol="0" anchor="ctr"/>
          <a:lstStyle/>
          <a:p>
            <a:pPr algn="r" indent="0" marL="0">
              <a:buNone/>
            </a:pPr>
            <a:r>
              <a:rPr lang="ja-JP" sz="950" dirty="0">
                <a:solidFill>
                  <a:srgbClr val="3A3A42"/>
                </a:solidFill>
                <a:latin typeface="Consolas"/>
                <a:ea typeface="Consolas"/>
                <a:cs typeface="Consolas"/>
              </a:rPr>
              <a:t>¥960,000</a:t>
            </a:r>
          </a:p>
        </p:txBody>
      </p:sp>
      <p:sp>
        <p:nvSpPr>
          <p:cNvPr id="117" name="p_sec_bg"/>
          <p:cNvSpPr/>
          <p:nvPr/>
        </p:nvSpPr>
        <p:spPr>
          <a:xfrm>
            <a:off x="365760" y="3383280"/>
            <a:ext cx="5303520" cy="274320"/>
          </a:xfrm>
          <a:prstGeom prst="rect">
            <a:avLst/>
          </a:prstGeom>
          <a:solidFill>
            <a:srgbClr val="FAFAFB"/>
          </a:solidFill>
          <a:ln/>
        </p:spPr>
      </p:sp>
      <p:sp>
        <p:nvSpPr>
          <p:cNvPr id="118" name="p_sec_l"/>
          <p:cNvSpPr/>
          <p:nvPr/>
        </p:nvSpPr>
        <p:spPr>
          <a:xfrm>
            <a:off x="548640" y="3383280"/>
            <a:ext cx="3657600" cy="274320"/>
          </a:xfrm>
          <a:prstGeom prst="rect">
            <a:avLst/>
          </a:prstGeom>
          <a:noFill/>
          <a:ln/>
        </p:spPr>
        <p:txBody>
          <a:bodyPr wrap="square" lIns="0" tIns="0" rIns="0" bIns="0" rtlCol="0" anchor="ctr"/>
          <a:lstStyle/>
          <a:p>
            <a:pPr indent="0" marL="0">
              <a:buNone/>
            </a:pPr>
            <a:r>
              <a:rPr lang="ja-JP" sz="900" b="1" spc="100" kern="0" dirty="0">
                <a:solidFill>
                  <a:srgbClr val="8B7AB8"/>
                </a:solidFill>
                <a:latin typeface="Consolas"/>
                <a:ea typeface="Consolas"/>
                <a:cs typeface="Consolas"/>
              </a:rPr>
              <a:t>プロジェクト型  （単発成果物）</a:t>
            </a:r>
          </a:p>
        </p:txBody>
      </p:sp>
      <p:sp>
        <p:nvSpPr>
          <p:cNvPr id="119" name="p_sec_v"/>
          <p:cNvSpPr/>
          <p:nvPr/>
        </p:nvSpPr>
        <p:spPr>
          <a:xfrm>
            <a:off x="4206240" y="3383280"/>
            <a:ext cx="1371600" cy="274320"/>
          </a:xfrm>
          <a:prstGeom prst="rect">
            <a:avLst/>
          </a:prstGeom>
          <a:noFill/>
          <a:ln/>
        </p:spPr>
        <p:txBody>
          <a:bodyPr wrap="square" lIns="0" tIns="0" rIns="0" bIns="0" rtlCol="0" anchor="ctr"/>
          <a:lstStyle/>
          <a:p>
            <a:pPr algn="r" indent="0" marL="0">
              <a:buNone/>
            </a:pPr>
            <a:r>
              <a:rPr lang="ja-JP" sz="1000" b="1" dirty="0">
                <a:solidFill>
                  <a:srgbClr val="3A3A42"/>
                </a:solidFill>
                <a:latin typeface="Consolas"/>
                <a:ea typeface="Consolas"/>
                <a:cs typeface="Consolas"/>
              </a:rPr>
              <a:t>¥5,830,000</a:t>
            </a:r>
          </a:p>
        </p:txBody>
      </p:sp>
      <p:sp>
        <p:nvSpPr>
          <p:cNvPr id="120" name="pt_t_0"/>
          <p:cNvSpPr/>
          <p:nvPr/>
        </p:nvSpPr>
        <p:spPr>
          <a:xfrm>
            <a:off x="548640" y="3749040"/>
            <a:ext cx="274320" cy="182880"/>
          </a:xfrm>
          <a:prstGeom prst="rect">
            <a:avLst/>
          </a:prstGeom>
          <a:solidFill>
            <a:srgbClr val="C4A05C"/>
          </a:solidFill>
          <a:ln/>
        </p:spPr>
      </p:sp>
      <p:sp>
        <p:nvSpPr>
          <p:cNvPr id="121" name="pt_tx_0"/>
          <p:cNvSpPr/>
          <p:nvPr/>
        </p:nvSpPr>
        <p:spPr>
          <a:xfrm>
            <a:off x="548640" y="3749040"/>
            <a:ext cx="274320" cy="182880"/>
          </a:xfrm>
          <a:prstGeom prst="rect">
            <a:avLst/>
          </a:prstGeom>
          <a:noFill/>
          <a:ln/>
        </p:spPr>
        <p:txBody>
          <a:bodyPr wrap="square" lIns="0" tIns="0" rIns="0" bIns="0" rtlCol="0" anchor="ctr"/>
          <a:lstStyle/>
          <a:p>
            <a:pPr algn="ctr" indent="0" marL="0">
              <a:buNone/>
            </a:pPr>
            <a:r>
              <a:rPr lang="ja-JP" sz="800" b="1" dirty="0">
                <a:solidFill>
                  <a:srgbClr val="FFFFFF"/>
                </a:solidFill>
                <a:latin typeface="Consolas"/>
                <a:ea typeface="Consolas"/>
                <a:cs typeface="Consolas"/>
              </a:rPr>
              <a:t>A</a:t>
            </a:r>
          </a:p>
        </p:txBody>
      </p:sp>
      <p:sp>
        <p:nvSpPr>
          <p:cNvPr id="122" name="pt_n_0"/>
          <p:cNvSpPr/>
          <p:nvPr/>
        </p:nvSpPr>
        <p:spPr>
          <a:xfrm>
            <a:off x="914400" y="3703320"/>
            <a:ext cx="320040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統合DB設計 ＋ 共通マスタ</a:t>
            </a:r>
          </a:p>
        </p:txBody>
      </p:sp>
      <p:sp>
        <p:nvSpPr>
          <p:cNvPr id="123" name="pt_c_0"/>
          <p:cNvSpPr/>
          <p:nvPr/>
        </p:nvSpPr>
        <p:spPr>
          <a:xfrm>
            <a:off x="4206240" y="3703320"/>
            <a:ext cx="1371600" cy="274320"/>
          </a:xfrm>
          <a:prstGeom prst="rect">
            <a:avLst/>
          </a:prstGeom>
          <a:noFill/>
          <a:ln/>
        </p:spPr>
        <p:txBody>
          <a:bodyPr wrap="square" lIns="0" tIns="0" rIns="0" bIns="0" rtlCol="0" anchor="ctr"/>
          <a:lstStyle/>
          <a:p>
            <a:pPr algn="r" indent="0" marL="0">
              <a:buNone/>
            </a:pPr>
            <a:r>
              <a:rPr lang="ja-JP" sz="950" dirty="0">
                <a:solidFill>
                  <a:srgbClr val="3A3A42"/>
                </a:solidFill>
                <a:latin typeface="Consolas"/>
                <a:ea typeface="Consolas"/>
                <a:cs typeface="Consolas"/>
              </a:rPr>
              <a:t>¥2,440,000</a:t>
            </a:r>
          </a:p>
        </p:txBody>
      </p:sp>
      <p:sp>
        <p:nvSpPr>
          <p:cNvPr id="124" name="pt_t_1"/>
          <p:cNvSpPr/>
          <p:nvPr/>
        </p:nvSpPr>
        <p:spPr>
          <a:xfrm>
            <a:off x="548640" y="4041648"/>
            <a:ext cx="274320" cy="182880"/>
          </a:xfrm>
          <a:prstGeom prst="rect">
            <a:avLst/>
          </a:prstGeom>
          <a:solidFill>
            <a:srgbClr val="C4A05C"/>
          </a:solidFill>
          <a:ln/>
        </p:spPr>
      </p:sp>
      <p:sp>
        <p:nvSpPr>
          <p:cNvPr id="125" name="pt_tx_1"/>
          <p:cNvSpPr/>
          <p:nvPr/>
        </p:nvSpPr>
        <p:spPr>
          <a:xfrm>
            <a:off x="548640" y="4041648"/>
            <a:ext cx="274320" cy="182880"/>
          </a:xfrm>
          <a:prstGeom prst="rect">
            <a:avLst/>
          </a:prstGeom>
          <a:noFill/>
          <a:ln/>
        </p:spPr>
        <p:txBody>
          <a:bodyPr wrap="square" lIns="0" tIns="0" rIns="0" bIns="0" rtlCol="0" anchor="ctr"/>
          <a:lstStyle/>
          <a:p>
            <a:pPr algn="ctr" indent="0" marL="0">
              <a:buNone/>
            </a:pPr>
            <a:r>
              <a:rPr lang="ja-JP" sz="800" b="1" dirty="0">
                <a:solidFill>
                  <a:srgbClr val="FFFFFF"/>
                </a:solidFill>
                <a:latin typeface="Consolas"/>
                <a:ea typeface="Consolas"/>
                <a:cs typeface="Consolas"/>
              </a:rPr>
              <a:t>B</a:t>
            </a:r>
          </a:p>
        </p:txBody>
      </p:sp>
      <p:sp>
        <p:nvSpPr>
          <p:cNvPr id="126" name="pt_n_1"/>
          <p:cNvSpPr/>
          <p:nvPr/>
        </p:nvSpPr>
        <p:spPr>
          <a:xfrm>
            <a:off x="914400" y="3995928"/>
            <a:ext cx="320040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生成AI利用ガイドライン</a:t>
            </a:r>
          </a:p>
        </p:txBody>
      </p:sp>
      <p:sp>
        <p:nvSpPr>
          <p:cNvPr id="127" name="pt_c_1"/>
          <p:cNvSpPr/>
          <p:nvPr/>
        </p:nvSpPr>
        <p:spPr>
          <a:xfrm>
            <a:off x="4206240" y="3995928"/>
            <a:ext cx="1371600" cy="274320"/>
          </a:xfrm>
          <a:prstGeom prst="rect">
            <a:avLst/>
          </a:prstGeom>
          <a:noFill/>
          <a:ln/>
        </p:spPr>
        <p:txBody>
          <a:bodyPr wrap="square" lIns="0" tIns="0" rIns="0" bIns="0" rtlCol="0" anchor="ctr"/>
          <a:lstStyle/>
          <a:p>
            <a:pPr algn="r" indent="0" marL="0">
              <a:buNone/>
            </a:pPr>
            <a:r>
              <a:rPr lang="ja-JP" sz="950" dirty="0">
                <a:solidFill>
                  <a:srgbClr val="3A3A42"/>
                </a:solidFill>
                <a:latin typeface="Consolas"/>
                <a:ea typeface="Consolas"/>
                <a:cs typeface="Consolas"/>
              </a:rPr>
              <a:t>¥1,230,000</a:t>
            </a:r>
          </a:p>
        </p:txBody>
      </p:sp>
      <p:sp>
        <p:nvSpPr>
          <p:cNvPr id="128" name="pt_t_2"/>
          <p:cNvSpPr/>
          <p:nvPr/>
        </p:nvSpPr>
        <p:spPr>
          <a:xfrm>
            <a:off x="548640" y="4334256"/>
            <a:ext cx="274320" cy="182880"/>
          </a:xfrm>
          <a:prstGeom prst="rect">
            <a:avLst/>
          </a:prstGeom>
          <a:solidFill>
            <a:srgbClr val="C4A05C"/>
          </a:solidFill>
          <a:ln/>
        </p:spPr>
      </p:sp>
      <p:sp>
        <p:nvSpPr>
          <p:cNvPr id="129" name="pt_tx_2"/>
          <p:cNvSpPr/>
          <p:nvPr/>
        </p:nvSpPr>
        <p:spPr>
          <a:xfrm>
            <a:off x="548640" y="4334256"/>
            <a:ext cx="274320" cy="182880"/>
          </a:xfrm>
          <a:prstGeom prst="rect">
            <a:avLst/>
          </a:prstGeom>
          <a:noFill/>
          <a:ln/>
        </p:spPr>
        <p:txBody>
          <a:bodyPr wrap="square" lIns="0" tIns="0" rIns="0" bIns="0" rtlCol="0" anchor="ctr"/>
          <a:lstStyle/>
          <a:p>
            <a:pPr algn="ctr" indent="0" marL="0">
              <a:buNone/>
            </a:pPr>
            <a:r>
              <a:rPr lang="ja-JP" sz="800" b="1" dirty="0">
                <a:solidFill>
                  <a:srgbClr val="FFFFFF"/>
                </a:solidFill>
                <a:latin typeface="Consolas"/>
                <a:ea typeface="Consolas"/>
                <a:cs typeface="Consolas"/>
              </a:rPr>
              <a:t>C</a:t>
            </a:r>
          </a:p>
        </p:txBody>
      </p:sp>
      <p:sp>
        <p:nvSpPr>
          <p:cNvPr id="130" name="pt_n_2"/>
          <p:cNvSpPr/>
          <p:nvPr/>
        </p:nvSpPr>
        <p:spPr>
          <a:xfrm>
            <a:off x="914400" y="4288536"/>
            <a:ext cx="3200400" cy="274320"/>
          </a:xfrm>
          <a:prstGeom prst="rect">
            <a:avLst/>
          </a:prstGeom>
          <a:noFill/>
          <a:ln/>
        </p:spPr>
        <p:txBody>
          <a:bodyPr wrap="square" lIns="0" tIns="0" rIns="0" bIns="0" rtlCol="0" anchor="ctr"/>
          <a:lstStyle/>
          <a:p>
            <a:pPr indent="0" marL="0">
              <a:buNone/>
            </a:pPr>
            <a:r>
              <a:rPr lang="ja-JP" sz="900" dirty="0">
                <a:solidFill>
                  <a:srgbClr val="3A3A42"/>
                </a:solidFill>
                <a:latin typeface="Noto Sans JP"/>
                <a:ea typeface="Noto Sans JP"/>
                <a:cs typeface="Noto Sans JP"/>
              </a:rPr>
              <a:t>AI推進担当者育成</a:t>
            </a:r>
          </a:p>
        </p:txBody>
      </p:sp>
      <p:sp>
        <p:nvSpPr>
          <p:cNvPr id="131" name="pt_c_2"/>
          <p:cNvSpPr/>
          <p:nvPr/>
        </p:nvSpPr>
        <p:spPr>
          <a:xfrm>
            <a:off x="4206240" y="4288536"/>
            <a:ext cx="1371600" cy="274320"/>
          </a:xfrm>
          <a:prstGeom prst="rect">
            <a:avLst/>
          </a:prstGeom>
          <a:noFill/>
          <a:ln/>
        </p:spPr>
        <p:txBody>
          <a:bodyPr wrap="square" lIns="0" tIns="0" rIns="0" bIns="0" rtlCol="0" anchor="ctr"/>
          <a:lstStyle/>
          <a:p>
            <a:pPr algn="r" indent="0" marL="0">
              <a:buNone/>
            </a:pPr>
            <a:r>
              <a:rPr lang="ja-JP" sz="950" dirty="0">
                <a:solidFill>
                  <a:srgbClr val="3A3A42"/>
                </a:solidFill>
                <a:latin typeface="Consolas"/>
                <a:ea typeface="Consolas"/>
                <a:cs typeface="Consolas"/>
              </a:rPr>
              <a:t>¥2,160,000</a:t>
            </a:r>
          </a:p>
        </p:txBody>
      </p:sp>
      <p:sp>
        <p:nvSpPr>
          <p:cNvPr id="132" name="gt_bg"/>
          <p:cNvSpPr/>
          <p:nvPr/>
        </p:nvSpPr>
        <p:spPr>
          <a:xfrm>
            <a:off x="365760" y="4617720"/>
            <a:ext cx="5303520" cy="502920"/>
          </a:xfrm>
          <a:prstGeom prst="rect">
            <a:avLst/>
          </a:prstGeom>
          <a:solidFill>
            <a:srgbClr val="8B7AB8"/>
          </a:solidFill>
          <a:ln/>
        </p:spPr>
      </p:sp>
      <p:sp>
        <p:nvSpPr>
          <p:cNvPr id="133" name="gt_l"/>
          <p:cNvSpPr/>
          <p:nvPr/>
        </p:nvSpPr>
        <p:spPr>
          <a:xfrm>
            <a:off x="548640" y="4617720"/>
            <a:ext cx="2743200" cy="502920"/>
          </a:xfrm>
          <a:prstGeom prst="rect">
            <a:avLst/>
          </a:prstGeom>
          <a:noFill/>
          <a:ln/>
        </p:spPr>
        <p:txBody>
          <a:bodyPr wrap="square" lIns="0" tIns="0" rIns="0" bIns="0" rtlCol="0" anchor="ctr"/>
          <a:lstStyle/>
          <a:p>
            <a:pPr indent="0" marL="0">
              <a:buNone/>
            </a:pPr>
            <a:r>
              <a:rPr lang="ja-JP" sz="1000" b="1" dirty="0">
                <a:solidFill>
                  <a:srgbClr val="FFFFFF"/>
                </a:solidFill>
                <a:latin typeface="Noto Sans JP"/>
                <a:ea typeface="Noto Sans JP"/>
                <a:cs typeface="Noto Sans JP"/>
              </a:rPr>
              <a:t>12ヶ月 トータル（標準）</a:t>
            </a:r>
          </a:p>
        </p:txBody>
      </p:sp>
      <p:sp>
        <p:nvSpPr>
          <p:cNvPr id="134" name="gt_v"/>
          <p:cNvSpPr/>
          <p:nvPr/>
        </p:nvSpPr>
        <p:spPr>
          <a:xfrm>
            <a:off x="3566160" y="4617720"/>
            <a:ext cx="1920240" cy="502920"/>
          </a:xfrm>
          <a:prstGeom prst="rect">
            <a:avLst/>
          </a:prstGeom>
          <a:noFill/>
          <a:ln/>
        </p:spPr>
        <p:txBody>
          <a:bodyPr wrap="square" lIns="0" tIns="0" rIns="0" bIns="0" rtlCol="0" anchor="ctr"/>
          <a:lstStyle/>
          <a:p>
            <a:pPr algn="r" indent="0" marL="0">
              <a:buNone/>
            </a:pPr>
            <a:r>
              <a:rPr lang="ja-JP" sz="1900" b="1" dirty="0">
                <a:solidFill>
                  <a:srgbClr val="FFFFFF"/>
                </a:solidFill>
                <a:latin typeface="Consolas"/>
                <a:ea typeface="Consolas"/>
                <a:cs typeface="Consolas"/>
              </a:rPr>
              <a:t>¥11,830,000</a:t>
            </a:r>
          </a:p>
        </p:txBody>
      </p:sp>
      <p:sp>
        <p:nvSpPr>
          <p:cNvPr id="135" name="r_t"/>
          <p:cNvSpPr/>
          <p:nvPr/>
        </p:nvSpPr>
        <p:spPr>
          <a:xfrm>
            <a:off x="5852160" y="1600200"/>
            <a:ext cx="2926080" cy="274320"/>
          </a:xfrm>
          <a:prstGeom prst="rect">
            <a:avLst/>
          </a:prstGeom>
          <a:noFill/>
          <a:ln/>
        </p:spPr>
        <p:txBody>
          <a:bodyPr wrap="square" lIns="0" tIns="0" rIns="0" bIns="0" rtlCol="0"/>
          <a:lstStyle/>
          <a:p>
            <a:pPr indent="0" marL="0">
              <a:buNone/>
            </a:pPr>
            <a:r>
              <a:rPr lang="ja-JP" sz="1100" b="1" dirty="0">
                <a:solidFill>
                  <a:srgbClr val="3A3A42"/>
                </a:solidFill>
                <a:latin typeface="Noto Sans JP"/>
                <a:ea typeface="Noto Sans JP"/>
                <a:cs typeface="Noto Sans JP"/>
              </a:rPr>
              <a:t>シナリオ別 レンジ</a:t>
            </a:r>
          </a:p>
        </p:txBody>
      </p:sp>
      <p:sp>
        <p:nvSpPr>
          <p:cNvPr id="136" name="r_ln"/>
          <p:cNvSpPr/>
          <p:nvPr/>
        </p:nvSpPr>
        <p:spPr>
          <a:xfrm>
            <a:off x="5852160" y="1947672"/>
            <a:ext cx="2926080" cy="0"/>
          </a:xfrm>
          <a:prstGeom prst="line">
            <a:avLst/>
          </a:prstGeom>
          <a:noFill/>
          <a:ln w="19050">
            <a:solidFill>
              <a:srgbClr val="8B7AB8"/>
            </a:solidFill>
            <a:prstDash val="solid"/>
          </a:ln>
        </p:spPr>
      </p:sp>
      <p:sp>
        <p:nvSpPr>
          <p:cNvPr id="137" name="sc_bg_0"/>
          <p:cNvSpPr/>
          <p:nvPr/>
        </p:nvSpPr>
        <p:spPr>
          <a:xfrm>
            <a:off x="5852160" y="2103120"/>
            <a:ext cx="2926080" cy="658368"/>
          </a:xfrm>
          <a:prstGeom prst="rect">
            <a:avLst/>
          </a:prstGeom>
          <a:solidFill>
            <a:srgbClr val="FAFAFB"/>
          </a:solidFill>
          <a:ln/>
        </p:spPr>
      </p:sp>
      <p:sp>
        <p:nvSpPr>
          <p:cNvPr id="138" name="sc_l_0"/>
          <p:cNvSpPr/>
          <p:nvPr/>
        </p:nvSpPr>
        <p:spPr>
          <a:xfrm>
            <a:off x="6035040" y="2176272"/>
            <a:ext cx="2560320" cy="201168"/>
          </a:xfrm>
          <a:prstGeom prst="rect">
            <a:avLst/>
          </a:prstGeom>
          <a:noFill/>
          <a:ln/>
        </p:spPr>
        <p:txBody>
          <a:bodyPr wrap="square" lIns="0" tIns="0" rIns="0" bIns="0" rtlCol="0"/>
          <a:lstStyle/>
          <a:p>
            <a:pPr indent="0" marL="0">
              <a:buNone/>
            </a:pPr>
            <a:r>
              <a:rPr lang="ja-JP" sz="900" b="1" spc="100" kern="0" dirty="0">
                <a:solidFill>
                  <a:srgbClr val="9B98A6"/>
                </a:solidFill>
                <a:latin typeface="Consolas"/>
                <a:ea typeface="Consolas"/>
                <a:cs typeface="Consolas"/>
              </a:rPr>
              <a:t>控えめ</a:t>
            </a:r>
          </a:p>
        </p:txBody>
      </p:sp>
      <p:sp>
        <p:nvSpPr>
          <p:cNvPr id="139" name="sc_v_0"/>
          <p:cNvSpPr/>
          <p:nvPr/>
        </p:nvSpPr>
        <p:spPr>
          <a:xfrm>
            <a:off x="6035040" y="2377440"/>
            <a:ext cx="2560320" cy="365760"/>
          </a:xfrm>
          <a:prstGeom prst="rect">
            <a:avLst/>
          </a:prstGeom>
          <a:noFill/>
          <a:ln/>
        </p:spPr>
        <p:txBody>
          <a:bodyPr wrap="square" lIns="0" tIns="0" rIns="0" bIns="0" rtlCol="0"/>
          <a:lstStyle/>
          <a:p>
            <a:pPr indent="0" marL="0">
              <a:buNone/>
            </a:pPr>
            <a:r>
              <a:rPr lang="ja-JP" sz="1600" b="1" dirty="0">
                <a:solidFill>
                  <a:srgbClr val="3A3A42"/>
                </a:solidFill>
                <a:latin typeface="Consolas"/>
                <a:ea typeface="Consolas"/>
                <a:cs typeface="Consolas"/>
              </a:rPr>
              <a:t>¥7,130,000</a:t>
            </a:r>
          </a:p>
        </p:txBody>
      </p:sp>
      <p:sp>
        <p:nvSpPr>
          <p:cNvPr id="140" name="sc_bg_1"/>
          <p:cNvSpPr/>
          <p:nvPr/>
        </p:nvSpPr>
        <p:spPr>
          <a:xfrm>
            <a:off x="5852160" y="2880360"/>
            <a:ext cx="2926080" cy="658368"/>
          </a:xfrm>
          <a:prstGeom prst="rect">
            <a:avLst/>
          </a:prstGeom>
          <a:solidFill>
            <a:srgbClr val="8B7AB8"/>
          </a:solidFill>
          <a:ln/>
        </p:spPr>
      </p:sp>
      <p:sp>
        <p:nvSpPr>
          <p:cNvPr id="141" name="sc_l_1"/>
          <p:cNvSpPr/>
          <p:nvPr/>
        </p:nvSpPr>
        <p:spPr>
          <a:xfrm>
            <a:off x="6035040" y="2953512"/>
            <a:ext cx="2560320" cy="201168"/>
          </a:xfrm>
          <a:prstGeom prst="rect">
            <a:avLst/>
          </a:prstGeom>
          <a:noFill/>
          <a:ln/>
        </p:spPr>
        <p:txBody>
          <a:bodyPr wrap="square" lIns="0" tIns="0" rIns="0" bIns="0" rtlCol="0"/>
          <a:lstStyle/>
          <a:p>
            <a:pPr indent="0" marL="0">
              <a:buNone/>
            </a:pPr>
            <a:r>
              <a:rPr lang="ja-JP" sz="900" b="1" spc="100" kern="0" dirty="0">
                <a:solidFill>
                  <a:srgbClr val="D9D1E8"/>
                </a:solidFill>
                <a:latin typeface="Consolas"/>
                <a:ea typeface="Consolas"/>
                <a:cs typeface="Consolas"/>
              </a:rPr>
              <a:t>標準（推奨）</a:t>
            </a:r>
          </a:p>
        </p:txBody>
      </p:sp>
      <p:sp>
        <p:nvSpPr>
          <p:cNvPr id="142" name="sc_v_1"/>
          <p:cNvSpPr/>
          <p:nvPr/>
        </p:nvSpPr>
        <p:spPr>
          <a:xfrm>
            <a:off x="6035040" y="3154680"/>
            <a:ext cx="2560320" cy="365760"/>
          </a:xfrm>
          <a:prstGeom prst="rect">
            <a:avLst/>
          </a:prstGeom>
          <a:noFill/>
          <a:ln/>
        </p:spPr>
        <p:txBody>
          <a:bodyPr wrap="square" lIns="0" tIns="0" rIns="0" bIns="0" rtlCol="0"/>
          <a:lstStyle/>
          <a:p>
            <a:pPr indent="0" marL="0">
              <a:buNone/>
            </a:pPr>
            <a:r>
              <a:rPr lang="ja-JP" sz="1600" b="1" dirty="0">
                <a:solidFill>
                  <a:srgbClr val="FFFFFF"/>
                </a:solidFill>
                <a:latin typeface="Consolas"/>
                <a:ea typeface="Consolas"/>
                <a:cs typeface="Consolas"/>
              </a:rPr>
              <a:t>¥11,830,000</a:t>
            </a:r>
          </a:p>
        </p:txBody>
      </p:sp>
      <p:sp>
        <p:nvSpPr>
          <p:cNvPr id="143" name="sc_bg_2"/>
          <p:cNvSpPr/>
          <p:nvPr/>
        </p:nvSpPr>
        <p:spPr>
          <a:xfrm>
            <a:off x="5852160" y="3657600"/>
            <a:ext cx="2926080" cy="658368"/>
          </a:xfrm>
          <a:prstGeom prst="rect">
            <a:avLst/>
          </a:prstGeom>
          <a:solidFill>
            <a:srgbClr val="FAFAFB"/>
          </a:solidFill>
          <a:ln/>
        </p:spPr>
      </p:sp>
      <p:sp>
        <p:nvSpPr>
          <p:cNvPr id="144" name="sc_l_2"/>
          <p:cNvSpPr/>
          <p:nvPr/>
        </p:nvSpPr>
        <p:spPr>
          <a:xfrm>
            <a:off x="6035040" y="3730752"/>
            <a:ext cx="2560320" cy="201168"/>
          </a:xfrm>
          <a:prstGeom prst="rect">
            <a:avLst/>
          </a:prstGeom>
          <a:noFill/>
          <a:ln/>
        </p:spPr>
        <p:txBody>
          <a:bodyPr wrap="square" lIns="0" tIns="0" rIns="0" bIns="0" rtlCol="0"/>
          <a:lstStyle/>
          <a:p>
            <a:pPr indent="0" marL="0">
              <a:buNone/>
            </a:pPr>
            <a:r>
              <a:rPr lang="ja-JP" sz="900" b="1" spc="100" kern="0" dirty="0">
                <a:solidFill>
                  <a:srgbClr val="9B98A6"/>
                </a:solidFill>
                <a:latin typeface="Consolas"/>
                <a:ea typeface="Consolas"/>
                <a:cs typeface="Consolas"/>
              </a:rPr>
              <a:t>手厚い</a:t>
            </a:r>
          </a:p>
        </p:txBody>
      </p:sp>
      <p:sp>
        <p:nvSpPr>
          <p:cNvPr id="145" name="sc_v_2"/>
          <p:cNvSpPr/>
          <p:nvPr/>
        </p:nvSpPr>
        <p:spPr>
          <a:xfrm>
            <a:off x="6035040" y="3931920"/>
            <a:ext cx="2560320" cy="365760"/>
          </a:xfrm>
          <a:prstGeom prst="rect">
            <a:avLst/>
          </a:prstGeom>
          <a:noFill/>
          <a:ln/>
        </p:spPr>
        <p:txBody>
          <a:bodyPr wrap="square" lIns="0" tIns="0" rIns="0" bIns="0" rtlCol="0"/>
          <a:lstStyle/>
          <a:p>
            <a:pPr indent="0" marL="0">
              <a:buNone/>
            </a:pPr>
            <a:r>
              <a:rPr lang="ja-JP" sz="1600" b="1" dirty="0">
                <a:solidFill>
                  <a:srgbClr val="3A3A42"/>
                </a:solidFill>
                <a:latin typeface="Consolas"/>
                <a:ea typeface="Consolas"/>
                <a:cs typeface="Consolas"/>
              </a:rPr>
              <a:t>¥17,420,000</a:t>
            </a:r>
          </a:p>
        </p:txBody>
      </p:sp>
      <p:sp>
        <p:nvSpPr>
          <p:cNvPr id="146" name="note"/>
          <p:cNvSpPr/>
          <p:nvPr/>
        </p:nvSpPr>
        <p:spPr>
          <a:xfrm>
            <a:off x="5852160" y="4663440"/>
            <a:ext cx="2926080" cy="365760"/>
          </a:xfrm>
          <a:prstGeom prst="rect">
            <a:avLst/>
          </a:prstGeom>
          <a:noFill/>
          <a:ln/>
        </p:spPr>
        <p:txBody>
          <a:bodyPr wrap="square" lIns="0" tIns="0" rIns="0" bIns="0" rtlCol="0"/>
          <a:lstStyle/>
          <a:p>
            <a:pPr indent="0" marL="0">
              <a:lnSpc>
                <a:spcPct val="130000"/>
              </a:lnSpc>
              <a:buNone/>
            </a:pPr>
            <a:r>
              <a:rPr lang="ja-JP" sz="700" dirty="0">
                <a:solidFill>
                  <a:srgbClr val="9B98A6"/>
                </a:solidFill>
                <a:latin typeface="Noto Sans JP"/>
                <a:ea typeface="Noto Sans JP"/>
                <a:cs typeface="Noto Sans JP"/>
              </a:rPr>
              <a:t>※ 月額顧問契約者にはプロジェクト費用の割引を適用。</a:t>
            </a:r>
          </a:p>
          <a:p>
            <a:pPr indent="0" marL="0">
              <a:lnSpc>
                <a:spcPct val="130000"/>
              </a:lnSpc>
              <a:buNone/>
            </a:pPr>
            <a:r>
              <a:rPr lang="ja-JP" sz="700" dirty="0">
                <a:solidFill>
                  <a:srgbClr val="9B98A6"/>
                </a:solidFill>
                <a:latin typeface="Noto Sans JP"/>
                <a:ea typeface="Noto Sans JP"/>
                <a:cs typeface="Noto Sans JP"/>
              </a:rPr>
              <a:t>IT導入補助金・助成金の活用支援も対応します。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DXデザインシステム株式会社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 Design System — Presentation Template</dc:title>
  <dc:subject>PptxGenJS Presentation</dc:subject>
  <dc:creator>DXデザインシステム株式会社</dc:creator>
  <cp:lastModifiedBy>DXデザインシステム株式会社</cp:lastModifiedBy>
  <cp:revision>1</cp:revision>
  <dcterms:created xsi:type="dcterms:W3CDTF">2026-04-17T14:44:11Z</dcterms:created>
  <dcterms:modified xsi:type="dcterms:W3CDTF">2026-04-17T14:44:11Z</dcterms:modified>
</cp:coreProperties>
</file>